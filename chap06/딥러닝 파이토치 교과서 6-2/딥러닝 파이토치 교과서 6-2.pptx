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9" r:id="rId4"/>
    <p:sldId id="258" r:id="rId5"/>
    <p:sldId id="260" r:id="rId6"/>
    <p:sldId id="262" r:id="rId7"/>
    <p:sldId id="264" r:id="rId8"/>
    <p:sldId id="266" r:id="rId9"/>
    <p:sldId id="269" r:id="rId10"/>
    <p:sldId id="270" r:id="rId11"/>
    <p:sldId id="267" r:id="rId12"/>
    <p:sldId id="268" r:id="rId13"/>
    <p:sldId id="272" r:id="rId14"/>
    <p:sldId id="271" r:id="rId15"/>
    <p:sldId id="273" r:id="rId16"/>
    <p:sldId id="274" r:id="rId17"/>
    <p:sldId id="275" r:id="rId18"/>
    <p:sldId id="276" r:id="rId19"/>
    <p:sldId id="278" r:id="rId20"/>
    <p:sldId id="277" r:id="rId21"/>
    <p:sldId id="263" r:id="rId22"/>
    <p:sldId id="265" r:id="rId23"/>
    <p:sldId id="280" r:id="rId24"/>
    <p:sldId id="279" r:id="rId25"/>
    <p:sldId id="281" r:id="rId26"/>
    <p:sldId id="261" r:id="rId2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6ECDB"/>
    <a:srgbClr val="DEF8F2"/>
    <a:srgbClr val="B5D2ED"/>
    <a:srgbClr val="DEEBF7"/>
    <a:srgbClr val="E6D5F3"/>
    <a:srgbClr val="09FF26"/>
    <a:srgbClr val="92D050"/>
    <a:srgbClr val="D5B8EA"/>
    <a:srgbClr val="BDD7EE"/>
    <a:srgbClr val="FAD2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24" autoAdjust="0"/>
    <p:restoredTop sz="88970" autoAdjust="0"/>
  </p:normalViewPr>
  <p:slideViewPr>
    <p:cSldViewPr snapToGrid="0">
      <p:cViewPr varScale="1">
        <p:scale>
          <a:sx n="110" d="100"/>
          <a:sy n="110" d="100"/>
        </p:scale>
        <p:origin x="618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1DE4FC-DFF4-4807-A50B-FC1546A1FFE4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DDFC54-1FF6-42D3-9AF6-DF6CA93D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5579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DFC54-1FF6-42D3-9AF6-DF6CA93D62E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33393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50EA0-06BF-BE28-1166-53AF69C15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7993EFA-41B8-0F20-DA57-0E95AA05B2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2BF960-06B4-A22E-7C89-E37FA4E2B6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E29FB6-ED14-5B67-09EA-3BE7F6EF1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DFC54-1FF6-42D3-9AF6-DF6CA93D62E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9599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42637-E77D-376A-0575-EB115687E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F5B9385-0C4E-4E45-163C-FF7555347F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991435C-1CB1-A55C-5E53-D96091EE90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2256E0-B349-D62F-87AF-982A257F91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DFC54-1FF6-42D3-9AF6-DF6CA93D62E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20850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6F4B7-DF09-7991-F4C7-2BC1270B1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1E755CD-EE65-0CBF-0F27-61F47DA095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B1D76B2-A78F-329E-6747-BE6CA131D4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3BDBCD-D68D-8394-2744-C7E9718090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DFC54-1FF6-42D3-9AF6-DF6CA93D62E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14021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07755-3810-63D3-89FF-62869B113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11DE0A9-7376-B020-10F5-8D1CD1098C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07ECEB1-6545-07B0-E6DA-AEB1CC46D0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34A13B9-001B-3417-2015-64B45ACF69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DFC54-1FF6-42D3-9AF6-DF6CA93D62E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28000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E2AEE-6B1F-945B-7286-329D97AFF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00A81FF-706B-6343-C321-6D21FA4D44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EE50884-C088-D3B8-8346-5676EDCEBC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BEA148-8593-4FFF-A2F3-24A186B600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DFC54-1FF6-42D3-9AF6-DF6CA93D62E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66806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46027-8901-2F5D-EE42-061B3A31C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6B363DA-73E9-9017-299A-6C91E59FF9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6DA49E6-17CF-2785-9309-58AEE9D18B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420DC8-595C-7A99-08BE-D4CB5210A9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DFC54-1FF6-42D3-9AF6-DF6CA93D62E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42731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0723B-855C-3B54-0093-5FFEE2D45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A5708FE-2318-43F3-0ABD-B0DC1294A2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6D497B4-9A7A-66D0-8097-04CE0D66EA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C56593-8C06-3EE1-57A0-0125F3014F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DFC54-1FF6-42D3-9AF6-DF6CA93D62E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2808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C23E6-228C-91A4-5D92-259966004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C88DBB3-D3E2-5666-3254-BBC03219D7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3BF8D14-ED9A-E677-B732-C4587AC18B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33BBE9-CAB3-D5D4-D89F-88A6518807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DFC54-1FF6-42D3-9AF6-DF6CA93D62E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55967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0FF2A-6E47-8EA9-1061-B751E492F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E86C806-0041-892E-CCD4-08D0E7A636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8BD1EAB-EED6-62F9-A3E2-A31CA3C934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A1421C-8228-FE32-F9E1-6C92BC122B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DFC54-1FF6-42D3-9AF6-DF6CA93D62EF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33275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CB2C6-5A38-9CE0-6531-3F9791199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909E399-3594-E8D0-2580-65147D92CD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91C011A-56CB-2961-36D4-78C4E00D2A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F1D25E-E661-23DE-ADA7-40672E48FB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DFC54-1FF6-42D3-9AF6-DF6CA93D62EF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97973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433C7-1330-1C72-9F55-245FA95B6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EBD4729-2DCB-5ADE-71C7-CFE6F93293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E04E646-3A8C-2877-F369-1B904565FC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64D8A2-0468-2905-D68C-2EB952CF3E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DFC54-1FF6-42D3-9AF6-DF6CA93D62EF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16456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858BD-8A6D-A14D-77C5-2D5AA36AD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BED7AB-399A-3B65-4850-621A854A1A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493CA20-AE0E-6E7E-F292-2980790724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8A7E1F-B7C9-0C39-DE3F-1118501566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DFC54-1FF6-42D3-9AF6-DF6CA93D62EF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97894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E071E-6B42-FD3A-97A6-92CD488C3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7931D3B-268A-2713-555C-A1A230F435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3060AFB-D4F7-FCEB-DEE5-E3FA413501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CEF9BF-8B7B-47DC-FD8B-C455F8CBFF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DFC54-1FF6-42D3-9AF6-DF6CA93D62EF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78623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3CE58-46CA-C6B7-B338-E70D3DF0F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9FEF337-180E-31CD-DFA1-8E7034A596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AAB4D82-3CFA-3908-B8B6-CD53147413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1F1A1A-DD5A-A541-A366-583235746F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DFC54-1FF6-42D3-9AF6-DF6CA93D62EF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0683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616E4-80CA-31A6-352D-3CDAA03E7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133E9B3-FF23-E16B-2DCE-9DFABA033B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DB43850-191C-6065-6841-86C8E3F2F2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87100B-BC9B-20AA-4FE5-152EAC6EA3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DFC54-1FF6-42D3-9AF6-DF6CA93D62EF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7665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1A854-3E12-B246-8C41-989D89954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5C48081-5E1E-A528-EA82-BF6E62A9AE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FE92FF0-B833-A4A3-42B2-5E44E7BB82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4C9AFF-B728-872D-6CA7-DE67F778F2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DFC54-1FF6-42D3-9AF6-DF6CA93D62EF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09884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E9F0E-12DB-E872-AA4D-E31D4FA04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3600B03-4242-77CF-863F-622FEA9662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2FD1865-CA6C-04F7-B81A-6561E40F87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D849C3-0ECF-FDE7-0146-146B71B268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DFC54-1FF6-42D3-9AF6-DF6CA93D62EF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27225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62CD5-4DD7-911D-1398-D0E777984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D66C447-A97B-C7FD-D610-332693E704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7DA9B3A-28DB-75F1-EDE4-94042769D8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C9A330-24CE-A8BC-5B0F-0FE1CAF075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DFC54-1FF6-42D3-9AF6-DF6CA93D62EF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28528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E3624-99E7-657B-367F-BC037AC5B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B347054-E4C6-F3D0-85D9-6B2C313A4C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6E7B55F-0C26-3516-1B6C-CEDB9693E8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5F95D2-1AC5-E341-5DA5-C684598642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DFC54-1FF6-42D3-9AF6-DF6CA93D62EF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30060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30647-BDE5-D00D-87A0-92FB1AAEE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7FA449E-132A-A80B-6B98-B4C7569D34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F73DACB-E009-1A3D-1429-1524F0E665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9C6CF2-EDB4-E962-901D-ACEB9B6F3B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DFC54-1FF6-42D3-9AF6-DF6CA93D62EF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785455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9F0ED-4AF4-3990-F065-07E178BF8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8EA5D45-B442-1B94-9C80-D3A19312F1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695A383-58E4-F409-C35B-8ED3FFC957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851F15-FF4A-EC66-D08C-85CCAC3C45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DFC54-1FF6-42D3-9AF6-DF6CA93D62EF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001085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05CF6-0890-C6A0-FC49-F7ACEF4A7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FF8A880-4FC1-4D32-4EA7-CE7243C0B0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471A32F-92B2-4E51-1242-5AC026510C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545DEF-B488-E164-2C0A-71EA95E34D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DFC54-1FF6-42D3-9AF6-DF6CA93D62EF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02971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1CCA7F-68BD-C410-6011-D92164A74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FD796F2-E387-E104-34CC-C803A3FBD8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1095C5-6F8B-D614-966B-C2FC92ABD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0E4B4-8693-4F92-AFC4-748A3E07C7D1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93CADD-5800-38DD-AE94-03DC6C09D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84B22D-197A-0DE4-4CE7-0E2343EF3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B4341-2966-4F37-A2F3-B6FD604489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5781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E4A350-E91E-A878-F34D-0F12881C2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5BDA52-95F0-2E34-F89B-BC556D77A4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B98AF2-38CC-D73E-006E-457722957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0E4B4-8693-4F92-AFC4-748A3E07C7D1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15D969-26A0-7F79-E84D-5E0DAE9FA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AB9A67-20A8-FB1C-39CB-CE4CCB5B8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B4341-2966-4F37-A2F3-B6FD604489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764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803B78-DCFE-E72B-3921-5AC2D66CF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449399F-FC72-C2F1-CF25-A6CE87881A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A6B287-BEB3-0889-0172-8E4971832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0E4B4-8693-4F92-AFC4-748A3E07C7D1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12136C-951D-F1DF-DC9C-71A660F0A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0E3EE4-934B-5248-A0F0-826AEFE3C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B4341-2966-4F37-A2F3-B6FD604489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3259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AD724A-4346-8D74-BEBF-E1A631A15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DAC23B-DEF6-0602-E9C9-DCF6D154AA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7C4ED8A-2674-77FB-7F9D-32A1C75A2C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BF797F5-95FB-D5FC-1120-F4C893EA4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0E4B4-8693-4F92-AFC4-748A3E07C7D1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5B311D-C9C0-9B1C-7156-21C3E3652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7838AC-D953-2269-2CD7-8E21C7F2A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B4341-2966-4F37-A2F3-B6FD604489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9627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BDD02F-8D50-E955-C1E6-E52D8CCA6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20493D6-681D-2BBF-2C30-2CD5A418BA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C259A94-C848-D182-768D-18695C6364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789872C-27AF-B3E5-811B-6B1CBBDD5C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8FBBDA8-EDA5-431B-5258-8DE6C20F3A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D45BAF8-88AD-74E3-40BD-965465B8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0E4B4-8693-4F92-AFC4-748A3E07C7D1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F5D1945-044B-ED53-8BC4-196FDEBCF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D928CA9-9E34-C65E-F0AD-51FB5D656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B4341-2966-4F37-A2F3-B6FD604489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5912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A42D0B-EE56-2C42-D1A2-C4AC31D9D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5A6C2B5-BA53-191A-3F3A-AE3D48521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0E4B4-8693-4F92-AFC4-748A3E07C7D1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33CD51F-F172-2ECE-0A6F-5F836D696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353B0B1-1F9B-6EB9-B798-AD2D63AED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B4341-2966-4F37-A2F3-B6FD604489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6852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1683C83-7FEC-4DEE-37DD-6C84AF191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0E4B4-8693-4F92-AFC4-748A3E07C7D1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92B3DD4-D825-B994-EAF0-BB122EBB5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D2831D-092B-423D-50EA-A3457E20C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B4341-2966-4F37-A2F3-B6FD604489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0802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4E0BD6-2C37-19E1-62C2-F7B8FA9D7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849A41-0237-617C-B0C2-7D7EE14320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D32D7A4-A15F-49EF-990F-28F311BFA2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2A56612-07C0-9BF7-80BF-E49DC447B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0E4B4-8693-4F92-AFC4-748A3E07C7D1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7212816-D1B1-40F3-F07F-817E8BF9F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912605E-4B6F-F961-5C39-6CE85424F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B4341-2966-4F37-A2F3-B6FD604489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2274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80FCF2-0747-D649-2895-A60C143F0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57B0129-AB29-FC6B-DBE2-1181C9E5A2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D6C1D30-B873-3DF3-EAF1-5AEE8D1893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543593B-15D9-8484-9C50-FD86B608E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0E4B4-8693-4F92-AFC4-748A3E07C7D1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256B511-DD14-F0F0-96FA-8A908EAC1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E2AC39A-33A1-A194-ABDC-2D5F0EAA3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B4341-2966-4F37-A2F3-B6FD604489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8227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B8D5D1-DFBD-9A15-110C-7C37FCC9A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875FC89-F975-CD4B-7579-CA0F92B484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515AFA-D01B-4BC1-9E23-0D9362BAC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0E4B4-8693-4F92-AFC4-748A3E07C7D1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0B6F64-6138-B35C-84B6-E03DFDAED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409198-F6C3-5668-4514-D88ACE3C7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B4341-2966-4F37-A2F3-B6FD604489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0204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44F068D-3F98-6DCD-E7C1-A6D312AF90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5DD1716-DD91-28BE-730B-19C04D3EFC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6D9047-39A0-E563-DD61-2A02CE77F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0E4B4-8693-4F92-AFC4-748A3E07C7D1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A60E61-B922-669F-B6BB-231F0AECE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D8EB4D-5985-9905-EFF0-2E0C44F8B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B4341-2966-4F37-A2F3-B6FD604489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7159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otGrid">
          <a:fgClr>
            <a:schemeClr val="bg1">
              <a:lumMod val="85000"/>
            </a:schemeClr>
          </a:fgClr>
          <a:bgClr>
            <a:schemeClr val="bg1">
              <a:lumMod val="9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8A81608-9EE4-C0D7-9566-9EB612B55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50D4F52-4C61-9460-FD5B-B403801F96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0AF4A4-CDF9-2DDD-D311-A378BD6F96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50E4B4-8693-4F92-AFC4-748A3E07C7D1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337D42-564D-E941-CD98-73980A1A5D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0DA720-0C06-073A-3F04-BEE82253AC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6B4341-2966-4F37-A2F3-B6FD604489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6101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g"/><Relationship Id="rId5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jp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523D755B-A44E-50A1-2BE9-417F2ABA5005}"/>
              </a:ext>
            </a:extLst>
          </p:cNvPr>
          <p:cNvCxnSpPr>
            <a:cxnSpLocks/>
          </p:cNvCxnSpPr>
          <p:nvPr/>
        </p:nvCxnSpPr>
        <p:spPr>
          <a:xfrm>
            <a:off x="0" y="0"/>
            <a:ext cx="8709" cy="64800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3E3A832A-5EFF-EA4A-4B18-45D4A1D77AFB}"/>
              </a:ext>
            </a:extLst>
          </p:cNvPr>
          <p:cNvCxnSpPr>
            <a:cxnSpLocks/>
          </p:cNvCxnSpPr>
          <p:nvPr/>
        </p:nvCxnSpPr>
        <p:spPr>
          <a:xfrm>
            <a:off x="0" y="18000"/>
            <a:ext cx="1188000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8C66520-E3E7-143E-65D1-EF30376AD266}"/>
              </a:ext>
            </a:extLst>
          </p:cNvPr>
          <p:cNvSpPr txBox="1"/>
          <p:nvPr/>
        </p:nvSpPr>
        <p:spPr>
          <a:xfrm>
            <a:off x="1800000" y="3240000"/>
            <a:ext cx="4320000" cy="540000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3200" b="1" dirty="0"/>
              <a:t>객체 인식을 위한 신경망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85EE33E-2FA6-F81B-7512-7F54CB826F35}"/>
                  </a:ext>
                </a:extLst>
              </p:cNvPr>
              <p:cNvSpPr txBox="1"/>
              <p:nvPr/>
            </p:nvSpPr>
            <p:spPr>
              <a:xfrm>
                <a:off x="11790000" y="18000"/>
                <a:ext cx="180000" cy="180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ko-KR" altLang="en-US" sz="1000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85EE33E-2FA6-F81B-7512-7F54CB826F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0000" y="18000"/>
                <a:ext cx="180000" cy="180000"/>
              </a:xfrm>
              <a:prstGeom prst="rect">
                <a:avLst/>
              </a:prstGeom>
              <a:blipFill>
                <a:blip r:embed="rId2"/>
                <a:stretch>
                  <a:fillRect t="-17241" r="-23333" b="-379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EEBDB84-D6CB-6817-6C79-59A47A7398AA}"/>
                  </a:ext>
                </a:extLst>
              </p:cNvPr>
              <p:cNvSpPr txBox="1"/>
              <p:nvPr/>
            </p:nvSpPr>
            <p:spPr>
              <a:xfrm>
                <a:off x="0" y="6390001"/>
                <a:ext cx="180000" cy="180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000" b="1" i="1" smtClean="0"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ko-KR" altLang="en-US" sz="1000" b="1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EEBDB84-D6CB-6817-6C79-59A47A7398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390001"/>
                <a:ext cx="180000" cy="180000"/>
              </a:xfrm>
              <a:prstGeom prst="rect">
                <a:avLst/>
              </a:prstGeom>
              <a:blipFill>
                <a:blip r:embed="rId3"/>
                <a:stretch>
                  <a:fillRect l="-23333" t="-30000" r="-30000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직사각형 18">
            <a:extLst>
              <a:ext uri="{FF2B5EF4-FFF2-40B4-BE49-F238E27FC236}">
                <a16:creationId xmlns:a16="http://schemas.microsoft.com/office/drawing/2014/main" id="{5332DC42-054A-9698-EA88-EA747461AB40}"/>
              </a:ext>
            </a:extLst>
          </p:cNvPr>
          <p:cNvSpPr/>
          <p:nvPr/>
        </p:nvSpPr>
        <p:spPr>
          <a:xfrm>
            <a:off x="1800000" y="3060000"/>
            <a:ext cx="450000" cy="1800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6 -2</a:t>
            </a:r>
            <a:endParaRPr lang="ko-KR" altLang="en-US" sz="10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75DAFE-F093-4A77-CB26-3FF9D1A1582C}"/>
              </a:ext>
            </a:extLst>
          </p:cNvPr>
          <p:cNvSpPr txBox="1"/>
          <p:nvPr/>
        </p:nvSpPr>
        <p:spPr>
          <a:xfrm>
            <a:off x="90000" y="180000"/>
            <a:ext cx="1080000" cy="270000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200" b="1" dirty="0" err="1"/>
              <a:t>컴퓨터비전특론</a:t>
            </a:r>
            <a:endParaRPr lang="ko-KR" altLang="en-US" sz="1200" b="1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FC59030-7B43-8BF0-9C73-2E6C4A8CE5B4}"/>
              </a:ext>
            </a:extLst>
          </p:cNvPr>
          <p:cNvSpPr/>
          <p:nvPr/>
        </p:nvSpPr>
        <p:spPr>
          <a:xfrm>
            <a:off x="90000" y="90844"/>
            <a:ext cx="180000" cy="900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500" b="1" dirty="0"/>
              <a:t>과목</a:t>
            </a:r>
            <a:endParaRPr lang="ko-KR" altLang="en-US" sz="7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A16BC9D-B04F-F225-BFB9-01E56EC96E6B}"/>
              </a:ext>
            </a:extLst>
          </p:cNvPr>
          <p:cNvSpPr txBox="1"/>
          <p:nvPr/>
        </p:nvSpPr>
        <p:spPr>
          <a:xfrm>
            <a:off x="9720000" y="3960000"/>
            <a:ext cx="1260000" cy="360000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600" b="1" dirty="0"/>
              <a:t>2026.06.02</a:t>
            </a:r>
            <a:endParaRPr lang="ko-KR" altLang="en-US" sz="1600" b="1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1AAF686-7829-426D-2187-69C56A2FEBED}"/>
              </a:ext>
            </a:extLst>
          </p:cNvPr>
          <p:cNvSpPr/>
          <p:nvPr/>
        </p:nvSpPr>
        <p:spPr>
          <a:xfrm>
            <a:off x="9720000" y="3780000"/>
            <a:ext cx="540000" cy="180000"/>
          </a:xfrm>
          <a:prstGeom prst="rect">
            <a:avLst/>
          </a:prstGeom>
          <a:solidFill>
            <a:schemeClr val="accent4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100" b="1" dirty="0"/>
              <a:t>날짜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04B5041-71BD-A686-6DE8-0102A638F385}"/>
              </a:ext>
            </a:extLst>
          </p:cNvPr>
          <p:cNvSpPr txBox="1"/>
          <p:nvPr/>
        </p:nvSpPr>
        <p:spPr>
          <a:xfrm>
            <a:off x="9360000" y="4552500"/>
            <a:ext cx="810000" cy="360000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600" b="1" dirty="0"/>
              <a:t>한인철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19F2B67-A7C5-9206-485E-1622AD8E89D7}"/>
              </a:ext>
            </a:extLst>
          </p:cNvPr>
          <p:cNvSpPr/>
          <p:nvPr/>
        </p:nvSpPr>
        <p:spPr>
          <a:xfrm>
            <a:off x="9360000" y="4372500"/>
            <a:ext cx="630000" cy="180000"/>
          </a:xfrm>
          <a:prstGeom prst="rect">
            <a:avLst/>
          </a:prstGeom>
          <a:solidFill>
            <a:schemeClr val="accent6"/>
          </a:solidFill>
          <a:ln w="1905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100" b="1" dirty="0"/>
              <a:t>발표자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826B5A1-BA91-3C07-FD6F-30C19AAE623A}"/>
              </a:ext>
            </a:extLst>
          </p:cNvPr>
          <p:cNvSpPr txBox="1"/>
          <p:nvPr/>
        </p:nvSpPr>
        <p:spPr>
          <a:xfrm>
            <a:off x="1440000" y="2160000"/>
            <a:ext cx="4320000" cy="720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4800" b="1" dirty="0"/>
              <a:t>합성곱 신경망 </a:t>
            </a:r>
            <a:r>
              <a:rPr lang="en-US" altLang="ko-KR" sz="4800" b="1" dirty="0"/>
              <a:t>II</a:t>
            </a:r>
            <a:endParaRPr lang="ko-KR" altLang="en-US" sz="4800" b="1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D6AFEDF-1D0A-7F15-FB6A-94B03F619FFA}"/>
              </a:ext>
            </a:extLst>
          </p:cNvPr>
          <p:cNvSpPr/>
          <p:nvPr/>
        </p:nvSpPr>
        <p:spPr>
          <a:xfrm>
            <a:off x="1440000" y="1880250"/>
            <a:ext cx="720000" cy="270000"/>
          </a:xfrm>
          <a:prstGeom prst="rect">
            <a:avLst/>
          </a:prstGeom>
          <a:solidFill>
            <a:srgbClr val="FF00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100" b="1" dirty="0"/>
              <a:t>Chapter</a:t>
            </a:r>
            <a:endParaRPr lang="ko-KR" altLang="en-US" sz="11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C6116E8-6AB4-8894-C6E3-0DCB942ACDF2}"/>
              </a:ext>
            </a:extLst>
          </p:cNvPr>
          <p:cNvSpPr txBox="1"/>
          <p:nvPr/>
        </p:nvSpPr>
        <p:spPr>
          <a:xfrm>
            <a:off x="9900000" y="6480000"/>
            <a:ext cx="2016000" cy="270000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400" b="1" dirty="0"/>
              <a:t>제주대학교 컴퓨터공학과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3955E5D-F5F5-F294-8DAE-20B2FEB890C3}"/>
              </a:ext>
            </a:extLst>
          </p:cNvPr>
          <p:cNvSpPr/>
          <p:nvPr/>
        </p:nvSpPr>
        <p:spPr>
          <a:xfrm>
            <a:off x="9900000" y="6300001"/>
            <a:ext cx="450000" cy="180000"/>
          </a:xfrm>
          <a:prstGeom prst="rect">
            <a:avLst/>
          </a:prstGeom>
          <a:solidFill>
            <a:srgbClr val="7030A0"/>
          </a:solidFill>
          <a:ln w="190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100" b="1" dirty="0"/>
              <a:t>소속</a:t>
            </a:r>
          </a:p>
        </p:txBody>
      </p:sp>
    </p:spTree>
    <p:extLst>
      <p:ext uri="{BB962C8B-B14F-4D97-AF65-F5344CB8AC3E}">
        <p14:creationId xmlns:p14="http://schemas.microsoft.com/office/powerpoint/2010/main" val="1019599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ECE98444-933B-FADC-0966-01C6E30D57FB}"/>
              </a:ext>
            </a:extLst>
          </p:cNvPr>
          <p:cNvCxnSpPr>
            <a:cxnSpLocks/>
            <a:stCxn id="87" idx="2"/>
          </p:cNvCxnSpPr>
          <p:nvPr/>
        </p:nvCxnSpPr>
        <p:spPr>
          <a:xfrm>
            <a:off x="4140000" y="2519998"/>
            <a:ext cx="0" cy="1152000"/>
          </a:xfrm>
          <a:prstGeom prst="line">
            <a:avLst/>
          </a:prstGeom>
          <a:ln w="254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7D81DE66-1647-421C-0060-7C20BF7464FE}"/>
              </a:ext>
            </a:extLst>
          </p:cNvPr>
          <p:cNvCxnSpPr>
            <a:cxnSpLocks/>
            <a:stCxn id="97" idx="2"/>
          </p:cNvCxnSpPr>
          <p:nvPr/>
        </p:nvCxnSpPr>
        <p:spPr>
          <a:xfrm>
            <a:off x="9180000" y="2879998"/>
            <a:ext cx="0" cy="792000"/>
          </a:xfrm>
          <a:prstGeom prst="line">
            <a:avLst/>
          </a:prstGeom>
          <a:ln w="25400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CB59E277-DC4B-5587-CEA0-6F94DD8CA03F}"/>
              </a:ext>
            </a:extLst>
          </p:cNvPr>
          <p:cNvCxnSpPr>
            <a:cxnSpLocks/>
          </p:cNvCxnSpPr>
          <p:nvPr/>
        </p:nvCxnSpPr>
        <p:spPr>
          <a:xfrm>
            <a:off x="0" y="0"/>
            <a:ext cx="8709" cy="64800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5700FC11-DC67-F2A6-6D6A-B89541A9DCDB}"/>
              </a:ext>
            </a:extLst>
          </p:cNvPr>
          <p:cNvCxnSpPr>
            <a:cxnSpLocks/>
          </p:cNvCxnSpPr>
          <p:nvPr/>
        </p:nvCxnSpPr>
        <p:spPr>
          <a:xfrm>
            <a:off x="0" y="18000"/>
            <a:ext cx="1188000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A0EF77C-2066-F77F-119F-F1C54247F02B}"/>
                  </a:ext>
                </a:extLst>
              </p:cNvPr>
              <p:cNvSpPr txBox="1"/>
              <p:nvPr/>
            </p:nvSpPr>
            <p:spPr>
              <a:xfrm>
                <a:off x="11790000" y="18000"/>
                <a:ext cx="180000" cy="180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ko-KR" altLang="en-US" sz="10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A0EF77C-2066-F77F-119F-F1C54247F0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0000" y="18000"/>
                <a:ext cx="180000" cy="180000"/>
              </a:xfrm>
              <a:prstGeom prst="rect">
                <a:avLst/>
              </a:prstGeom>
              <a:blipFill>
                <a:blip r:embed="rId2"/>
                <a:stretch>
                  <a:fillRect t="-17241" r="-23333" b="-379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354DB55-8225-8960-89AC-99C6B2C6BFB5}"/>
                  </a:ext>
                </a:extLst>
              </p:cNvPr>
              <p:cNvSpPr txBox="1"/>
              <p:nvPr/>
            </p:nvSpPr>
            <p:spPr>
              <a:xfrm>
                <a:off x="0" y="6390001"/>
                <a:ext cx="180000" cy="180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000" b="1" i="1" smtClean="0"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ko-KR" altLang="en-US" sz="10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354DB55-8225-8960-89AC-99C6B2C6BF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390001"/>
                <a:ext cx="180000" cy="180000"/>
              </a:xfrm>
              <a:prstGeom prst="rect">
                <a:avLst/>
              </a:prstGeom>
              <a:blipFill>
                <a:blip r:embed="rId3"/>
                <a:stretch>
                  <a:fillRect l="-23333" t="-30000" r="-30000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63A92EB2-5601-CE15-509A-96C29B050023}"/>
              </a:ext>
            </a:extLst>
          </p:cNvPr>
          <p:cNvSpPr txBox="1"/>
          <p:nvPr/>
        </p:nvSpPr>
        <p:spPr>
          <a:xfrm>
            <a:off x="360000" y="360000"/>
            <a:ext cx="3960000" cy="450000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2400" b="1" dirty="0"/>
              <a:t>합성곱 신경망 모델 발전 과정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36A5CD9-A3BC-61A6-0C38-CDB3C01FE1F0}"/>
              </a:ext>
            </a:extLst>
          </p:cNvPr>
          <p:cNvSpPr/>
          <p:nvPr/>
        </p:nvSpPr>
        <p:spPr>
          <a:xfrm>
            <a:off x="360000" y="180000"/>
            <a:ext cx="450000" cy="1800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/>
              <a:t>목차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9ADD4D-BCAB-C9D1-531B-EB292FEC0254}"/>
              </a:ext>
            </a:extLst>
          </p:cNvPr>
          <p:cNvSpPr txBox="1"/>
          <p:nvPr/>
        </p:nvSpPr>
        <p:spPr>
          <a:xfrm>
            <a:off x="450000" y="1133998"/>
            <a:ext cx="11160000" cy="50400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lIns="54000" tIns="54000" rIns="54000" bIns="54000" rtlCol="0" anchor="t">
            <a:noAutofit/>
          </a:bodyPr>
          <a:lstStyle/>
          <a:p>
            <a:pPr algn="just"/>
            <a:r>
              <a:rPr lang="ko-KR" altLang="en-US" sz="1600" dirty="0"/>
              <a:t>합성곱 신경망은 </a:t>
            </a:r>
            <a:r>
              <a:rPr lang="en-US" altLang="ko-KR" sz="1600" dirty="0"/>
              <a:t>1980</a:t>
            </a:r>
            <a:r>
              <a:rPr lang="ko-KR" altLang="en-US" sz="1600" dirty="0"/>
              <a:t>년에 고안된</a:t>
            </a:r>
            <a:r>
              <a:rPr lang="en-US" altLang="ko-KR" sz="1600" dirty="0"/>
              <a:t> </a:t>
            </a:r>
            <a:r>
              <a:rPr lang="en-US" altLang="ko-KR" sz="1600" dirty="0" err="1"/>
              <a:t>Neocognitron</a:t>
            </a:r>
            <a:r>
              <a:rPr lang="ko-KR" altLang="en-US" sz="1600" dirty="0"/>
              <a:t>의 계층적 특징 축소 방식에서부터 발전되었음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7676745-A59D-CEAB-9514-645AC2EDA7EB}"/>
              </a:ext>
            </a:extLst>
          </p:cNvPr>
          <p:cNvSpPr/>
          <p:nvPr/>
        </p:nvSpPr>
        <p:spPr>
          <a:xfrm>
            <a:off x="450000" y="953502"/>
            <a:ext cx="450000" cy="180000"/>
          </a:xfrm>
          <a:prstGeom prst="rect">
            <a:avLst/>
          </a:prstGeom>
          <a:solidFill>
            <a:srgbClr val="92D050"/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/>
              <a:t>내용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70031F-3028-C5CD-D52D-FA4670D4C280}"/>
              </a:ext>
            </a:extLst>
          </p:cNvPr>
          <p:cNvSpPr txBox="1"/>
          <p:nvPr/>
        </p:nvSpPr>
        <p:spPr>
          <a:xfrm>
            <a:off x="494999" y="4050000"/>
            <a:ext cx="1170000" cy="1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400" dirty="0" err="1"/>
              <a:t>Neocognitron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2A736F-9A22-D748-EF7D-14ECAD89D7D8}"/>
              </a:ext>
            </a:extLst>
          </p:cNvPr>
          <p:cNvSpPr txBox="1"/>
          <p:nvPr/>
        </p:nvSpPr>
        <p:spPr>
          <a:xfrm>
            <a:off x="809999" y="3870000"/>
            <a:ext cx="540000" cy="1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200" b="1" dirty="0"/>
              <a:t>1980</a:t>
            </a:r>
            <a:endParaRPr lang="ko-KR" altLang="en-US" sz="16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E7EEFF-3F45-5371-CF89-783D7F6F2BDA}"/>
              </a:ext>
            </a:extLst>
          </p:cNvPr>
          <p:cNvSpPr txBox="1"/>
          <p:nvPr/>
        </p:nvSpPr>
        <p:spPr>
          <a:xfrm>
            <a:off x="1889999" y="3870000"/>
            <a:ext cx="540000" cy="1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200" b="1" dirty="0"/>
              <a:t>1989</a:t>
            </a:r>
            <a:endParaRPr lang="ko-KR" altLang="en-US" sz="16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0D29A8-8D6F-AC07-B6AF-8B8940928FDE}"/>
              </a:ext>
            </a:extLst>
          </p:cNvPr>
          <p:cNvSpPr txBox="1"/>
          <p:nvPr/>
        </p:nvSpPr>
        <p:spPr>
          <a:xfrm>
            <a:off x="1710000" y="4050000"/>
            <a:ext cx="900000" cy="1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400" dirty="0" err="1"/>
              <a:t>ConvNet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571FF7F-0913-3557-C360-821443D3B197}"/>
              </a:ext>
            </a:extLst>
          </p:cNvPr>
          <p:cNvSpPr txBox="1"/>
          <p:nvPr/>
        </p:nvSpPr>
        <p:spPr>
          <a:xfrm>
            <a:off x="2970000" y="3870000"/>
            <a:ext cx="540000" cy="1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200" b="1" dirty="0"/>
              <a:t>1998</a:t>
            </a:r>
            <a:endParaRPr lang="ko-KR" altLang="en-US" sz="16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E6CFDBC-FB85-5045-546A-A6EAD4F04BA4}"/>
              </a:ext>
            </a:extLst>
          </p:cNvPr>
          <p:cNvSpPr txBox="1"/>
          <p:nvPr/>
        </p:nvSpPr>
        <p:spPr>
          <a:xfrm>
            <a:off x="2789999" y="4050000"/>
            <a:ext cx="900000" cy="1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400" dirty="0"/>
              <a:t>LeNet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0589C1D-BC48-3016-8FDD-1BD50C8D6189}"/>
              </a:ext>
            </a:extLst>
          </p:cNvPr>
          <p:cNvSpPr txBox="1"/>
          <p:nvPr/>
        </p:nvSpPr>
        <p:spPr>
          <a:xfrm>
            <a:off x="4229998" y="3870000"/>
            <a:ext cx="540000" cy="1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200" b="1" dirty="0"/>
              <a:t>2012</a:t>
            </a:r>
            <a:endParaRPr lang="ko-KR" altLang="en-US" sz="16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2BFFEEF-BDD1-9BB5-3B17-99C9C8F4ECD6}"/>
              </a:ext>
            </a:extLst>
          </p:cNvPr>
          <p:cNvSpPr txBox="1"/>
          <p:nvPr/>
        </p:nvSpPr>
        <p:spPr>
          <a:xfrm>
            <a:off x="4049999" y="4050000"/>
            <a:ext cx="900000" cy="1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400" dirty="0" err="1"/>
              <a:t>AlexNet</a:t>
            </a:r>
            <a:endParaRPr lang="ko-KR" alt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00F5AD1-D591-F497-F9D3-4F61D0B32229}"/>
              </a:ext>
            </a:extLst>
          </p:cNvPr>
          <p:cNvSpPr txBox="1"/>
          <p:nvPr/>
        </p:nvSpPr>
        <p:spPr>
          <a:xfrm>
            <a:off x="5309997" y="3870000"/>
            <a:ext cx="540000" cy="1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200" b="1" dirty="0"/>
              <a:t>2014</a:t>
            </a:r>
            <a:endParaRPr lang="ko-KR" altLang="en-US" sz="1600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35D9A5A-403B-827E-DD23-349E57387B68}"/>
              </a:ext>
            </a:extLst>
          </p:cNvPr>
          <p:cNvSpPr txBox="1"/>
          <p:nvPr/>
        </p:nvSpPr>
        <p:spPr>
          <a:xfrm>
            <a:off x="5129997" y="4050000"/>
            <a:ext cx="900000" cy="1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400" dirty="0" err="1"/>
              <a:t>VggNet</a:t>
            </a:r>
            <a:endParaRPr lang="ko-KR" altLang="en-US" dirty="0"/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D430EB11-29DB-20DA-CC31-6AB4CDD7A2BE}"/>
              </a:ext>
            </a:extLst>
          </p:cNvPr>
          <p:cNvCxnSpPr>
            <a:cxnSpLocks/>
          </p:cNvCxnSpPr>
          <p:nvPr/>
        </p:nvCxnSpPr>
        <p:spPr>
          <a:xfrm>
            <a:off x="719998" y="3671999"/>
            <a:ext cx="10080002" cy="0"/>
          </a:xfrm>
          <a:prstGeom prst="line">
            <a:avLst/>
          </a:prstGeom>
          <a:ln w="25400"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2C87A2D0-37D5-686B-5CB5-DE9C2D2B0412}"/>
              </a:ext>
            </a:extLst>
          </p:cNvPr>
          <p:cNvSpPr txBox="1"/>
          <p:nvPr/>
        </p:nvSpPr>
        <p:spPr>
          <a:xfrm>
            <a:off x="5039997" y="4320000"/>
            <a:ext cx="1080000" cy="1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400" dirty="0" err="1"/>
              <a:t>GoogLeNet</a:t>
            </a:r>
            <a:endParaRPr lang="ko-KR" alt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6F95236-15A5-671C-EF8C-8E07C0D9AAA7}"/>
              </a:ext>
            </a:extLst>
          </p:cNvPr>
          <p:cNvSpPr txBox="1"/>
          <p:nvPr/>
        </p:nvSpPr>
        <p:spPr>
          <a:xfrm>
            <a:off x="6386068" y="3870000"/>
            <a:ext cx="540000" cy="1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200" b="1" dirty="0"/>
              <a:t>2015</a:t>
            </a:r>
            <a:endParaRPr lang="ko-KR" altLang="en-US" sz="1600" b="1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7001D75-B9E7-F48B-D206-C2F02CD46793}"/>
              </a:ext>
            </a:extLst>
          </p:cNvPr>
          <p:cNvSpPr txBox="1"/>
          <p:nvPr/>
        </p:nvSpPr>
        <p:spPr>
          <a:xfrm>
            <a:off x="6209995" y="4050000"/>
            <a:ext cx="900000" cy="1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400" dirty="0" err="1"/>
              <a:t>ResNet</a:t>
            </a:r>
            <a:endParaRPr lang="ko-KR" alt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E216475-A2F8-01FA-746B-5F9A696DFA8C}"/>
              </a:ext>
            </a:extLst>
          </p:cNvPr>
          <p:cNvSpPr txBox="1"/>
          <p:nvPr/>
        </p:nvSpPr>
        <p:spPr>
          <a:xfrm>
            <a:off x="7469999" y="3870000"/>
            <a:ext cx="540000" cy="1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200" b="1" dirty="0"/>
              <a:t>2016</a:t>
            </a:r>
            <a:endParaRPr lang="ko-KR" altLang="en-US" sz="1600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029EC26-7F20-19F8-11AA-61A85484919B}"/>
              </a:ext>
            </a:extLst>
          </p:cNvPr>
          <p:cNvSpPr txBox="1"/>
          <p:nvPr/>
        </p:nvSpPr>
        <p:spPr>
          <a:xfrm>
            <a:off x="7290000" y="4050000"/>
            <a:ext cx="900000" cy="1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400" dirty="0" err="1"/>
              <a:t>DenseNet</a:t>
            </a:r>
            <a:endParaRPr lang="ko-KR" altLang="en-US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2A6AACC-A63C-ACA5-1E56-95FD83CE53E5}"/>
              </a:ext>
            </a:extLst>
          </p:cNvPr>
          <p:cNvSpPr txBox="1"/>
          <p:nvPr/>
        </p:nvSpPr>
        <p:spPr>
          <a:xfrm>
            <a:off x="8550000" y="3870000"/>
            <a:ext cx="540000" cy="1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200" b="1" dirty="0"/>
              <a:t>2017</a:t>
            </a:r>
            <a:endParaRPr lang="ko-KR" altLang="en-US" sz="1600" b="1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40E61AD-0ADC-2BEF-12E3-FF1E9B33AE81}"/>
              </a:ext>
            </a:extLst>
          </p:cNvPr>
          <p:cNvSpPr txBox="1"/>
          <p:nvPr/>
        </p:nvSpPr>
        <p:spPr>
          <a:xfrm>
            <a:off x="8370000" y="4050000"/>
            <a:ext cx="900000" cy="1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400" dirty="0" err="1"/>
              <a:t>ResNeXt</a:t>
            </a:r>
            <a:endParaRPr lang="ko-KR" altLang="en-US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7C7550E-9866-B64D-2642-83632E1E2B61}"/>
              </a:ext>
            </a:extLst>
          </p:cNvPr>
          <p:cNvSpPr txBox="1"/>
          <p:nvPr/>
        </p:nvSpPr>
        <p:spPr>
          <a:xfrm>
            <a:off x="9630000" y="3870000"/>
            <a:ext cx="540000" cy="1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200" b="1" dirty="0"/>
              <a:t>2019</a:t>
            </a:r>
            <a:endParaRPr lang="ko-KR" altLang="en-US" sz="1600" b="1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5560BE7-86D6-1BED-1387-B0D7DB07EE1D}"/>
              </a:ext>
            </a:extLst>
          </p:cNvPr>
          <p:cNvSpPr txBox="1"/>
          <p:nvPr/>
        </p:nvSpPr>
        <p:spPr>
          <a:xfrm>
            <a:off x="9360000" y="4050000"/>
            <a:ext cx="1080000" cy="1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400" dirty="0" err="1"/>
              <a:t>EfficientNet</a:t>
            </a:r>
            <a:endParaRPr lang="ko-KR" altLang="en-US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AA252D6-28FB-26A5-273E-166A7B7C2E47}"/>
              </a:ext>
            </a:extLst>
          </p:cNvPr>
          <p:cNvGrpSpPr/>
          <p:nvPr/>
        </p:nvGrpSpPr>
        <p:grpSpPr>
          <a:xfrm>
            <a:off x="900000" y="3491999"/>
            <a:ext cx="360000" cy="360000"/>
            <a:chOff x="720000" y="3491999"/>
            <a:chExt cx="360000" cy="360000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8A09598F-DAD5-2E9C-B9E5-3E997107F421}"/>
                </a:ext>
              </a:extLst>
            </p:cNvPr>
            <p:cNvSpPr/>
            <p:nvPr/>
          </p:nvSpPr>
          <p:spPr>
            <a:xfrm>
              <a:off x="720000" y="3491999"/>
              <a:ext cx="360000" cy="360000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98E2CA10-F4F0-FDE8-4EAE-BA37B93EB34D}"/>
                </a:ext>
              </a:extLst>
            </p:cNvPr>
            <p:cNvSpPr/>
            <p:nvPr/>
          </p:nvSpPr>
          <p:spPr>
            <a:xfrm>
              <a:off x="765000" y="3536999"/>
              <a:ext cx="270000" cy="27000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516B68A6-6F8A-2BBA-5D25-A42FDE7070D9}"/>
              </a:ext>
            </a:extLst>
          </p:cNvPr>
          <p:cNvGrpSpPr/>
          <p:nvPr/>
        </p:nvGrpSpPr>
        <p:grpSpPr>
          <a:xfrm>
            <a:off x="1980000" y="3491999"/>
            <a:ext cx="360000" cy="360000"/>
            <a:chOff x="720000" y="3491999"/>
            <a:chExt cx="360000" cy="360000"/>
          </a:xfrm>
        </p:grpSpPr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683A5BDA-D395-560F-3895-EE82472F7172}"/>
                </a:ext>
              </a:extLst>
            </p:cNvPr>
            <p:cNvSpPr/>
            <p:nvPr/>
          </p:nvSpPr>
          <p:spPr>
            <a:xfrm>
              <a:off x="720000" y="3491999"/>
              <a:ext cx="360000" cy="360000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9A01E939-1B89-355D-205B-EE839DA5FC3B}"/>
                </a:ext>
              </a:extLst>
            </p:cNvPr>
            <p:cNvSpPr/>
            <p:nvPr/>
          </p:nvSpPr>
          <p:spPr>
            <a:xfrm>
              <a:off x="765000" y="3536999"/>
              <a:ext cx="270000" cy="27000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BA878E73-8346-B625-4E94-C5769CBA2162}"/>
              </a:ext>
            </a:extLst>
          </p:cNvPr>
          <p:cNvGrpSpPr/>
          <p:nvPr/>
        </p:nvGrpSpPr>
        <p:grpSpPr>
          <a:xfrm>
            <a:off x="3060000" y="3492434"/>
            <a:ext cx="360000" cy="360000"/>
            <a:chOff x="720000" y="3491999"/>
            <a:chExt cx="360000" cy="360000"/>
          </a:xfrm>
        </p:grpSpPr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4AEADDAF-DC2D-4E5F-37A8-D00A2319F9D5}"/>
                </a:ext>
              </a:extLst>
            </p:cNvPr>
            <p:cNvSpPr/>
            <p:nvPr/>
          </p:nvSpPr>
          <p:spPr>
            <a:xfrm>
              <a:off x="720000" y="3491999"/>
              <a:ext cx="360000" cy="360000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EB197156-697A-9EC2-2470-70F8DEA0AD79}"/>
                </a:ext>
              </a:extLst>
            </p:cNvPr>
            <p:cNvSpPr/>
            <p:nvPr/>
          </p:nvSpPr>
          <p:spPr>
            <a:xfrm>
              <a:off x="765000" y="3536999"/>
              <a:ext cx="270000" cy="27000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EAB134D7-0448-9AAF-B137-D4C91B73434A}"/>
              </a:ext>
            </a:extLst>
          </p:cNvPr>
          <p:cNvGrpSpPr/>
          <p:nvPr/>
        </p:nvGrpSpPr>
        <p:grpSpPr>
          <a:xfrm>
            <a:off x="4320000" y="3491999"/>
            <a:ext cx="360000" cy="360000"/>
            <a:chOff x="720000" y="3491999"/>
            <a:chExt cx="360000" cy="360000"/>
          </a:xfrm>
        </p:grpSpPr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99F2111F-4497-E299-DAED-2394691BEA3E}"/>
                </a:ext>
              </a:extLst>
            </p:cNvPr>
            <p:cNvSpPr/>
            <p:nvPr/>
          </p:nvSpPr>
          <p:spPr>
            <a:xfrm>
              <a:off x="720000" y="3491999"/>
              <a:ext cx="360000" cy="360000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0FA08B58-B3E8-7F80-BAEB-FE3DAA1BCF05}"/>
                </a:ext>
              </a:extLst>
            </p:cNvPr>
            <p:cNvSpPr/>
            <p:nvPr/>
          </p:nvSpPr>
          <p:spPr>
            <a:xfrm>
              <a:off x="765000" y="3536999"/>
              <a:ext cx="270000" cy="27000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A6F48824-9701-5F08-7A76-2FB5BB6915DC}"/>
              </a:ext>
            </a:extLst>
          </p:cNvPr>
          <p:cNvGrpSpPr/>
          <p:nvPr/>
        </p:nvGrpSpPr>
        <p:grpSpPr>
          <a:xfrm>
            <a:off x="5400000" y="3491963"/>
            <a:ext cx="360000" cy="360000"/>
            <a:chOff x="720000" y="3491999"/>
            <a:chExt cx="360000" cy="360000"/>
          </a:xfrm>
        </p:grpSpPr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8026F876-ACEE-5BF2-76E6-D67B6C3CA7C5}"/>
                </a:ext>
              </a:extLst>
            </p:cNvPr>
            <p:cNvSpPr/>
            <p:nvPr/>
          </p:nvSpPr>
          <p:spPr>
            <a:xfrm>
              <a:off x="720000" y="3491999"/>
              <a:ext cx="360000" cy="360000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948AB2C4-9B77-011D-3DF4-C542F1256A57}"/>
                </a:ext>
              </a:extLst>
            </p:cNvPr>
            <p:cNvSpPr/>
            <p:nvPr/>
          </p:nvSpPr>
          <p:spPr>
            <a:xfrm>
              <a:off x="765000" y="3536999"/>
              <a:ext cx="270000" cy="27000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8F68571C-486F-6C3A-8168-A97C5F40530D}"/>
              </a:ext>
            </a:extLst>
          </p:cNvPr>
          <p:cNvGrpSpPr/>
          <p:nvPr/>
        </p:nvGrpSpPr>
        <p:grpSpPr>
          <a:xfrm>
            <a:off x="6480000" y="3491963"/>
            <a:ext cx="360000" cy="360000"/>
            <a:chOff x="720000" y="3491999"/>
            <a:chExt cx="360000" cy="360000"/>
          </a:xfrm>
        </p:grpSpPr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87BB267D-6AD9-09CB-61AB-F8E1DF32FD34}"/>
                </a:ext>
              </a:extLst>
            </p:cNvPr>
            <p:cNvSpPr/>
            <p:nvPr/>
          </p:nvSpPr>
          <p:spPr>
            <a:xfrm>
              <a:off x="720000" y="3491999"/>
              <a:ext cx="360000" cy="360000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F4036DD1-FBCB-E771-396A-91068D2730C1}"/>
                </a:ext>
              </a:extLst>
            </p:cNvPr>
            <p:cNvSpPr/>
            <p:nvPr/>
          </p:nvSpPr>
          <p:spPr>
            <a:xfrm>
              <a:off x="765000" y="3536999"/>
              <a:ext cx="270000" cy="27000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D87752DA-12BE-AB6B-5F99-6D37572B15B1}"/>
              </a:ext>
            </a:extLst>
          </p:cNvPr>
          <p:cNvGrpSpPr/>
          <p:nvPr/>
        </p:nvGrpSpPr>
        <p:grpSpPr>
          <a:xfrm>
            <a:off x="7560000" y="3491007"/>
            <a:ext cx="360000" cy="360000"/>
            <a:chOff x="720000" y="3491999"/>
            <a:chExt cx="360000" cy="360000"/>
          </a:xfrm>
        </p:grpSpPr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6EF46688-D778-3C30-BA87-DCE905CC9736}"/>
                </a:ext>
              </a:extLst>
            </p:cNvPr>
            <p:cNvSpPr/>
            <p:nvPr/>
          </p:nvSpPr>
          <p:spPr>
            <a:xfrm>
              <a:off x="720000" y="3491999"/>
              <a:ext cx="360000" cy="360000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9279F57C-3A08-4755-7190-5FEA674E968F}"/>
                </a:ext>
              </a:extLst>
            </p:cNvPr>
            <p:cNvSpPr/>
            <p:nvPr/>
          </p:nvSpPr>
          <p:spPr>
            <a:xfrm>
              <a:off x="765000" y="3536999"/>
              <a:ext cx="270000" cy="27000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52E860C9-EC56-4B07-846C-9F76E6E51020}"/>
              </a:ext>
            </a:extLst>
          </p:cNvPr>
          <p:cNvGrpSpPr/>
          <p:nvPr/>
        </p:nvGrpSpPr>
        <p:grpSpPr>
          <a:xfrm>
            <a:off x="8640000" y="3491007"/>
            <a:ext cx="360000" cy="360000"/>
            <a:chOff x="720000" y="3491999"/>
            <a:chExt cx="360000" cy="360000"/>
          </a:xfrm>
        </p:grpSpPr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090FB8CE-5EFF-F06B-FA2D-7E22C8EE74C0}"/>
                </a:ext>
              </a:extLst>
            </p:cNvPr>
            <p:cNvSpPr/>
            <p:nvPr/>
          </p:nvSpPr>
          <p:spPr>
            <a:xfrm>
              <a:off x="720000" y="3491999"/>
              <a:ext cx="360000" cy="360000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C6D0D929-DE12-8C87-0D62-CCB23AD1E315}"/>
                </a:ext>
              </a:extLst>
            </p:cNvPr>
            <p:cNvSpPr/>
            <p:nvPr/>
          </p:nvSpPr>
          <p:spPr>
            <a:xfrm>
              <a:off x="765000" y="3536999"/>
              <a:ext cx="270000" cy="27000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40036555-D5E3-F4DC-650F-76C980D7B488}"/>
              </a:ext>
            </a:extLst>
          </p:cNvPr>
          <p:cNvGrpSpPr/>
          <p:nvPr/>
        </p:nvGrpSpPr>
        <p:grpSpPr>
          <a:xfrm>
            <a:off x="9720000" y="3491007"/>
            <a:ext cx="360000" cy="360000"/>
            <a:chOff x="720000" y="3491999"/>
            <a:chExt cx="360000" cy="360000"/>
          </a:xfrm>
        </p:grpSpPr>
        <p:sp>
          <p:nvSpPr>
            <p:cNvPr id="62" name="타원 61">
              <a:extLst>
                <a:ext uri="{FF2B5EF4-FFF2-40B4-BE49-F238E27FC236}">
                  <a16:creationId xmlns:a16="http://schemas.microsoft.com/office/drawing/2014/main" id="{B3A8F9B2-3545-4D03-D942-0246857684BD}"/>
                </a:ext>
              </a:extLst>
            </p:cNvPr>
            <p:cNvSpPr/>
            <p:nvPr/>
          </p:nvSpPr>
          <p:spPr>
            <a:xfrm>
              <a:off x="720000" y="3491999"/>
              <a:ext cx="360000" cy="360000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타원 62">
              <a:extLst>
                <a:ext uri="{FF2B5EF4-FFF2-40B4-BE49-F238E27FC236}">
                  <a16:creationId xmlns:a16="http://schemas.microsoft.com/office/drawing/2014/main" id="{0E22086D-49C3-B980-64DF-19670E80806B}"/>
                </a:ext>
              </a:extLst>
            </p:cNvPr>
            <p:cNvSpPr/>
            <p:nvPr/>
          </p:nvSpPr>
          <p:spPr>
            <a:xfrm>
              <a:off x="765000" y="3536999"/>
              <a:ext cx="270000" cy="27000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C46C7E0D-7850-BD27-52A7-FF17C411F68F}"/>
              </a:ext>
            </a:extLst>
          </p:cNvPr>
          <p:cNvGrpSpPr/>
          <p:nvPr/>
        </p:nvGrpSpPr>
        <p:grpSpPr>
          <a:xfrm>
            <a:off x="10980000" y="3491007"/>
            <a:ext cx="360000" cy="360000"/>
            <a:chOff x="720000" y="3491999"/>
            <a:chExt cx="360000" cy="360000"/>
          </a:xfrm>
        </p:grpSpPr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BB717108-8482-FE99-CA5F-377050CD2F18}"/>
                </a:ext>
              </a:extLst>
            </p:cNvPr>
            <p:cNvSpPr/>
            <p:nvPr/>
          </p:nvSpPr>
          <p:spPr>
            <a:xfrm>
              <a:off x="720000" y="3491999"/>
              <a:ext cx="360000" cy="36000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타원 72">
              <a:extLst>
                <a:ext uri="{FF2B5EF4-FFF2-40B4-BE49-F238E27FC236}">
                  <a16:creationId xmlns:a16="http://schemas.microsoft.com/office/drawing/2014/main" id="{C5484232-7961-E77F-B1FA-9189648A6466}"/>
                </a:ext>
              </a:extLst>
            </p:cNvPr>
            <p:cNvSpPr/>
            <p:nvPr/>
          </p:nvSpPr>
          <p:spPr>
            <a:xfrm>
              <a:off x="765000" y="3536999"/>
              <a:ext cx="270000" cy="270000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4" name="순서도: 천공 테이프 73">
            <a:extLst>
              <a:ext uri="{FF2B5EF4-FFF2-40B4-BE49-F238E27FC236}">
                <a16:creationId xmlns:a16="http://schemas.microsoft.com/office/drawing/2014/main" id="{314A2154-BCE4-52F4-45B7-D9756DCF4CE4}"/>
              </a:ext>
            </a:extLst>
          </p:cNvPr>
          <p:cNvSpPr/>
          <p:nvPr/>
        </p:nvSpPr>
        <p:spPr>
          <a:xfrm>
            <a:off x="3644998" y="3536007"/>
            <a:ext cx="450000" cy="270000"/>
          </a:xfrm>
          <a:prstGeom prst="flowChartPunchedTape">
            <a:avLst/>
          </a:prstGeom>
          <a:gradFill flip="none" rotWithShape="1">
            <a:gsLst>
              <a:gs pos="75000">
                <a:schemeClr val="bg2">
                  <a:lumMod val="75000"/>
                </a:schemeClr>
              </a:gs>
              <a:gs pos="25000">
                <a:schemeClr val="bg2">
                  <a:lumMod val="25000"/>
                </a:schemeClr>
              </a:gs>
              <a:gs pos="0">
                <a:schemeClr val="bg2">
                  <a:lumMod val="10000"/>
                </a:schemeClr>
              </a:gs>
              <a:gs pos="50000">
                <a:schemeClr val="bg2">
                  <a:lumMod val="50000"/>
                </a:schemeClr>
              </a:gs>
              <a:gs pos="100000">
                <a:schemeClr val="bg2">
                  <a:lumMod val="9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54C0F24-172F-8293-BB30-7BDC2AF5949C}"/>
              </a:ext>
            </a:extLst>
          </p:cNvPr>
          <p:cNvSpPr txBox="1"/>
          <p:nvPr/>
        </p:nvSpPr>
        <p:spPr>
          <a:xfrm>
            <a:off x="3644998" y="3384000"/>
            <a:ext cx="450000" cy="108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800" b="1" dirty="0"/>
              <a:t>Dark Age</a:t>
            </a:r>
            <a:endParaRPr lang="ko-KR" altLang="en-US" sz="1000" b="1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9CC28D0-57CF-2F0B-75A3-BA77779B4478}"/>
              </a:ext>
            </a:extLst>
          </p:cNvPr>
          <p:cNvSpPr txBox="1"/>
          <p:nvPr/>
        </p:nvSpPr>
        <p:spPr>
          <a:xfrm>
            <a:off x="629999" y="4320000"/>
            <a:ext cx="900000" cy="864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just"/>
            <a:r>
              <a:rPr lang="ko-KR" altLang="en-US" sz="900" dirty="0"/>
              <a:t>계층적 다층 인공 신경망 구조로 구성되며</a:t>
            </a:r>
            <a:r>
              <a:rPr lang="en-US" altLang="ko-KR" sz="900" dirty="0"/>
              <a:t>, </a:t>
            </a:r>
            <a:r>
              <a:rPr lang="ko-KR" altLang="en-US" sz="900" dirty="0"/>
              <a:t>합성곱 신경망</a:t>
            </a:r>
            <a:r>
              <a:rPr lang="en-US" altLang="ko-KR" sz="900" dirty="0"/>
              <a:t> </a:t>
            </a:r>
            <a:r>
              <a:rPr lang="ko-KR" altLang="en-US" sz="900" dirty="0"/>
              <a:t>구조의 기반이 되는 형태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B871F8F-491A-ADA7-CE0F-80A1A8D67F18}"/>
              </a:ext>
            </a:extLst>
          </p:cNvPr>
          <p:cNvSpPr txBox="1"/>
          <p:nvPr/>
        </p:nvSpPr>
        <p:spPr>
          <a:xfrm>
            <a:off x="1710000" y="4319998"/>
            <a:ext cx="900000" cy="864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just"/>
            <a:r>
              <a:rPr lang="ko-KR" altLang="en-US" sz="900" dirty="0"/>
              <a:t>손 글씨 우편번호 인식에 적용한 초기 합성곱 신경망 계열 모델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5000FFC-B46D-9549-9981-8D74BC20FC22}"/>
              </a:ext>
            </a:extLst>
          </p:cNvPr>
          <p:cNvSpPr txBox="1"/>
          <p:nvPr/>
        </p:nvSpPr>
        <p:spPr>
          <a:xfrm>
            <a:off x="2789999" y="4319998"/>
            <a:ext cx="900000" cy="864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just"/>
            <a:r>
              <a:rPr lang="en-US" altLang="ko-KR" sz="900" dirty="0"/>
              <a:t>CNN </a:t>
            </a:r>
            <a:r>
              <a:rPr lang="ko-KR" altLang="en-US" sz="900" dirty="0"/>
              <a:t>구조로 실용적인 문서 </a:t>
            </a:r>
            <a:r>
              <a:rPr lang="en-US" altLang="ko-KR" sz="900" dirty="0"/>
              <a:t>• </a:t>
            </a:r>
            <a:r>
              <a:rPr lang="ko-KR" altLang="en-US" sz="900" dirty="0"/>
              <a:t>숫자 인식 모델로 정리됨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4209B0C-E8D2-A13A-B3F4-CF4A77685BC8}"/>
              </a:ext>
            </a:extLst>
          </p:cNvPr>
          <p:cNvSpPr txBox="1"/>
          <p:nvPr/>
        </p:nvSpPr>
        <p:spPr>
          <a:xfrm>
            <a:off x="4049999" y="4319998"/>
            <a:ext cx="900000" cy="864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just"/>
            <a:r>
              <a:rPr lang="en-US" altLang="ko-KR" sz="900" dirty="0"/>
              <a:t>ImageNet </a:t>
            </a:r>
            <a:r>
              <a:rPr lang="ko-KR" altLang="en-US" sz="900" dirty="0"/>
              <a:t>분류 과제에서 </a:t>
            </a:r>
            <a:r>
              <a:rPr lang="en-US" altLang="ko-KR" sz="900" dirty="0"/>
              <a:t>Deep CNN </a:t>
            </a:r>
            <a:r>
              <a:rPr lang="ko-KR" altLang="en-US" sz="900" dirty="0"/>
              <a:t>구조의 가능성 보여주며</a:t>
            </a:r>
            <a:r>
              <a:rPr lang="en-US" altLang="ko-KR" sz="900" dirty="0"/>
              <a:t>, </a:t>
            </a:r>
            <a:r>
              <a:rPr lang="ko-KR" altLang="en-US" sz="900" dirty="0"/>
              <a:t>합성곱 구조의 암흑기를 해소함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49F66361-4173-9101-7BA4-4CE1F8653796}"/>
                  </a:ext>
                </a:extLst>
              </p:cNvPr>
              <p:cNvSpPr txBox="1"/>
              <p:nvPr/>
            </p:nvSpPr>
            <p:spPr>
              <a:xfrm>
                <a:off x="5129997" y="4590000"/>
                <a:ext cx="900000" cy="1170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algn="just"/>
                <a:r>
                  <a:rPr lang="ko-KR" altLang="en-US" sz="900" dirty="0"/>
                  <a:t>작은 </a:t>
                </a:r>
                <a14:m>
                  <m:oMath xmlns:m="http://schemas.openxmlformats.org/officeDocument/2006/math">
                    <m:r>
                      <a:rPr lang="en-US" altLang="ko-KR" sz="900" b="0" i="1" smtClean="0">
                        <a:latin typeface="Cambria Math" panose="02040503050406030204" pitchFamily="18" charset="0"/>
                      </a:rPr>
                      <m:t>3×3</m:t>
                    </m:r>
                  </m:oMath>
                </a14:m>
                <a:r>
                  <a:rPr lang="en-US" altLang="ko-KR" sz="900" b="0" dirty="0"/>
                  <a:t> </a:t>
                </a:r>
                <a:r>
                  <a:rPr lang="ko-KR" altLang="en-US" sz="900" b="0" dirty="0"/>
                  <a:t>구조의 커널 필터를 깊게 쌓는 구조와 </a:t>
                </a:r>
                <a:r>
                  <a:rPr lang="ko-KR" altLang="en-US" sz="900" dirty="0"/>
                  <a:t>여러 크기의 </a:t>
                </a:r>
                <a:r>
                  <a:rPr lang="ko-KR" altLang="en-US" sz="900" dirty="0" err="1"/>
                  <a:t>합성곱을</a:t>
                </a:r>
                <a:r>
                  <a:rPr lang="ko-KR" altLang="en-US" sz="900" dirty="0"/>
                  <a:t> 병렬로 사용하는 </a:t>
                </a:r>
                <a:r>
                  <a:rPr lang="en-US" altLang="ko-KR" sz="900" dirty="0"/>
                  <a:t>Inception </a:t>
                </a:r>
                <a:r>
                  <a:rPr lang="ko-KR" altLang="en-US" sz="900" dirty="0"/>
                  <a:t>구조</a:t>
                </a:r>
                <a:r>
                  <a:rPr lang="ko-KR" altLang="en-US" sz="900" b="0" dirty="0"/>
                  <a:t>를 제안하여 이미지 분류 성능을 높임</a:t>
                </a:r>
                <a:endParaRPr lang="en-US" altLang="ko-KR" sz="900" b="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49F66361-4173-9101-7BA4-4CE1F86537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9997" y="4590000"/>
                <a:ext cx="900000" cy="1170000"/>
              </a:xfrm>
              <a:prstGeom prst="rect">
                <a:avLst/>
              </a:prstGeom>
              <a:blipFill>
                <a:blip r:embed="rId4"/>
                <a:stretch>
                  <a:fillRect l="-8163" t="-3646" r="-1088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TextBox 82">
            <a:extLst>
              <a:ext uri="{FF2B5EF4-FFF2-40B4-BE49-F238E27FC236}">
                <a16:creationId xmlns:a16="http://schemas.microsoft.com/office/drawing/2014/main" id="{B0F064BF-ADDE-6C46-065B-2E51F55069DB}"/>
              </a:ext>
            </a:extLst>
          </p:cNvPr>
          <p:cNvSpPr txBox="1"/>
          <p:nvPr/>
        </p:nvSpPr>
        <p:spPr>
          <a:xfrm>
            <a:off x="6209995" y="4320962"/>
            <a:ext cx="900000" cy="864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just"/>
            <a:r>
              <a:rPr lang="ko-KR" altLang="en-US" sz="900" dirty="0"/>
              <a:t>지름길 연결과 </a:t>
            </a:r>
            <a:r>
              <a:rPr lang="ko-KR" altLang="en-US" sz="900" dirty="0" err="1"/>
              <a:t>잔차</a:t>
            </a:r>
            <a:r>
              <a:rPr lang="ko-KR" altLang="en-US" sz="900" dirty="0"/>
              <a:t> 학습을 통해 더 깊은 구조의 </a:t>
            </a:r>
            <a:r>
              <a:rPr lang="en-US" altLang="ko-KR" sz="900" dirty="0"/>
              <a:t>CNN </a:t>
            </a:r>
            <a:r>
              <a:rPr lang="ko-KR" altLang="en-US" sz="900" dirty="0"/>
              <a:t>학습에서의 치명적인 망각 문제를 완화함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ACDE723-CA64-E7C5-23ED-99DE6EFC1589}"/>
              </a:ext>
            </a:extLst>
          </p:cNvPr>
          <p:cNvSpPr txBox="1"/>
          <p:nvPr/>
        </p:nvSpPr>
        <p:spPr>
          <a:xfrm>
            <a:off x="7289993" y="4319998"/>
            <a:ext cx="900000" cy="864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just"/>
            <a:r>
              <a:rPr lang="ko-KR" altLang="en-US" sz="900" dirty="0"/>
              <a:t>이전 레이어와 특징 </a:t>
            </a:r>
            <a:r>
              <a:rPr lang="ko-KR" altLang="en-US" sz="900" dirty="0" err="1"/>
              <a:t>맵을</a:t>
            </a:r>
            <a:r>
              <a:rPr lang="ko-KR" altLang="en-US" sz="900" dirty="0"/>
              <a:t> 다음 레이어로 전달하는 방식과 </a:t>
            </a:r>
            <a:r>
              <a:rPr lang="en-US" altLang="ko-KR" sz="900" dirty="0"/>
              <a:t>bottleneck </a:t>
            </a:r>
            <a:r>
              <a:rPr lang="ko-KR" altLang="en-US" sz="900" dirty="0"/>
              <a:t>구조를 제안함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C95184E-F9C4-E73F-CE7D-3CA54DC7E806}"/>
              </a:ext>
            </a:extLst>
          </p:cNvPr>
          <p:cNvSpPr txBox="1"/>
          <p:nvPr/>
        </p:nvSpPr>
        <p:spPr>
          <a:xfrm>
            <a:off x="8369991" y="4319998"/>
            <a:ext cx="900000" cy="864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just"/>
            <a:r>
              <a:rPr lang="en-US" altLang="ko-KR" sz="900" dirty="0" err="1"/>
              <a:t>ResNet</a:t>
            </a:r>
            <a:r>
              <a:rPr lang="en-US" altLang="ko-KR" sz="900" dirty="0"/>
              <a:t> </a:t>
            </a:r>
            <a:r>
              <a:rPr lang="ko-KR" altLang="en-US" sz="900" dirty="0"/>
              <a:t>모델 구조에 </a:t>
            </a:r>
            <a:r>
              <a:rPr lang="en-US" altLang="ko-KR" sz="900" dirty="0"/>
              <a:t>group </a:t>
            </a:r>
            <a:r>
              <a:rPr lang="ko-KR" altLang="en-US" sz="900" dirty="0" err="1"/>
              <a:t>합성곱과</a:t>
            </a:r>
            <a:r>
              <a:rPr lang="ko-KR" altLang="en-US" sz="900" dirty="0"/>
              <a:t> 병렬 형태로 만들기 위한 기수 개념을 도입함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6736D17-521F-A3F2-3D64-8DF6907C1FF4}"/>
              </a:ext>
            </a:extLst>
          </p:cNvPr>
          <p:cNvSpPr txBox="1"/>
          <p:nvPr/>
        </p:nvSpPr>
        <p:spPr>
          <a:xfrm>
            <a:off x="9450000" y="4319998"/>
            <a:ext cx="900000" cy="864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just"/>
            <a:r>
              <a:rPr lang="ko-KR" altLang="en-US" sz="900" dirty="0"/>
              <a:t>효율적인 모델 추론을 위해 깊이</a:t>
            </a:r>
            <a:r>
              <a:rPr lang="en-US" altLang="ko-KR" sz="900" dirty="0"/>
              <a:t>, </a:t>
            </a:r>
            <a:r>
              <a:rPr lang="ko-KR" altLang="en-US" sz="900" dirty="0"/>
              <a:t>너비</a:t>
            </a:r>
            <a:r>
              <a:rPr lang="en-US" altLang="ko-KR" sz="900" dirty="0"/>
              <a:t>, </a:t>
            </a:r>
            <a:r>
              <a:rPr lang="ko-KR" altLang="en-US" sz="900" dirty="0"/>
              <a:t>해상도를 균형 있게 확장하는 복합 스케일링을 제안함</a:t>
            </a:r>
          </a:p>
        </p:txBody>
      </p:sp>
      <p:sp>
        <p:nvSpPr>
          <p:cNvPr id="87" name="사각형: 둥근 모서리 86">
            <a:extLst>
              <a:ext uri="{FF2B5EF4-FFF2-40B4-BE49-F238E27FC236}">
                <a16:creationId xmlns:a16="http://schemas.microsoft.com/office/drawing/2014/main" id="{C9170EAE-77E8-4657-FB47-72AA56BD0BE2}"/>
              </a:ext>
            </a:extLst>
          </p:cNvPr>
          <p:cNvSpPr/>
          <p:nvPr/>
        </p:nvSpPr>
        <p:spPr>
          <a:xfrm>
            <a:off x="3780000" y="2160000"/>
            <a:ext cx="720000" cy="359999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ImageNet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91B429E-127E-EA54-6F81-EC625985162E}"/>
              </a:ext>
            </a:extLst>
          </p:cNvPr>
          <p:cNvSpPr txBox="1"/>
          <p:nvPr/>
        </p:nvSpPr>
        <p:spPr>
          <a:xfrm>
            <a:off x="3780000" y="2043000"/>
            <a:ext cx="360000" cy="108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900" b="1" dirty="0"/>
              <a:t>2010</a:t>
            </a:r>
            <a:endParaRPr lang="ko-KR" altLang="en-US" sz="1050" b="1" dirty="0"/>
          </a:p>
        </p:txBody>
      </p:sp>
      <p:sp>
        <p:nvSpPr>
          <p:cNvPr id="97" name="사각형: 둥근 모서리 96">
            <a:extLst>
              <a:ext uri="{FF2B5EF4-FFF2-40B4-BE49-F238E27FC236}">
                <a16:creationId xmlns:a16="http://schemas.microsoft.com/office/drawing/2014/main" id="{75B93381-1262-02EA-882D-006B49EB3A4F}"/>
              </a:ext>
            </a:extLst>
          </p:cNvPr>
          <p:cNvSpPr/>
          <p:nvPr/>
        </p:nvSpPr>
        <p:spPr>
          <a:xfrm>
            <a:off x="8730000" y="2520000"/>
            <a:ext cx="900000" cy="35999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Transformer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8D1CCBB8-50EF-6117-0326-BD85F7315B6D}"/>
              </a:ext>
            </a:extLst>
          </p:cNvPr>
          <p:cNvSpPr txBox="1"/>
          <p:nvPr/>
        </p:nvSpPr>
        <p:spPr>
          <a:xfrm>
            <a:off x="8729999" y="2412000"/>
            <a:ext cx="360000" cy="108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900" b="1" dirty="0"/>
              <a:t>2017</a:t>
            </a:r>
            <a:endParaRPr lang="ko-KR" altLang="en-US" sz="1050" b="1" dirty="0"/>
          </a:p>
        </p:txBody>
      </p:sp>
    </p:spTree>
    <p:extLst>
      <p:ext uri="{BB962C8B-B14F-4D97-AF65-F5344CB8AC3E}">
        <p14:creationId xmlns:p14="http://schemas.microsoft.com/office/powerpoint/2010/main" val="2472182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DD0C3-B919-AE35-773F-774213B23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>
            <a:extLst>
              <a:ext uri="{FF2B5EF4-FFF2-40B4-BE49-F238E27FC236}">
                <a16:creationId xmlns:a16="http://schemas.microsoft.com/office/drawing/2014/main" id="{866FE031-B540-8FCD-E9BD-63FFD74F7DA5}"/>
              </a:ext>
            </a:extLst>
          </p:cNvPr>
          <p:cNvSpPr/>
          <p:nvPr/>
        </p:nvSpPr>
        <p:spPr>
          <a:xfrm>
            <a:off x="540000" y="2340000"/>
            <a:ext cx="10980000" cy="1080000"/>
          </a:xfrm>
          <a:prstGeom prst="rect">
            <a:avLst/>
          </a:prstGeom>
          <a:solidFill>
            <a:srgbClr val="FAD2D2">
              <a:alpha val="2470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ECA9D05-DE3C-852F-0F51-C54DE20DEFDC}"/>
              </a:ext>
            </a:extLst>
          </p:cNvPr>
          <p:cNvCxnSpPr>
            <a:cxnSpLocks/>
          </p:cNvCxnSpPr>
          <p:nvPr/>
        </p:nvCxnSpPr>
        <p:spPr>
          <a:xfrm>
            <a:off x="0" y="0"/>
            <a:ext cx="8709" cy="64800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60E977E-8CE2-A40A-96F0-5F362B71B5DA}"/>
              </a:ext>
            </a:extLst>
          </p:cNvPr>
          <p:cNvCxnSpPr>
            <a:cxnSpLocks/>
          </p:cNvCxnSpPr>
          <p:nvPr/>
        </p:nvCxnSpPr>
        <p:spPr>
          <a:xfrm>
            <a:off x="0" y="18000"/>
            <a:ext cx="1188000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D22B970-B8E6-1815-0B48-18CA0B3D64C2}"/>
                  </a:ext>
                </a:extLst>
              </p:cNvPr>
              <p:cNvSpPr txBox="1"/>
              <p:nvPr/>
            </p:nvSpPr>
            <p:spPr>
              <a:xfrm>
                <a:off x="11790000" y="18000"/>
                <a:ext cx="180000" cy="180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ko-KR" altLang="en-US" sz="10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D22B970-B8E6-1815-0B48-18CA0B3D64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0000" y="18000"/>
                <a:ext cx="180000" cy="180000"/>
              </a:xfrm>
              <a:prstGeom prst="rect">
                <a:avLst/>
              </a:prstGeom>
              <a:blipFill>
                <a:blip r:embed="rId3"/>
                <a:stretch>
                  <a:fillRect t="-17241" r="-23333" b="-379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D38FF51-16BD-D084-F504-245B2DE0FC83}"/>
                  </a:ext>
                </a:extLst>
              </p:cNvPr>
              <p:cNvSpPr txBox="1"/>
              <p:nvPr/>
            </p:nvSpPr>
            <p:spPr>
              <a:xfrm>
                <a:off x="0" y="6390001"/>
                <a:ext cx="180000" cy="180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000" b="1" i="1" smtClean="0"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ko-KR" altLang="en-US" sz="10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D38FF51-16BD-D084-F504-245B2DE0FC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390001"/>
                <a:ext cx="180000" cy="180000"/>
              </a:xfrm>
              <a:prstGeom prst="rect">
                <a:avLst/>
              </a:prstGeom>
              <a:blipFill>
                <a:blip r:embed="rId4"/>
                <a:stretch>
                  <a:fillRect l="-23333" t="-30000" r="-30000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951384CA-428E-80D7-E4DE-7B8606608C51}"/>
              </a:ext>
            </a:extLst>
          </p:cNvPr>
          <p:cNvSpPr txBox="1"/>
          <p:nvPr/>
        </p:nvSpPr>
        <p:spPr>
          <a:xfrm>
            <a:off x="360000" y="360000"/>
            <a:ext cx="2160000" cy="450000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2400" b="1" dirty="0"/>
              <a:t>비전 과제 종류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4B26284-020E-D6D4-9E09-9839512482A2}"/>
              </a:ext>
            </a:extLst>
          </p:cNvPr>
          <p:cNvSpPr/>
          <p:nvPr/>
        </p:nvSpPr>
        <p:spPr>
          <a:xfrm>
            <a:off x="360000" y="180000"/>
            <a:ext cx="450000" cy="1800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/>
              <a:t>목차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449792-8E28-14C6-0351-6968BCC739DB}"/>
              </a:ext>
            </a:extLst>
          </p:cNvPr>
          <p:cNvSpPr txBox="1"/>
          <p:nvPr/>
        </p:nvSpPr>
        <p:spPr>
          <a:xfrm>
            <a:off x="450000" y="1133998"/>
            <a:ext cx="11160000" cy="50400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lIns="54000" tIns="54000" rIns="54000" bIns="54000" rtlCol="0" anchor="t">
            <a:noAutofit/>
          </a:bodyPr>
          <a:lstStyle/>
          <a:p>
            <a:pPr algn="just"/>
            <a:r>
              <a:rPr lang="ko-KR" altLang="en-US" sz="1600" dirty="0"/>
              <a:t>비전 과제는 크게 </a:t>
            </a:r>
            <a:r>
              <a:rPr lang="en-US" altLang="ko-KR" sz="1600" dirty="0"/>
              <a:t>5</a:t>
            </a:r>
            <a:r>
              <a:rPr lang="ko-KR" altLang="en-US" sz="1600" dirty="0"/>
              <a:t>가지로</a:t>
            </a:r>
            <a:r>
              <a:rPr lang="en-US" altLang="ko-KR" sz="1600" dirty="0"/>
              <a:t>, </a:t>
            </a:r>
            <a:r>
              <a:rPr lang="ko-KR" altLang="en-US" sz="1600" dirty="0"/>
              <a:t>분류</a:t>
            </a:r>
            <a:r>
              <a:rPr lang="en-US" altLang="ko-KR" sz="1600" dirty="0"/>
              <a:t>(Classification), </a:t>
            </a:r>
            <a:r>
              <a:rPr lang="ko-KR" altLang="en-US" sz="1600" dirty="0"/>
              <a:t>탐지</a:t>
            </a:r>
            <a:r>
              <a:rPr lang="en-US" altLang="ko-KR" sz="1600" dirty="0"/>
              <a:t>(Detection), </a:t>
            </a:r>
            <a:r>
              <a:rPr lang="ko-KR" altLang="en-US" sz="1600" dirty="0"/>
              <a:t>분할</a:t>
            </a:r>
            <a:r>
              <a:rPr lang="en-US" altLang="ko-KR" sz="1600" dirty="0"/>
              <a:t>(Segmentation), </a:t>
            </a:r>
            <a:r>
              <a:rPr lang="ko-KR" altLang="en-US" sz="1600" dirty="0"/>
              <a:t>추적</a:t>
            </a:r>
            <a:r>
              <a:rPr lang="en-US" altLang="ko-KR" sz="1600" dirty="0"/>
              <a:t>(Tracking), </a:t>
            </a:r>
            <a:r>
              <a:rPr lang="ko-KR" altLang="en-US" sz="1600" dirty="0"/>
              <a:t>상황 이해</a:t>
            </a:r>
            <a:r>
              <a:rPr lang="en-US" altLang="ko-KR" sz="1600" dirty="0"/>
              <a:t>(Situational-awareness) </a:t>
            </a:r>
            <a:r>
              <a:rPr lang="ko-KR" altLang="en-US" sz="1600" dirty="0"/>
              <a:t>과제로 나타낼 수 있음</a:t>
            </a:r>
            <a:endParaRPr lang="en-US" altLang="ko-KR" sz="16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6FD31DF-4490-C054-0EAC-0C12420CEAA6}"/>
              </a:ext>
            </a:extLst>
          </p:cNvPr>
          <p:cNvSpPr/>
          <p:nvPr/>
        </p:nvSpPr>
        <p:spPr>
          <a:xfrm>
            <a:off x="450000" y="953502"/>
            <a:ext cx="450000" cy="180000"/>
          </a:xfrm>
          <a:prstGeom prst="rect">
            <a:avLst/>
          </a:prstGeom>
          <a:solidFill>
            <a:srgbClr val="92D050"/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/>
              <a:t>내용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4E90E8-942D-FA57-F123-32C502DBC98F}"/>
              </a:ext>
            </a:extLst>
          </p:cNvPr>
          <p:cNvSpPr txBox="1"/>
          <p:nvPr/>
        </p:nvSpPr>
        <p:spPr>
          <a:xfrm>
            <a:off x="540000" y="1800000"/>
            <a:ext cx="8640000" cy="414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ko-KR" altLang="en-US" sz="1600" b="1" dirty="0"/>
              <a:t>분류 기술</a:t>
            </a:r>
            <a:r>
              <a:rPr lang="ko-KR" altLang="en-US" sz="1600" dirty="0"/>
              <a:t>은 이미지 또는 영상 전체가 하나의 대표적인 </a:t>
            </a:r>
            <a:r>
              <a:rPr lang="ko-KR" altLang="en-US" sz="1600" dirty="0">
                <a:solidFill>
                  <a:srgbClr val="0070C0"/>
                </a:solidFill>
              </a:rPr>
              <a:t>클래스를 예측하여 판단</a:t>
            </a:r>
            <a:r>
              <a:rPr lang="ko-KR" altLang="en-US" sz="1600" dirty="0"/>
              <a:t>하는 방법을 의미함</a:t>
            </a:r>
            <a:endParaRPr lang="en-US" altLang="ko-KR" sz="1600" dirty="0"/>
          </a:p>
          <a:p>
            <a:pPr algn="just">
              <a:lnSpc>
                <a:spcPct val="120000"/>
              </a:lnSpc>
            </a:pPr>
            <a:endParaRPr lang="en-US" altLang="ko-KR" sz="1600" dirty="0"/>
          </a:p>
          <a:p>
            <a:pPr algn="just">
              <a:lnSpc>
                <a:spcPct val="120000"/>
              </a:lnSpc>
            </a:pPr>
            <a:r>
              <a:rPr lang="ko-KR" altLang="en-US" sz="1600" b="1" dirty="0"/>
              <a:t>객체 탐지 기술</a:t>
            </a:r>
            <a:r>
              <a:rPr lang="ko-KR" altLang="en-US" sz="1600" dirty="0"/>
              <a:t>은 이미지 또는 영상 내에 있는 객체를 식별하는 방법을 말하며</a:t>
            </a:r>
            <a:r>
              <a:rPr lang="en-US" altLang="ko-KR" sz="1600" dirty="0"/>
              <a:t>, </a:t>
            </a:r>
            <a:r>
              <a:rPr lang="ko-KR" altLang="en-US" sz="1600" dirty="0"/>
              <a:t>하나 또는 여러 객체에 대해 각각 알려져 있는 </a:t>
            </a:r>
            <a:r>
              <a:rPr lang="ko-KR" altLang="en-US" sz="1600" dirty="0">
                <a:solidFill>
                  <a:srgbClr val="FF0000"/>
                </a:solidFill>
              </a:rPr>
              <a:t>클래스로 분류</a:t>
            </a:r>
            <a:r>
              <a:rPr lang="ko-KR" altLang="en-US" sz="1600" dirty="0"/>
              <a:t>하는 문제와 해당 객체가 어느 위치에 있는지 박스 형태로 나타내는 </a:t>
            </a:r>
            <a:r>
              <a:rPr lang="ko-KR" altLang="en-US" sz="1600" dirty="0">
                <a:solidFill>
                  <a:srgbClr val="FF0000"/>
                </a:solidFill>
              </a:rPr>
              <a:t>위치 검출</a:t>
            </a:r>
            <a:r>
              <a:rPr lang="ko-KR" altLang="en-US" sz="1600" dirty="0"/>
              <a:t>로 구분할 수 있음</a:t>
            </a:r>
            <a:endParaRPr lang="en-US" altLang="ko-KR" sz="1600" dirty="0"/>
          </a:p>
          <a:p>
            <a:pPr algn="just">
              <a:lnSpc>
                <a:spcPct val="120000"/>
              </a:lnSpc>
            </a:pPr>
            <a:endParaRPr lang="en-US" altLang="ko-KR" sz="1600" dirty="0"/>
          </a:p>
          <a:p>
            <a:pPr algn="just">
              <a:lnSpc>
                <a:spcPct val="120000"/>
              </a:lnSpc>
            </a:pPr>
            <a:r>
              <a:rPr lang="ko-KR" altLang="en-US" sz="1600" b="1" dirty="0"/>
              <a:t>분할 기술</a:t>
            </a:r>
            <a:r>
              <a:rPr lang="ko-KR" altLang="en-US" sz="1600" dirty="0"/>
              <a:t>은 이미지 내의 각 영역이 어떤 객체나 배경에 해당하는지 구분하는 방법을 의미하며</a:t>
            </a:r>
            <a:r>
              <a:rPr lang="en-US" altLang="ko-KR" sz="1600" dirty="0"/>
              <a:t>, </a:t>
            </a:r>
            <a:r>
              <a:rPr lang="ko-KR" altLang="en-US" sz="1600" dirty="0"/>
              <a:t>이미지 전체를 픽셀 단위로 나누어 각 픽셀에 클래스 라벨을 부여하는 </a:t>
            </a:r>
            <a:r>
              <a:rPr lang="ko-KR" altLang="en-US" sz="1600" dirty="0">
                <a:solidFill>
                  <a:srgbClr val="0070C0"/>
                </a:solidFill>
              </a:rPr>
              <a:t>픽셀 단위 인식</a:t>
            </a:r>
            <a:r>
              <a:rPr lang="ko-KR" altLang="en-US" sz="1600" dirty="0"/>
              <a:t> 문제로 볼 수 있음</a:t>
            </a:r>
            <a:endParaRPr lang="en-US" altLang="ko-KR" sz="1600" dirty="0"/>
          </a:p>
          <a:p>
            <a:pPr algn="just">
              <a:lnSpc>
                <a:spcPct val="120000"/>
              </a:lnSpc>
            </a:pPr>
            <a:endParaRPr lang="en-US" altLang="ko-KR" sz="1600" dirty="0"/>
          </a:p>
          <a:p>
            <a:pPr algn="just">
              <a:lnSpc>
                <a:spcPct val="120000"/>
              </a:lnSpc>
            </a:pPr>
            <a:r>
              <a:rPr lang="ko-KR" altLang="en-US" sz="1600" b="1" dirty="0"/>
              <a:t>추적 기술</a:t>
            </a:r>
            <a:r>
              <a:rPr lang="ko-KR" altLang="en-US" sz="1600" dirty="0"/>
              <a:t>은 영상에서 시간 축에 따라 움직이는 객체의 </a:t>
            </a:r>
            <a:r>
              <a:rPr lang="ko-KR" altLang="en-US" sz="1600" dirty="0">
                <a:solidFill>
                  <a:srgbClr val="0070C0"/>
                </a:solidFill>
              </a:rPr>
              <a:t>위치와 상태를 지속적으로 판별</a:t>
            </a:r>
            <a:r>
              <a:rPr lang="ko-KR" altLang="en-US" sz="1600" dirty="0"/>
              <a:t>하기 위한 객체 </a:t>
            </a:r>
            <a:r>
              <a:rPr lang="en-US" altLang="ko-KR" sz="1600" dirty="0"/>
              <a:t>ID</a:t>
            </a:r>
            <a:r>
              <a:rPr lang="ko-KR" altLang="en-US" sz="1600" dirty="0"/>
              <a:t>를</a:t>
            </a:r>
            <a:r>
              <a:rPr lang="en-US" altLang="ko-KR" sz="1600" dirty="0"/>
              <a:t> </a:t>
            </a:r>
            <a:r>
              <a:rPr lang="ko-KR" altLang="en-US" sz="1600" dirty="0"/>
              <a:t>유지하고 이동 경로를 추정함</a:t>
            </a:r>
            <a:endParaRPr lang="en-US" altLang="ko-KR" sz="1600" dirty="0"/>
          </a:p>
          <a:p>
            <a:pPr algn="just">
              <a:lnSpc>
                <a:spcPct val="120000"/>
              </a:lnSpc>
            </a:pPr>
            <a:endParaRPr lang="en-US" altLang="ko-KR" sz="1600" dirty="0"/>
          </a:p>
          <a:p>
            <a:pPr algn="just">
              <a:lnSpc>
                <a:spcPct val="120000"/>
              </a:lnSpc>
            </a:pPr>
            <a:r>
              <a:rPr lang="ko-KR" altLang="en-US" sz="1600" b="1" dirty="0"/>
              <a:t>상황 이해 기술</a:t>
            </a:r>
            <a:r>
              <a:rPr lang="ko-KR" altLang="en-US" sz="1600" dirty="0"/>
              <a:t>은 객체</a:t>
            </a:r>
            <a:r>
              <a:rPr lang="en-US" altLang="ko-KR" sz="1600" dirty="0"/>
              <a:t>, </a:t>
            </a:r>
            <a:r>
              <a:rPr lang="ko-KR" altLang="en-US" sz="1600" dirty="0"/>
              <a:t>사람의 행동 및 장면의 맥락을 종합적으로 해석하여 </a:t>
            </a:r>
            <a:r>
              <a:rPr lang="ko-KR" altLang="en-US" sz="1600" dirty="0">
                <a:solidFill>
                  <a:srgbClr val="308ACA"/>
                </a:solidFill>
              </a:rPr>
              <a:t>객체 간의 관계</a:t>
            </a:r>
            <a:r>
              <a:rPr lang="en-US" altLang="ko-KR" sz="1600" dirty="0">
                <a:solidFill>
                  <a:srgbClr val="308ACA"/>
                </a:solidFill>
              </a:rPr>
              <a:t>, </a:t>
            </a:r>
            <a:r>
              <a:rPr lang="ko-KR" altLang="en-US" sz="1600" dirty="0">
                <a:solidFill>
                  <a:srgbClr val="308ACA"/>
                </a:solidFill>
              </a:rPr>
              <a:t>행동 정의</a:t>
            </a:r>
            <a:r>
              <a:rPr lang="en-US" altLang="ko-KR" sz="1600" dirty="0">
                <a:solidFill>
                  <a:srgbClr val="308ACA"/>
                </a:solidFill>
              </a:rPr>
              <a:t>, </a:t>
            </a:r>
            <a:r>
              <a:rPr lang="ko-KR" altLang="en-US" sz="1600" dirty="0">
                <a:solidFill>
                  <a:srgbClr val="308ACA"/>
                </a:solidFill>
              </a:rPr>
              <a:t>맥락을 파악</a:t>
            </a:r>
            <a:r>
              <a:rPr lang="ko-KR" altLang="en-US" sz="1600" dirty="0"/>
              <a:t>함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0A5C1F-8FCB-9468-9E5D-744106175797}"/>
              </a:ext>
            </a:extLst>
          </p:cNvPr>
          <p:cNvSpPr txBox="1"/>
          <p:nvPr/>
        </p:nvSpPr>
        <p:spPr>
          <a:xfrm>
            <a:off x="9720000" y="1854000"/>
            <a:ext cx="1800000" cy="27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just"/>
            <a:r>
              <a:rPr lang="ko-KR" altLang="en-US" sz="1400" dirty="0"/>
              <a:t>무엇인지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DF9244-6288-CE8B-1B0C-AE97F1018AA0}"/>
              </a:ext>
            </a:extLst>
          </p:cNvPr>
          <p:cNvSpPr txBox="1"/>
          <p:nvPr/>
        </p:nvSpPr>
        <p:spPr>
          <a:xfrm>
            <a:off x="9720000" y="2700000"/>
            <a:ext cx="1800000" cy="27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just"/>
            <a:r>
              <a:rPr lang="ko-KR" altLang="en-US" sz="1400" dirty="0"/>
              <a:t>어느 위치에 있는지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CC84E4-F9D4-22D9-56B7-5F49447A7AD9}"/>
              </a:ext>
            </a:extLst>
          </p:cNvPr>
          <p:cNvSpPr txBox="1"/>
          <p:nvPr/>
        </p:nvSpPr>
        <p:spPr>
          <a:xfrm>
            <a:off x="9720000" y="3780000"/>
            <a:ext cx="1800000" cy="27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just"/>
            <a:r>
              <a:rPr lang="ko-KR" altLang="en-US" sz="1400" dirty="0"/>
              <a:t>픽셀이 무엇에 속하는지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7DD7CE-4BCC-C1E5-7BB9-FDCE9EDF1248}"/>
              </a:ext>
            </a:extLst>
          </p:cNvPr>
          <p:cNvSpPr txBox="1"/>
          <p:nvPr/>
        </p:nvSpPr>
        <p:spPr>
          <a:xfrm>
            <a:off x="9720000" y="4590000"/>
            <a:ext cx="1800000" cy="27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just"/>
            <a:r>
              <a:rPr lang="ko-KR" altLang="en-US" sz="1400" dirty="0"/>
              <a:t>상태가 어떻게 변하는지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02F2F5-5DA1-E872-2B50-CD7B794D43BB}"/>
              </a:ext>
            </a:extLst>
          </p:cNvPr>
          <p:cNvSpPr txBox="1"/>
          <p:nvPr/>
        </p:nvSpPr>
        <p:spPr>
          <a:xfrm>
            <a:off x="9720000" y="5490000"/>
            <a:ext cx="1800000" cy="27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just"/>
            <a:r>
              <a:rPr lang="ko-KR" altLang="en-US" sz="1400" dirty="0"/>
              <a:t>장면의 맥락을 판단</a:t>
            </a: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7BB6F0E9-D324-5411-30F7-F96928921081}"/>
              </a:ext>
            </a:extLst>
          </p:cNvPr>
          <p:cNvCxnSpPr>
            <a:cxnSpLocks/>
            <a:stCxn id="13" idx="1"/>
          </p:cNvCxnSpPr>
          <p:nvPr/>
        </p:nvCxnSpPr>
        <p:spPr>
          <a:xfrm flipH="1">
            <a:off x="9180000" y="1989000"/>
            <a:ext cx="450000" cy="0"/>
          </a:xfrm>
          <a:prstGeom prst="line">
            <a:avLst/>
          </a:prstGeom>
          <a:ln w="254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E29DE607-F857-51BD-30AE-92C48FEC6B57}"/>
              </a:ext>
            </a:extLst>
          </p:cNvPr>
          <p:cNvCxnSpPr>
            <a:cxnSpLocks/>
          </p:cNvCxnSpPr>
          <p:nvPr/>
        </p:nvCxnSpPr>
        <p:spPr>
          <a:xfrm flipH="1">
            <a:off x="9180000" y="2835000"/>
            <a:ext cx="450000" cy="0"/>
          </a:xfrm>
          <a:prstGeom prst="line">
            <a:avLst/>
          </a:prstGeom>
          <a:ln w="254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986BD943-3F51-827F-2E60-B5DAB3451332}"/>
              </a:ext>
            </a:extLst>
          </p:cNvPr>
          <p:cNvCxnSpPr>
            <a:cxnSpLocks/>
          </p:cNvCxnSpPr>
          <p:nvPr/>
        </p:nvCxnSpPr>
        <p:spPr>
          <a:xfrm flipH="1">
            <a:off x="9180000" y="3915000"/>
            <a:ext cx="450000" cy="0"/>
          </a:xfrm>
          <a:prstGeom prst="line">
            <a:avLst/>
          </a:prstGeom>
          <a:ln w="254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8D365ACF-96B7-7FDC-3D68-4E1ED491D271}"/>
              </a:ext>
            </a:extLst>
          </p:cNvPr>
          <p:cNvCxnSpPr>
            <a:cxnSpLocks/>
          </p:cNvCxnSpPr>
          <p:nvPr/>
        </p:nvCxnSpPr>
        <p:spPr>
          <a:xfrm flipH="1">
            <a:off x="9180000" y="4727100"/>
            <a:ext cx="450000" cy="0"/>
          </a:xfrm>
          <a:prstGeom prst="line">
            <a:avLst/>
          </a:prstGeom>
          <a:ln w="254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33C0C190-0E1A-E250-4644-805CDB61057D}"/>
              </a:ext>
            </a:extLst>
          </p:cNvPr>
          <p:cNvCxnSpPr>
            <a:cxnSpLocks/>
          </p:cNvCxnSpPr>
          <p:nvPr/>
        </p:nvCxnSpPr>
        <p:spPr>
          <a:xfrm flipH="1">
            <a:off x="9180000" y="5625000"/>
            <a:ext cx="450000" cy="0"/>
          </a:xfrm>
          <a:prstGeom prst="line">
            <a:avLst/>
          </a:prstGeom>
          <a:ln w="254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0879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B61F9-74BC-3861-7658-A3BA580B0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직사각형 31">
            <a:extLst>
              <a:ext uri="{FF2B5EF4-FFF2-40B4-BE49-F238E27FC236}">
                <a16:creationId xmlns:a16="http://schemas.microsoft.com/office/drawing/2014/main" id="{7A6EE613-6FB2-C60F-01B1-3D13187CBDAC}"/>
              </a:ext>
            </a:extLst>
          </p:cNvPr>
          <p:cNvSpPr/>
          <p:nvPr/>
        </p:nvSpPr>
        <p:spPr>
          <a:xfrm>
            <a:off x="1260000" y="3780000"/>
            <a:ext cx="7380000" cy="1080000"/>
          </a:xfrm>
          <a:prstGeom prst="rect">
            <a:avLst/>
          </a:prstGeom>
          <a:solidFill>
            <a:schemeClr val="accent4">
              <a:lumMod val="40000"/>
              <a:lumOff val="6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4F4446D-5779-CD12-6532-6CBE129B7100}"/>
              </a:ext>
            </a:extLst>
          </p:cNvPr>
          <p:cNvSpPr/>
          <p:nvPr/>
        </p:nvSpPr>
        <p:spPr>
          <a:xfrm>
            <a:off x="1260000" y="4860000"/>
            <a:ext cx="7380000" cy="1080000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2AEAC53F-037B-CE1A-1801-A45559C53A42}"/>
              </a:ext>
            </a:extLst>
          </p:cNvPr>
          <p:cNvCxnSpPr>
            <a:cxnSpLocks/>
          </p:cNvCxnSpPr>
          <p:nvPr/>
        </p:nvCxnSpPr>
        <p:spPr>
          <a:xfrm>
            <a:off x="0" y="0"/>
            <a:ext cx="8709" cy="64800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9897202-B57F-DAA9-2888-77319113DA64}"/>
              </a:ext>
            </a:extLst>
          </p:cNvPr>
          <p:cNvCxnSpPr>
            <a:cxnSpLocks/>
          </p:cNvCxnSpPr>
          <p:nvPr/>
        </p:nvCxnSpPr>
        <p:spPr>
          <a:xfrm>
            <a:off x="0" y="18000"/>
            <a:ext cx="1188000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97F528E-085B-21A9-5E5F-0476942999D5}"/>
                  </a:ext>
                </a:extLst>
              </p:cNvPr>
              <p:cNvSpPr txBox="1"/>
              <p:nvPr/>
            </p:nvSpPr>
            <p:spPr>
              <a:xfrm>
                <a:off x="11790000" y="18000"/>
                <a:ext cx="180000" cy="180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ko-KR" altLang="en-US" sz="10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97F528E-085B-21A9-5E5F-0476942999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0000" y="18000"/>
                <a:ext cx="180000" cy="180000"/>
              </a:xfrm>
              <a:prstGeom prst="rect">
                <a:avLst/>
              </a:prstGeom>
              <a:blipFill>
                <a:blip r:embed="rId2"/>
                <a:stretch>
                  <a:fillRect t="-17241" r="-23333" b="-379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9225AF3-BD84-3436-3769-F198715A3FEF}"/>
                  </a:ext>
                </a:extLst>
              </p:cNvPr>
              <p:cNvSpPr txBox="1"/>
              <p:nvPr/>
            </p:nvSpPr>
            <p:spPr>
              <a:xfrm>
                <a:off x="0" y="6390001"/>
                <a:ext cx="180000" cy="180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000" b="1" i="1" smtClean="0"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ko-KR" altLang="en-US" sz="10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9225AF3-BD84-3436-3769-F198715A3F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390001"/>
                <a:ext cx="180000" cy="180000"/>
              </a:xfrm>
              <a:prstGeom prst="rect">
                <a:avLst/>
              </a:prstGeom>
              <a:blipFill>
                <a:blip r:embed="rId3"/>
                <a:stretch>
                  <a:fillRect l="-23333" t="-30000" r="-30000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2EC9E4CD-77E5-967E-A27D-260EF4AB041E}"/>
              </a:ext>
            </a:extLst>
          </p:cNvPr>
          <p:cNvSpPr txBox="1"/>
          <p:nvPr/>
        </p:nvSpPr>
        <p:spPr>
          <a:xfrm>
            <a:off x="360000" y="360000"/>
            <a:ext cx="2160000" cy="450000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2400" b="1" dirty="0"/>
              <a:t>객체 인식 과제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9E138A5-64FE-D66A-C863-8E42BDC16856}"/>
              </a:ext>
            </a:extLst>
          </p:cNvPr>
          <p:cNvSpPr/>
          <p:nvPr/>
        </p:nvSpPr>
        <p:spPr>
          <a:xfrm>
            <a:off x="360000" y="180000"/>
            <a:ext cx="450000" cy="1800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/>
              <a:t>목차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1FA036-7919-F6C3-1E39-74D6757AD910}"/>
              </a:ext>
            </a:extLst>
          </p:cNvPr>
          <p:cNvSpPr txBox="1"/>
          <p:nvPr/>
        </p:nvSpPr>
        <p:spPr>
          <a:xfrm>
            <a:off x="450000" y="1133502"/>
            <a:ext cx="11160000" cy="50400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lIns="54000" tIns="54000" rIns="54000" bIns="54000" rtlCol="0" anchor="t">
            <a:noAutofit/>
          </a:bodyPr>
          <a:lstStyle/>
          <a:p>
            <a:pPr algn="just"/>
            <a:r>
              <a:rPr lang="ko-KR" altLang="en-US" sz="1600" dirty="0"/>
              <a:t>객체 인식 알고리즘은 </a:t>
            </a:r>
            <a:r>
              <a:rPr lang="en-US" altLang="ko-KR" sz="1600" dirty="0"/>
              <a:t>1</a:t>
            </a:r>
            <a:r>
              <a:rPr lang="ko-KR" altLang="en-US" sz="1600" dirty="0"/>
              <a:t>단계 객체 인식과 </a:t>
            </a:r>
            <a:r>
              <a:rPr lang="en-US" altLang="ko-KR" sz="1600" dirty="0"/>
              <a:t>2</a:t>
            </a:r>
            <a:r>
              <a:rPr lang="ko-KR" altLang="en-US" sz="1600" dirty="0"/>
              <a:t>단계 객체 인식으로 구분할 수 있음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10027DC-5664-E506-2061-BFAAC9A148C1}"/>
              </a:ext>
            </a:extLst>
          </p:cNvPr>
          <p:cNvSpPr/>
          <p:nvPr/>
        </p:nvSpPr>
        <p:spPr>
          <a:xfrm>
            <a:off x="450000" y="953502"/>
            <a:ext cx="450000" cy="180000"/>
          </a:xfrm>
          <a:prstGeom prst="rect">
            <a:avLst/>
          </a:prstGeom>
          <a:solidFill>
            <a:srgbClr val="92D050"/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/>
              <a:t>내용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71EB826-EEE7-370D-67DB-C6E4479FB7A7}"/>
              </a:ext>
            </a:extLst>
          </p:cNvPr>
          <p:cNvSpPr/>
          <p:nvPr/>
        </p:nvSpPr>
        <p:spPr>
          <a:xfrm>
            <a:off x="900000" y="1800000"/>
            <a:ext cx="810000" cy="810000"/>
          </a:xfrm>
          <a:prstGeom prst="roundRect">
            <a:avLst>
              <a:gd name="adj" fmla="val 9611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1</a:t>
            </a:r>
            <a:r>
              <a:rPr lang="ko-KR" altLang="en-US" sz="1400" dirty="0">
                <a:solidFill>
                  <a:schemeClr val="tx1"/>
                </a:solidFill>
              </a:rPr>
              <a:t>단계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FF09D78C-23AB-D261-E96C-D6CE9B797F2D}"/>
              </a:ext>
            </a:extLst>
          </p:cNvPr>
          <p:cNvSpPr/>
          <p:nvPr/>
        </p:nvSpPr>
        <p:spPr>
          <a:xfrm>
            <a:off x="900000" y="2700000"/>
            <a:ext cx="810000" cy="810000"/>
          </a:xfrm>
          <a:prstGeom prst="roundRect">
            <a:avLst>
              <a:gd name="adj" fmla="val 9611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2</a:t>
            </a:r>
            <a:r>
              <a:rPr lang="ko-KR" altLang="en-US" sz="1400" dirty="0">
                <a:solidFill>
                  <a:schemeClr val="tx1"/>
                </a:solidFill>
              </a:rPr>
              <a:t>단계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8717B304-7C83-C03A-B0E1-CA397327A0CA}"/>
              </a:ext>
            </a:extLst>
          </p:cNvPr>
          <p:cNvSpPr/>
          <p:nvPr/>
        </p:nvSpPr>
        <p:spPr>
          <a:xfrm>
            <a:off x="1980000" y="1800000"/>
            <a:ext cx="5400000" cy="810000"/>
          </a:xfrm>
          <a:prstGeom prst="roundRect">
            <a:avLst>
              <a:gd name="adj" fmla="val 9611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400" dirty="0">
                <a:solidFill>
                  <a:schemeClr val="tx1"/>
                </a:solidFill>
              </a:rPr>
              <a:t>객체 분류와 위치 검출을 동시에 수행하는 방식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BC85C072-2CB8-AA17-D591-4C514088E683}"/>
              </a:ext>
            </a:extLst>
          </p:cNvPr>
          <p:cNvSpPr/>
          <p:nvPr/>
        </p:nvSpPr>
        <p:spPr>
          <a:xfrm>
            <a:off x="1980000" y="2700000"/>
            <a:ext cx="5400000" cy="810000"/>
          </a:xfrm>
          <a:prstGeom prst="roundRect">
            <a:avLst>
              <a:gd name="adj" fmla="val 9611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400" dirty="0">
                <a:solidFill>
                  <a:schemeClr val="tx1"/>
                </a:solidFill>
              </a:rPr>
              <a:t>후보 영역 생성 후 객체 분류와 위치 검출을 순차적으로 수행하는 방식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F479CC-1E95-6D9C-7E3B-A3DF88FAC98F}"/>
              </a:ext>
            </a:extLst>
          </p:cNvPr>
          <p:cNvSpPr txBox="1"/>
          <p:nvPr/>
        </p:nvSpPr>
        <p:spPr>
          <a:xfrm>
            <a:off x="7470000" y="2025000"/>
            <a:ext cx="720000" cy="3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just"/>
            <a:r>
              <a:rPr lang="ko-KR" altLang="en-US" sz="1400" b="1" dirty="0"/>
              <a:t>속도 ↑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00C612-A66D-3056-E0ED-226DDE1537E6}"/>
              </a:ext>
            </a:extLst>
          </p:cNvPr>
          <p:cNvSpPr txBox="1"/>
          <p:nvPr/>
        </p:nvSpPr>
        <p:spPr>
          <a:xfrm>
            <a:off x="7470000" y="2925000"/>
            <a:ext cx="720000" cy="3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just"/>
            <a:r>
              <a:rPr lang="ko-KR" altLang="en-US" sz="1400" b="1" dirty="0"/>
              <a:t>정확도 ↑</a:t>
            </a: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518563B0-D5A5-7119-D82B-D38F0BA6DC8E}"/>
              </a:ext>
            </a:extLst>
          </p:cNvPr>
          <p:cNvCxnSpPr/>
          <p:nvPr/>
        </p:nvCxnSpPr>
        <p:spPr>
          <a:xfrm>
            <a:off x="1260000" y="4860000"/>
            <a:ext cx="7380000" cy="0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타원 17">
            <a:extLst>
              <a:ext uri="{FF2B5EF4-FFF2-40B4-BE49-F238E27FC236}">
                <a16:creationId xmlns:a16="http://schemas.microsoft.com/office/drawing/2014/main" id="{594DA91A-C832-6D50-88D7-7EBF871A1802}"/>
              </a:ext>
            </a:extLst>
          </p:cNvPr>
          <p:cNvSpPr/>
          <p:nvPr/>
        </p:nvSpPr>
        <p:spPr>
          <a:xfrm>
            <a:off x="1710000" y="4770000"/>
            <a:ext cx="180000" cy="180000"/>
          </a:xfrm>
          <a:prstGeom prst="ellipse">
            <a:avLst/>
          </a:prstGeom>
          <a:solidFill>
            <a:srgbClr val="3BBBAF"/>
          </a:solidFill>
          <a:ln>
            <a:solidFill>
              <a:srgbClr val="1E60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9E4C4618-4387-B6D0-9A4C-3FB63605ADA7}"/>
              </a:ext>
            </a:extLst>
          </p:cNvPr>
          <p:cNvSpPr/>
          <p:nvPr/>
        </p:nvSpPr>
        <p:spPr>
          <a:xfrm>
            <a:off x="2790000" y="4770000"/>
            <a:ext cx="180000" cy="180000"/>
          </a:xfrm>
          <a:prstGeom prst="ellipse">
            <a:avLst/>
          </a:prstGeom>
          <a:solidFill>
            <a:srgbClr val="3BBBAF"/>
          </a:solidFill>
          <a:ln>
            <a:solidFill>
              <a:srgbClr val="1E60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D8FB0FED-BD1D-86AD-7200-B05D5B730A57}"/>
              </a:ext>
            </a:extLst>
          </p:cNvPr>
          <p:cNvSpPr/>
          <p:nvPr/>
        </p:nvSpPr>
        <p:spPr>
          <a:xfrm>
            <a:off x="4950000" y="4770000"/>
            <a:ext cx="180000" cy="180000"/>
          </a:xfrm>
          <a:prstGeom prst="ellipse">
            <a:avLst/>
          </a:prstGeom>
          <a:solidFill>
            <a:srgbClr val="3BBBAF"/>
          </a:solidFill>
          <a:ln>
            <a:solidFill>
              <a:srgbClr val="1E60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97FC038F-401D-5369-C43C-EA0265A50276}"/>
              </a:ext>
            </a:extLst>
          </p:cNvPr>
          <p:cNvSpPr/>
          <p:nvPr/>
        </p:nvSpPr>
        <p:spPr>
          <a:xfrm>
            <a:off x="3870000" y="4770000"/>
            <a:ext cx="180000" cy="180000"/>
          </a:xfrm>
          <a:prstGeom prst="ellipse">
            <a:avLst/>
          </a:prstGeom>
          <a:solidFill>
            <a:srgbClr val="3BBBAF"/>
          </a:solidFill>
          <a:ln>
            <a:solidFill>
              <a:srgbClr val="1E60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87CDE4A7-4FC1-5449-BA3D-6B276840C110}"/>
              </a:ext>
            </a:extLst>
          </p:cNvPr>
          <p:cNvSpPr/>
          <p:nvPr/>
        </p:nvSpPr>
        <p:spPr>
          <a:xfrm>
            <a:off x="6030000" y="4770000"/>
            <a:ext cx="180000" cy="180000"/>
          </a:xfrm>
          <a:prstGeom prst="ellipse">
            <a:avLst/>
          </a:prstGeom>
          <a:solidFill>
            <a:srgbClr val="3BBBAF"/>
          </a:solidFill>
          <a:ln>
            <a:solidFill>
              <a:srgbClr val="1E60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B57E6DEB-EABD-5216-7495-6A445AD35D52}"/>
              </a:ext>
            </a:extLst>
          </p:cNvPr>
          <p:cNvSpPr/>
          <p:nvPr/>
        </p:nvSpPr>
        <p:spPr>
          <a:xfrm>
            <a:off x="7110000" y="4770000"/>
            <a:ext cx="180000" cy="180000"/>
          </a:xfrm>
          <a:prstGeom prst="ellipse">
            <a:avLst/>
          </a:prstGeom>
          <a:solidFill>
            <a:srgbClr val="3BBBAF"/>
          </a:solidFill>
          <a:ln>
            <a:solidFill>
              <a:srgbClr val="1E60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9E8DCD4E-4672-162C-E2F9-70D79E0256D3}"/>
              </a:ext>
            </a:extLst>
          </p:cNvPr>
          <p:cNvSpPr/>
          <p:nvPr/>
        </p:nvSpPr>
        <p:spPr>
          <a:xfrm>
            <a:off x="8190000" y="4770000"/>
            <a:ext cx="180000" cy="180000"/>
          </a:xfrm>
          <a:prstGeom prst="ellipse">
            <a:avLst/>
          </a:prstGeom>
          <a:solidFill>
            <a:srgbClr val="3BBBAF"/>
          </a:solidFill>
          <a:ln>
            <a:solidFill>
              <a:srgbClr val="1E60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C37CFFF-2257-47EE-A587-9682042AAB47}"/>
              </a:ext>
            </a:extLst>
          </p:cNvPr>
          <p:cNvSpPr txBox="1"/>
          <p:nvPr/>
        </p:nvSpPr>
        <p:spPr>
          <a:xfrm>
            <a:off x="1620000" y="4947225"/>
            <a:ext cx="360000" cy="1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000" dirty="0"/>
              <a:t>2013</a:t>
            </a:r>
            <a:endParaRPr lang="ko-KR" altLang="en-US" sz="1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6F9A228-579E-5144-BDC6-BC547FA48FB9}"/>
              </a:ext>
            </a:extLst>
          </p:cNvPr>
          <p:cNvSpPr txBox="1"/>
          <p:nvPr/>
        </p:nvSpPr>
        <p:spPr>
          <a:xfrm>
            <a:off x="2700000" y="4947225"/>
            <a:ext cx="360000" cy="1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000" dirty="0"/>
              <a:t>2014</a:t>
            </a:r>
            <a:endParaRPr lang="ko-KR" altLang="en-US" sz="1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3340141-6C65-19F5-E22B-8E496C8E3413}"/>
              </a:ext>
            </a:extLst>
          </p:cNvPr>
          <p:cNvSpPr txBox="1"/>
          <p:nvPr/>
        </p:nvSpPr>
        <p:spPr>
          <a:xfrm>
            <a:off x="3780000" y="4947225"/>
            <a:ext cx="360000" cy="1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000" dirty="0"/>
              <a:t>2015</a:t>
            </a:r>
            <a:endParaRPr lang="ko-KR" altLang="en-US" sz="1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5E4D153-2A19-70F3-0528-8A5DB20562BF}"/>
              </a:ext>
            </a:extLst>
          </p:cNvPr>
          <p:cNvSpPr txBox="1"/>
          <p:nvPr/>
        </p:nvSpPr>
        <p:spPr>
          <a:xfrm>
            <a:off x="4860000" y="4947225"/>
            <a:ext cx="360000" cy="1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000" dirty="0"/>
              <a:t>2016</a:t>
            </a:r>
            <a:endParaRPr lang="ko-KR" altLang="en-US" sz="1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7FD7956-40D8-DE86-ED9C-F7CA02F84507}"/>
              </a:ext>
            </a:extLst>
          </p:cNvPr>
          <p:cNvSpPr txBox="1"/>
          <p:nvPr/>
        </p:nvSpPr>
        <p:spPr>
          <a:xfrm>
            <a:off x="5940000" y="4947225"/>
            <a:ext cx="360000" cy="1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000" dirty="0"/>
              <a:t>2017</a:t>
            </a:r>
            <a:endParaRPr lang="ko-KR" altLang="en-US" sz="10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056A23A-F1F1-467D-F701-0E6C13AC9EC3}"/>
              </a:ext>
            </a:extLst>
          </p:cNvPr>
          <p:cNvSpPr txBox="1"/>
          <p:nvPr/>
        </p:nvSpPr>
        <p:spPr>
          <a:xfrm>
            <a:off x="7020000" y="4947225"/>
            <a:ext cx="360000" cy="1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000" dirty="0"/>
              <a:t>2018</a:t>
            </a:r>
            <a:endParaRPr lang="ko-KR" altLang="en-US" sz="10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4FE7423-E39B-087B-A312-F55916EDD696}"/>
              </a:ext>
            </a:extLst>
          </p:cNvPr>
          <p:cNvSpPr txBox="1"/>
          <p:nvPr/>
        </p:nvSpPr>
        <p:spPr>
          <a:xfrm>
            <a:off x="8100000" y="4947225"/>
            <a:ext cx="360000" cy="1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000" dirty="0"/>
              <a:t>2019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D1E70A9-61A3-1F43-1D36-2ED78019DD29}"/>
              </a:ext>
            </a:extLst>
          </p:cNvPr>
          <p:cNvSpPr txBox="1"/>
          <p:nvPr/>
        </p:nvSpPr>
        <p:spPr>
          <a:xfrm>
            <a:off x="2250000" y="5580000"/>
            <a:ext cx="720000" cy="1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000" dirty="0"/>
              <a:t>R-CNN</a:t>
            </a:r>
            <a:endParaRPr lang="ko-KR" altLang="en-US" sz="1000" dirty="0"/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FC806355-C08A-0F25-0C05-72D0FF835D98}"/>
              </a:ext>
            </a:extLst>
          </p:cNvPr>
          <p:cNvCxnSpPr>
            <a:cxnSpLocks/>
            <a:stCxn id="34" idx="0"/>
          </p:cNvCxnSpPr>
          <p:nvPr/>
        </p:nvCxnSpPr>
        <p:spPr>
          <a:xfrm flipV="1">
            <a:off x="2610000" y="4859999"/>
            <a:ext cx="0" cy="720001"/>
          </a:xfrm>
          <a:prstGeom prst="line">
            <a:avLst/>
          </a:prstGeom>
          <a:ln w="25400">
            <a:solidFill>
              <a:schemeClr val="accent2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015A6E5C-EAF9-E632-0A0C-057F6FC0E435}"/>
              </a:ext>
            </a:extLst>
          </p:cNvPr>
          <p:cNvSpPr txBox="1"/>
          <p:nvPr/>
        </p:nvSpPr>
        <p:spPr>
          <a:xfrm>
            <a:off x="3780000" y="5490000"/>
            <a:ext cx="720000" cy="1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000" dirty="0"/>
              <a:t>Fast R-CNN</a:t>
            </a:r>
            <a:endParaRPr lang="ko-KR" altLang="en-US" sz="1000" dirty="0"/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B59C925F-F6F2-37A3-06ED-83C86198250A}"/>
              </a:ext>
            </a:extLst>
          </p:cNvPr>
          <p:cNvCxnSpPr>
            <a:cxnSpLocks/>
            <a:stCxn id="38" idx="0"/>
          </p:cNvCxnSpPr>
          <p:nvPr/>
        </p:nvCxnSpPr>
        <p:spPr>
          <a:xfrm flipV="1">
            <a:off x="4140000" y="4859999"/>
            <a:ext cx="0" cy="630001"/>
          </a:xfrm>
          <a:prstGeom prst="line">
            <a:avLst/>
          </a:prstGeom>
          <a:ln w="25400">
            <a:solidFill>
              <a:schemeClr val="accent2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DF54FF95-18DA-D329-8DBA-2EAED2F4BC37}"/>
              </a:ext>
            </a:extLst>
          </p:cNvPr>
          <p:cNvSpPr txBox="1"/>
          <p:nvPr/>
        </p:nvSpPr>
        <p:spPr>
          <a:xfrm>
            <a:off x="4140000" y="5670000"/>
            <a:ext cx="810000" cy="1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000" dirty="0"/>
              <a:t>Faster R-CNN</a:t>
            </a:r>
            <a:endParaRPr lang="ko-KR" altLang="en-US" sz="1000" dirty="0"/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CD8967A3-6E58-9ACD-491C-A340D89629D3}"/>
              </a:ext>
            </a:extLst>
          </p:cNvPr>
          <p:cNvCxnSpPr>
            <a:cxnSpLocks/>
            <a:stCxn id="43" idx="0"/>
          </p:cNvCxnSpPr>
          <p:nvPr/>
        </p:nvCxnSpPr>
        <p:spPr>
          <a:xfrm flipV="1">
            <a:off x="4545000" y="4859649"/>
            <a:ext cx="0" cy="810351"/>
          </a:xfrm>
          <a:prstGeom prst="line">
            <a:avLst/>
          </a:prstGeom>
          <a:ln w="25400">
            <a:solidFill>
              <a:schemeClr val="accent2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502532E1-02FD-6956-B590-4C5F764DC1DB}"/>
              </a:ext>
            </a:extLst>
          </p:cNvPr>
          <p:cNvSpPr txBox="1"/>
          <p:nvPr/>
        </p:nvSpPr>
        <p:spPr>
          <a:xfrm>
            <a:off x="4365000" y="3960000"/>
            <a:ext cx="360000" cy="1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000" dirty="0"/>
              <a:t>YOLO</a:t>
            </a:r>
            <a:endParaRPr lang="ko-KR" altLang="en-US" sz="1000" dirty="0"/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8781CFF8-33FA-D870-2908-394835C879FB}"/>
              </a:ext>
            </a:extLst>
          </p:cNvPr>
          <p:cNvCxnSpPr>
            <a:cxnSpLocks/>
            <a:stCxn id="62" idx="2"/>
          </p:cNvCxnSpPr>
          <p:nvPr/>
        </p:nvCxnSpPr>
        <p:spPr>
          <a:xfrm>
            <a:off x="4545000" y="4140000"/>
            <a:ext cx="0" cy="719648"/>
          </a:xfrm>
          <a:prstGeom prst="line">
            <a:avLst/>
          </a:prstGeom>
          <a:ln w="25400">
            <a:solidFill>
              <a:schemeClr val="accent2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7A4A50E2-4EC8-EEEE-E677-42E40C624B24}"/>
              </a:ext>
            </a:extLst>
          </p:cNvPr>
          <p:cNvSpPr txBox="1"/>
          <p:nvPr/>
        </p:nvSpPr>
        <p:spPr>
          <a:xfrm>
            <a:off x="4592092" y="4230000"/>
            <a:ext cx="360000" cy="1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000" dirty="0"/>
              <a:t>SSD</a:t>
            </a:r>
            <a:endParaRPr lang="ko-KR" altLang="en-US" sz="1000" dirty="0"/>
          </a:p>
        </p:txBody>
      </p: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A04408B5-9D73-1CF5-2696-40C34514D7B5}"/>
              </a:ext>
            </a:extLst>
          </p:cNvPr>
          <p:cNvCxnSpPr>
            <a:cxnSpLocks/>
            <a:stCxn id="67" idx="2"/>
          </p:cNvCxnSpPr>
          <p:nvPr/>
        </p:nvCxnSpPr>
        <p:spPr>
          <a:xfrm flipH="1">
            <a:off x="4769999" y="4410000"/>
            <a:ext cx="2093" cy="461201"/>
          </a:xfrm>
          <a:prstGeom prst="line">
            <a:avLst/>
          </a:prstGeom>
          <a:ln w="25400">
            <a:solidFill>
              <a:schemeClr val="accent2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AAD9AFB7-4EEF-EB40-1AF9-47DE54D8CB0B}"/>
              </a:ext>
            </a:extLst>
          </p:cNvPr>
          <p:cNvSpPr txBox="1"/>
          <p:nvPr/>
        </p:nvSpPr>
        <p:spPr>
          <a:xfrm>
            <a:off x="6480000" y="4140000"/>
            <a:ext cx="720000" cy="1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000" dirty="0"/>
              <a:t>Focal Loss</a:t>
            </a:r>
            <a:endParaRPr lang="ko-KR" altLang="en-US" sz="1000" dirty="0"/>
          </a:p>
        </p:txBody>
      </p: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E3D0A4CB-A80E-A8D6-8876-6D720F418301}"/>
              </a:ext>
            </a:extLst>
          </p:cNvPr>
          <p:cNvCxnSpPr>
            <a:cxnSpLocks/>
            <a:stCxn id="71" idx="2"/>
          </p:cNvCxnSpPr>
          <p:nvPr/>
        </p:nvCxnSpPr>
        <p:spPr>
          <a:xfrm>
            <a:off x="6840000" y="4320000"/>
            <a:ext cx="0" cy="539647"/>
          </a:xfrm>
          <a:prstGeom prst="line">
            <a:avLst/>
          </a:prstGeom>
          <a:ln w="25400">
            <a:solidFill>
              <a:schemeClr val="accent2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2AFF17BD-0C20-AD60-B0A6-C74EDF0AB7A5}"/>
              </a:ext>
            </a:extLst>
          </p:cNvPr>
          <p:cNvSpPr txBox="1"/>
          <p:nvPr/>
        </p:nvSpPr>
        <p:spPr>
          <a:xfrm>
            <a:off x="7380000" y="4050000"/>
            <a:ext cx="720000" cy="1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000" dirty="0" err="1"/>
              <a:t>RefineDet</a:t>
            </a:r>
            <a:endParaRPr lang="ko-KR" altLang="en-US" sz="1000" dirty="0"/>
          </a:p>
        </p:txBody>
      </p: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56AB2610-F669-9B15-2EDF-39A250447882}"/>
              </a:ext>
            </a:extLst>
          </p:cNvPr>
          <p:cNvCxnSpPr>
            <a:cxnSpLocks/>
            <a:stCxn id="75" idx="2"/>
          </p:cNvCxnSpPr>
          <p:nvPr/>
        </p:nvCxnSpPr>
        <p:spPr>
          <a:xfrm>
            <a:off x="7740000" y="4230000"/>
            <a:ext cx="0" cy="641201"/>
          </a:xfrm>
          <a:prstGeom prst="line">
            <a:avLst/>
          </a:prstGeom>
          <a:ln w="25400">
            <a:solidFill>
              <a:schemeClr val="accent2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FD84D34A-E2B6-E503-690F-A17B96E760B3}"/>
              </a:ext>
            </a:extLst>
          </p:cNvPr>
          <p:cNvSpPr txBox="1"/>
          <p:nvPr/>
        </p:nvSpPr>
        <p:spPr>
          <a:xfrm>
            <a:off x="1260000" y="3779999"/>
            <a:ext cx="540000" cy="1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800" b="1" dirty="0"/>
              <a:t>1 stage</a:t>
            </a:r>
            <a:endParaRPr lang="ko-KR" altLang="en-US" sz="800" b="1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7E1B60E-7DF8-61E1-1555-1EEFC55C1D76}"/>
              </a:ext>
            </a:extLst>
          </p:cNvPr>
          <p:cNvSpPr txBox="1"/>
          <p:nvPr/>
        </p:nvSpPr>
        <p:spPr>
          <a:xfrm>
            <a:off x="1260000" y="5760000"/>
            <a:ext cx="540000" cy="1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800" b="1" dirty="0"/>
              <a:t>2 stage</a:t>
            </a:r>
            <a:endParaRPr lang="ko-KR" altLang="en-US" sz="800" b="1" dirty="0"/>
          </a:p>
        </p:txBody>
      </p:sp>
    </p:spTree>
    <p:extLst>
      <p:ext uri="{BB962C8B-B14F-4D97-AF65-F5344CB8AC3E}">
        <p14:creationId xmlns:p14="http://schemas.microsoft.com/office/powerpoint/2010/main" val="1050839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71974-1C03-3A9E-E136-972C85387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EFFE335D-A60F-A8FA-EF1D-B7201EB1748A}"/>
              </a:ext>
            </a:extLst>
          </p:cNvPr>
          <p:cNvCxnSpPr>
            <a:cxnSpLocks/>
          </p:cNvCxnSpPr>
          <p:nvPr/>
        </p:nvCxnSpPr>
        <p:spPr>
          <a:xfrm>
            <a:off x="0" y="0"/>
            <a:ext cx="8709" cy="64800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02EE85F6-630F-853B-C180-752B90EDB6CA}"/>
              </a:ext>
            </a:extLst>
          </p:cNvPr>
          <p:cNvCxnSpPr>
            <a:cxnSpLocks/>
          </p:cNvCxnSpPr>
          <p:nvPr/>
        </p:nvCxnSpPr>
        <p:spPr>
          <a:xfrm>
            <a:off x="0" y="18000"/>
            <a:ext cx="1188000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203E6D3-71ED-A2FB-CD2A-61CCF57D7F48}"/>
                  </a:ext>
                </a:extLst>
              </p:cNvPr>
              <p:cNvSpPr txBox="1"/>
              <p:nvPr/>
            </p:nvSpPr>
            <p:spPr>
              <a:xfrm>
                <a:off x="11790000" y="18000"/>
                <a:ext cx="180000" cy="180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ko-KR" altLang="en-US" sz="10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203E6D3-71ED-A2FB-CD2A-61CCF57D7F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0000" y="18000"/>
                <a:ext cx="180000" cy="180000"/>
              </a:xfrm>
              <a:prstGeom prst="rect">
                <a:avLst/>
              </a:prstGeom>
              <a:blipFill>
                <a:blip r:embed="rId3"/>
                <a:stretch>
                  <a:fillRect t="-17241" r="-23333" b="-379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385CD9D-76BE-FEEF-73F0-C45184881ACC}"/>
                  </a:ext>
                </a:extLst>
              </p:cNvPr>
              <p:cNvSpPr txBox="1"/>
              <p:nvPr/>
            </p:nvSpPr>
            <p:spPr>
              <a:xfrm>
                <a:off x="0" y="6390001"/>
                <a:ext cx="180000" cy="180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000" b="1" i="1" smtClean="0"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ko-KR" altLang="en-US" sz="10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385CD9D-76BE-FEEF-73F0-C45184881A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390001"/>
                <a:ext cx="180000" cy="180000"/>
              </a:xfrm>
              <a:prstGeom prst="rect">
                <a:avLst/>
              </a:prstGeom>
              <a:blipFill>
                <a:blip r:embed="rId4"/>
                <a:stretch>
                  <a:fillRect l="-23333" t="-30000" r="-30000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9F2E2D81-8E75-98AC-9292-195888737679}"/>
              </a:ext>
            </a:extLst>
          </p:cNvPr>
          <p:cNvSpPr txBox="1"/>
          <p:nvPr/>
        </p:nvSpPr>
        <p:spPr>
          <a:xfrm>
            <a:off x="360000" y="360000"/>
            <a:ext cx="2250000" cy="450000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2400" b="1" dirty="0"/>
              <a:t>초기의 객체 인식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F3A006B-505D-CD42-B2F0-06CD713B09F1}"/>
              </a:ext>
            </a:extLst>
          </p:cNvPr>
          <p:cNvSpPr/>
          <p:nvPr/>
        </p:nvSpPr>
        <p:spPr>
          <a:xfrm>
            <a:off x="360000" y="180000"/>
            <a:ext cx="450000" cy="1800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/>
              <a:t>목차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5BBEE2-0362-B194-C9C3-206996CC3D5C}"/>
              </a:ext>
            </a:extLst>
          </p:cNvPr>
          <p:cNvSpPr txBox="1"/>
          <p:nvPr/>
        </p:nvSpPr>
        <p:spPr>
          <a:xfrm>
            <a:off x="450000" y="1133998"/>
            <a:ext cx="11160000" cy="50400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lIns="54000" tIns="54000" rIns="54000" bIns="54000" rtlCol="0" anchor="t">
            <a:noAutofit/>
          </a:bodyPr>
          <a:lstStyle/>
          <a:p>
            <a:pPr algn="just"/>
            <a:r>
              <a:rPr lang="ko-KR" altLang="en-US" sz="1600" dirty="0"/>
              <a:t>초기의 객체 인식 알고리즘은 모든 영역을 관찰하는 창</a:t>
            </a:r>
            <a:r>
              <a:rPr lang="en-US" altLang="ko-KR" sz="1600" dirty="0"/>
              <a:t>(Window)</a:t>
            </a:r>
            <a:r>
              <a:rPr lang="ko-KR" altLang="en-US" sz="1600" dirty="0"/>
              <a:t>을 이동하여 객체를 탐지하는 방식을 사용하였지만</a:t>
            </a:r>
            <a:r>
              <a:rPr lang="en-US" altLang="ko-KR" sz="1600" dirty="0"/>
              <a:t>, </a:t>
            </a:r>
            <a:r>
              <a:rPr lang="ko-KR" altLang="en-US" sz="1600" dirty="0"/>
              <a:t>불필요한 영역까지 모두 탐색해야 하기 때문에</a:t>
            </a:r>
            <a:r>
              <a:rPr lang="en-US" altLang="ko-KR" sz="1600" dirty="0"/>
              <a:t>, </a:t>
            </a:r>
            <a:r>
              <a:rPr lang="ko-KR" altLang="en-US" sz="1600" dirty="0"/>
              <a:t>비효율적인 연산을 수행하게 됨</a:t>
            </a:r>
            <a:endParaRPr lang="en-US" altLang="ko-KR" sz="1600" dirty="0"/>
          </a:p>
          <a:p>
            <a:pPr algn="just"/>
            <a:endParaRPr lang="en-US" altLang="ko-KR" sz="1600" dirty="0"/>
          </a:p>
          <a:p>
            <a:pPr algn="just"/>
            <a:endParaRPr lang="en-US" altLang="ko-KR" sz="1600" dirty="0"/>
          </a:p>
          <a:p>
            <a:pPr algn="just"/>
            <a:endParaRPr lang="en-US" altLang="ko-KR" sz="1600" dirty="0"/>
          </a:p>
          <a:p>
            <a:pPr algn="just"/>
            <a:endParaRPr lang="en-US" altLang="ko-KR" sz="1600" dirty="0"/>
          </a:p>
          <a:p>
            <a:pPr algn="just"/>
            <a:endParaRPr lang="en-US" altLang="ko-KR" sz="1600" dirty="0"/>
          </a:p>
          <a:p>
            <a:pPr algn="just"/>
            <a:endParaRPr lang="en-US" altLang="ko-KR" sz="1600" dirty="0"/>
          </a:p>
          <a:p>
            <a:pPr algn="just"/>
            <a:endParaRPr lang="en-US" altLang="ko-KR" sz="1600" dirty="0"/>
          </a:p>
          <a:p>
            <a:pPr algn="just"/>
            <a:endParaRPr lang="en-US" altLang="ko-KR" sz="1600" dirty="0"/>
          </a:p>
          <a:p>
            <a:pPr algn="just"/>
            <a:endParaRPr lang="en-US" altLang="ko-KR" sz="1600" dirty="0"/>
          </a:p>
          <a:p>
            <a:pPr algn="just"/>
            <a:endParaRPr lang="en-US" altLang="ko-KR" sz="1600" dirty="0"/>
          </a:p>
          <a:p>
            <a:pPr algn="just"/>
            <a:endParaRPr lang="en-US" altLang="ko-KR" sz="1600" dirty="0"/>
          </a:p>
          <a:p>
            <a:pPr algn="just"/>
            <a:endParaRPr lang="en-US" altLang="ko-KR" sz="1600" dirty="0"/>
          </a:p>
          <a:p>
            <a:pPr algn="just"/>
            <a:endParaRPr lang="en-US" altLang="ko-KR" sz="1600" dirty="0"/>
          </a:p>
          <a:p>
            <a:pPr algn="just"/>
            <a:endParaRPr lang="en-US" altLang="ko-KR" sz="1600" dirty="0"/>
          </a:p>
          <a:p>
            <a:pPr algn="just"/>
            <a:r>
              <a:rPr lang="ko-KR" altLang="en-US" sz="1600" dirty="0"/>
              <a:t>평균 가중치 이미지와 </a:t>
            </a:r>
            <a:r>
              <a:rPr lang="en-US" altLang="ko-KR" sz="1600" dirty="0"/>
              <a:t>SVM (Support Vector Machine) </a:t>
            </a:r>
            <a:r>
              <a:rPr lang="ko-KR" altLang="en-US" sz="1600" dirty="0"/>
              <a:t>가중치 </a:t>
            </a:r>
            <a:r>
              <a:rPr lang="ko-KR" altLang="en-US" sz="1600" dirty="0" err="1"/>
              <a:t>맵을</a:t>
            </a:r>
            <a:r>
              <a:rPr lang="ko-KR" altLang="en-US" sz="1600" dirty="0"/>
              <a:t> 구하고</a:t>
            </a:r>
            <a:r>
              <a:rPr lang="en-US" altLang="ko-KR" sz="1600" dirty="0"/>
              <a:t>, </a:t>
            </a:r>
            <a:r>
              <a:rPr lang="ko-KR" altLang="en-US" sz="1600" dirty="0"/>
              <a:t>입력 이미지에 </a:t>
            </a:r>
            <a:r>
              <a:rPr lang="en-US" altLang="ko-KR" sz="1600" dirty="0"/>
              <a:t>R-HOG (Rectangular-Histograms of Oriented Gradient) </a:t>
            </a:r>
            <a:r>
              <a:rPr lang="ko-KR" altLang="en-US" sz="1600" dirty="0"/>
              <a:t>검출기로 객체 내의 형태와 윤곽을 결정함</a:t>
            </a:r>
            <a:endParaRPr lang="en-US" altLang="ko-KR" sz="1600" dirty="0"/>
          </a:p>
          <a:p>
            <a:pPr algn="just"/>
            <a:r>
              <a:rPr lang="ko-KR" altLang="en-US" sz="1600" dirty="0"/>
              <a:t>이후 </a:t>
            </a:r>
            <a:r>
              <a:rPr lang="en-US" altLang="ko-KR" sz="1600" dirty="0"/>
              <a:t>SVM</a:t>
            </a:r>
            <a:r>
              <a:rPr lang="ko-KR" altLang="en-US" sz="1600" dirty="0"/>
              <a:t>의 양</a:t>
            </a:r>
            <a:r>
              <a:rPr lang="en-US" altLang="ko-KR" sz="1600" dirty="0"/>
              <a:t>,</a:t>
            </a:r>
            <a:r>
              <a:rPr lang="ko-KR" altLang="en-US" sz="1600" dirty="0"/>
              <a:t> 음 가중치와 결합하여 탐지 가중치를 계산하는 방식을 사용함</a:t>
            </a:r>
            <a:endParaRPr lang="en-US" altLang="ko-KR" sz="16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3A49295-55DA-DA99-2C98-553A63CFFC80}"/>
              </a:ext>
            </a:extLst>
          </p:cNvPr>
          <p:cNvSpPr/>
          <p:nvPr/>
        </p:nvSpPr>
        <p:spPr>
          <a:xfrm>
            <a:off x="450000" y="953502"/>
            <a:ext cx="450000" cy="180000"/>
          </a:xfrm>
          <a:prstGeom prst="rect">
            <a:avLst/>
          </a:prstGeom>
          <a:solidFill>
            <a:srgbClr val="92D050"/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/>
              <a:t>내용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A9B36BA-DDC1-EC37-D384-65C5C1EE0B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6000" y="2160000"/>
            <a:ext cx="9000000" cy="251822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411BA4FB-3959-DB29-8822-48A3787EB1D8}"/>
              </a:ext>
            </a:extLst>
          </p:cNvPr>
          <p:cNvSpPr/>
          <p:nvPr/>
        </p:nvSpPr>
        <p:spPr>
          <a:xfrm>
            <a:off x="1576856" y="1890000"/>
            <a:ext cx="1260000" cy="270000"/>
          </a:xfrm>
          <a:prstGeom prst="rect">
            <a:avLst/>
          </a:prstGeom>
          <a:solidFill>
            <a:schemeClr val="tx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HOG + SVM [1]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EA3FEDE-9325-CF71-03B2-2BDCD996EBE2}"/>
              </a:ext>
            </a:extLst>
          </p:cNvPr>
          <p:cNvSpPr/>
          <p:nvPr/>
        </p:nvSpPr>
        <p:spPr>
          <a:xfrm>
            <a:off x="6840000" y="6570001"/>
            <a:ext cx="5220000" cy="27000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[1] Dalal et al, “Histograms of oriented gradients for human detection”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3048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2CFC3-3E58-AB93-B7C4-677CE1F52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0AB5E42-9E2F-C76A-2AB1-EB421285F2CB}"/>
              </a:ext>
            </a:extLst>
          </p:cNvPr>
          <p:cNvCxnSpPr>
            <a:cxnSpLocks/>
          </p:cNvCxnSpPr>
          <p:nvPr/>
        </p:nvCxnSpPr>
        <p:spPr>
          <a:xfrm>
            <a:off x="0" y="0"/>
            <a:ext cx="8709" cy="64800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F740D95-B242-CC72-43E5-04ACED278975}"/>
              </a:ext>
            </a:extLst>
          </p:cNvPr>
          <p:cNvCxnSpPr>
            <a:cxnSpLocks/>
          </p:cNvCxnSpPr>
          <p:nvPr/>
        </p:nvCxnSpPr>
        <p:spPr>
          <a:xfrm>
            <a:off x="0" y="18000"/>
            <a:ext cx="1188000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35FE7ED-E12D-DA4A-5E32-DBD5E6E5EA5A}"/>
                  </a:ext>
                </a:extLst>
              </p:cNvPr>
              <p:cNvSpPr txBox="1"/>
              <p:nvPr/>
            </p:nvSpPr>
            <p:spPr>
              <a:xfrm>
                <a:off x="11790000" y="18000"/>
                <a:ext cx="180000" cy="180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ko-KR" altLang="en-US" sz="10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35FE7ED-E12D-DA4A-5E32-DBD5E6E5EA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0000" y="18000"/>
                <a:ext cx="180000" cy="180000"/>
              </a:xfrm>
              <a:prstGeom prst="rect">
                <a:avLst/>
              </a:prstGeom>
              <a:blipFill>
                <a:blip r:embed="rId3"/>
                <a:stretch>
                  <a:fillRect t="-17241" r="-23333" b="-379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C6ABAE5-19BC-84E7-9388-E9814DE5E694}"/>
                  </a:ext>
                </a:extLst>
              </p:cNvPr>
              <p:cNvSpPr txBox="1"/>
              <p:nvPr/>
            </p:nvSpPr>
            <p:spPr>
              <a:xfrm>
                <a:off x="0" y="6390001"/>
                <a:ext cx="180000" cy="180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000" b="1" i="1" smtClean="0"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ko-KR" altLang="en-US" sz="10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C6ABAE5-19BC-84E7-9388-E9814DE5E6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390001"/>
                <a:ext cx="180000" cy="180000"/>
              </a:xfrm>
              <a:prstGeom prst="rect">
                <a:avLst/>
              </a:prstGeom>
              <a:blipFill>
                <a:blip r:embed="rId4"/>
                <a:stretch>
                  <a:fillRect l="-23333" t="-30000" r="-30000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BC38CEFB-7D55-3499-9E94-D63F606BAEED}"/>
              </a:ext>
            </a:extLst>
          </p:cNvPr>
          <p:cNvSpPr txBox="1"/>
          <p:nvPr/>
        </p:nvSpPr>
        <p:spPr>
          <a:xfrm>
            <a:off x="360000" y="360000"/>
            <a:ext cx="2250000" cy="450000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2400" b="1" dirty="0"/>
              <a:t>2</a:t>
            </a:r>
            <a:r>
              <a:rPr lang="ko-KR" altLang="en-US" sz="2400" b="1" dirty="0"/>
              <a:t>단계 객체 인식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6CB366A-B591-BB2F-C4D5-BD9B52278D52}"/>
              </a:ext>
            </a:extLst>
          </p:cNvPr>
          <p:cNvSpPr/>
          <p:nvPr/>
        </p:nvSpPr>
        <p:spPr>
          <a:xfrm>
            <a:off x="360000" y="180000"/>
            <a:ext cx="450000" cy="1800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/>
              <a:t>목차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C8E9AB-201D-4BDA-4740-50A4A0B9CBD7}"/>
              </a:ext>
            </a:extLst>
          </p:cNvPr>
          <p:cNvSpPr txBox="1"/>
          <p:nvPr/>
        </p:nvSpPr>
        <p:spPr>
          <a:xfrm>
            <a:off x="450000" y="1133998"/>
            <a:ext cx="11160000" cy="50400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lIns="54000" tIns="54000" rIns="54000" bIns="54000" rtlCol="0" anchor="t">
            <a:noAutofit/>
          </a:bodyPr>
          <a:lstStyle/>
          <a:p>
            <a:pPr algn="just"/>
            <a:r>
              <a:rPr lang="ko-KR" altLang="en-US" sz="1600" dirty="0"/>
              <a:t>기존의 객체 탐색 알고리즘을 개선하기 위해</a:t>
            </a:r>
            <a:r>
              <a:rPr lang="en-US" altLang="ko-KR" sz="1600" dirty="0"/>
              <a:t>, </a:t>
            </a:r>
            <a:r>
              <a:rPr lang="ko-KR" altLang="en-US" sz="1600" dirty="0"/>
              <a:t>모든 구역을 탐색하지 않고</a:t>
            </a:r>
            <a:r>
              <a:rPr lang="en-US" altLang="ko-KR" sz="1600" dirty="0"/>
              <a:t>, </a:t>
            </a:r>
            <a:r>
              <a:rPr lang="ko-KR" altLang="en-US" sz="1600" dirty="0"/>
              <a:t>후보 영역</a:t>
            </a:r>
            <a:r>
              <a:rPr lang="en-US" altLang="ko-KR" sz="1600" dirty="0"/>
              <a:t>(Region Proposal)</a:t>
            </a:r>
            <a:r>
              <a:rPr lang="ko-KR" altLang="en-US" sz="1600" dirty="0"/>
              <a:t>을 결정하는 선택적 탐색 알고리즘을 적용함</a:t>
            </a:r>
            <a:endParaRPr lang="en-US" altLang="ko-KR" sz="1600" dirty="0"/>
          </a:p>
          <a:p>
            <a:pPr algn="just"/>
            <a:r>
              <a:rPr lang="ko-KR" altLang="en-US" sz="1600" dirty="0"/>
              <a:t>이런 후보 영역을 탐지하여 객체를 인식하는 대표 모델로 </a:t>
            </a:r>
            <a:r>
              <a:rPr lang="en-US" altLang="ko-KR" sz="1600" dirty="0"/>
              <a:t>R-CNN(Regions</a:t>
            </a:r>
            <a:r>
              <a:rPr lang="ko-KR" altLang="en-US" sz="1600" dirty="0"/>
              <a:t> </a:t>
            </a:r>
            <a:r>
              <a:rPr lang="en-US" altLang="ko-KR" sz="1600" dirty="0"/>
              <a:t>with CNN features) </a:t>
            </a:r>
            <a:r>
              <a:rPr lang="ko-KR" altLang="en-US" sz="1600" dirty="0"/>
              <a:t>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이미지 특징을 추출하고 분류하는 </a:t>
            </a:r>
            <a:r>
              <a:rPr lang="en-US" altLang="ko-KR" sz="1600" dirty="0"/>
              <a:t>CNN </a:t>
            </a:r>
            <a:r>
              <a:rPr lang="ko-KR" altLang="en-US" sz="1600" dirty="0"/>
              <a:t>모델과 관심 영역을 결정하는 모듈을 결합하여 구성함</a:t>
            </a:r>
            <a:endParaRPr lang="en-US" altLang="ko-KR" sz="1600" dirty="0"/>
          </a:p>
          <a:p>
            <a:pPr algn="just"/>
            <a:endParaRPr lang="en-US" altLang="ko-KR" sz="1600" dirty="0"/>
          </a:p>
          <a:p>
            <a:pPr algn="just"/>
            <a:endParaRPr lang="en-US" altLang="ko-KR" sz="16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188222F-A137-34F9-7686-5D939F238174}"/>
              </a:ext>
            </a:extLst>
          </p:cNvPr>
          <p:cNvSpPr/>
          <p:nvPr/>
        </p:nvSpPr>
        <p:spPr>
          <a:xfrm>
            <a:off x="450000" y="953502"/>
            <a:ext cx="450000" cy="180000"/>
          </a:xfrm>
          <a:prstGeom prst="rect">
            <a:avLst/>
          </a:prstGeom>
          <a:solidFill>
            <a:srgbClr val="92D050"/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/>
              <a:t>내용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681BF83-5EE0-A06B-30D0-CE2003F3C2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000" y="2700000"/>
            <a:ext cx="7560000" cy="144000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BF76A94-FDD8-AD85-2A8D-CAA515706B63}"/>
              </a:ext>
            </a:extLst>
          </p:cNvPr>
          <p:cNvSpPr txBox="1"/>
          <p:nvPr/>
        </p:nvSpPr>
        <p:spPr>
          <a:xfrm>
            <a:off x="1026000" y="4230000"/>
            <a:ext cx="1080000" cy="27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400" dirty="0"/>
              <a:t>입력 이미지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EFB1A7-0958-73F9-A69B-21083A6EE843}"/>
              </a:ext>
            </a:extLst>
          </p:cNvPr>
          <p:cNvSpPr txBox="1"/>
          <p:nvPr/>
        </p:nvSpPr>
        <p:spPr>
          <a:xfrm>
            <a:off x="2700000" y="4230000"/>
            <a:ext cx="1080000" cy="27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400" dirty="0"/>
              <a:t>후보 영역 추출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499D3D-DDF3-2408-4EA2-022F88C37336}"/>
              </a:ext>
            </a:extLst>
          </p:cNvPr>
          <p:cNvSpPr txBox="1"/>
          <p:nvPr/>
        </p:nvSpPr>
        <p:spPr>
          <a:xfrm>
            <a:off x="4752000" y="4230000"/>
            <a:ext cx="1440000" cy="27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400" dirty="0"/>
              <a:t>이미지 특징 추출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95211F-F91D-E49A-01F2-BD83A4F7ACC0}"/>
              </a:ext>
            </a:extLst>
          </p:cNvPr>
          <p:cNvSpPr txBox="1"/>
          <p:nvPr/>
        </p:nvSpPr>
        <p:spPr>
          <a:xfrm>
            <a:off x="7290000" y="4230000"/>
            <a:ext cx="900000" cy="27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400" dirty="0"/>
              <a:t>영역 분류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D0360BD-C1C3-BC13-3997-446F0CAE8FDC}"/>
              </a:ext>
            </a:extLst>
          </p:cNvPr>
          <p:cNvSpPr/>
          <p:nvPr/>
        </p:nvSpPr>
        <p:spPr>
          <a:xfrm>
            <a:off x="810000" y="4770000"/>
            <a:ext cx="6300000" cy="126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9E42B86B-FB18-4290-C0C0-551C2F508A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000" y="4860000"/>
            <a:ext cx="1080000" cy="108000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F4949929-E2B7-01F3-E85E-9F90E153B3C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60000" y="4860000"/>
            <a:ext cx="1080000" cy="1080000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EB5BF6D0-5DAF-932D-0A66-D04E8A29921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20000" y="4860000"/>
            <a:ext cx="1080000" cy="1080000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D82B241C-E877-4A63-4BD4-C8DA71EEE9F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77001" y="4860000"/>
            <a:ext cx="1080000" cy="1080000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AFC43B73-5500-6B51-C6E5-AD1895033EF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34002" y="4860000"/>
            <a:ext cx="1080000" cy="1080000"/>
          </a:xfrm>
          <a:prstGeom prst="rect">
            <a:avLst/>
          </a:prstGeom>
        </p:spPr>
      </p:pic>
      <p:sp>
        <p:nvSpPr>
          <p:cNvPr id="33" name="이등변 삼각형 32">
            <a:extLst>
              <a:ext uri="{FF2B5EF4-FFF2-40B4-BE49-F238E27FC236}">
                <a16:creationId xmlns:a16="http://schemas.microsoft.com/office/drawing/2014/main" id="{1A4DECE7-C3A5-2638-6266-501987138001}"/>
              </a:ext>
            </a:extLst>
          </p:cNvPr>
          <p:cNvSpPr/>
          <p:nvPr/>
        </p:nvSpPr>
        <p:spPr>
          <a:xfrm>
            <a:off x="2915027" y="4500000"/>
            <a:ext cx="649946" cy="270000"/>
          </a:xfrm>
          <a:prstGeom prst="triangle">
            <a:avLst/>
          </a:prstGeom>
          <a:solidFill>
            <a:srgbClr val="BDD7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D92016C-D10F-357D-E4EF-B52D78CC4C0D}"/>
              </a:ext>
            </a:extLst>
          </p:cNvPr>
          <p:cNvSpPr/>
          <p:nvPr/>
        </p:nvSpPr>
        <p:spPr>
          <a:xfrm>
            <a:off x="882000" y="2430000"/>
            <a:ext cx="900000" cy="270000"/>
          </a:xfrm>
          <a:prstGeom prst="rect">
            <a:avLst/>
          </a:prstGeom>
          <a:solidFill>
            <a:schemeClr val="tx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R-CNN [2]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F575973-0E65-1233-367F-330607CD7767}"/>
              </a:ext>
            </a:extLst>
          </p:cNvPr>
          <p:cNvSpPr/>
          <p:nvPr/>
        </p:nvSpPr>
        <p:spPr>
          <a:xfrm>
            <a:off x="4680000" y="6570001"/>
            <a:ext cx="7380000" cy="27000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[2] </a:t>
            </a:r>
            <a:r>
              <a:rPr lang="en-US" altLang="ko-KR" sz="1200" dirty="0" err="1">
                <a:solidFill>
                  <a:schemeClr val="tx1"/>
                </a:solidFill>
              </a:rPr>
              <a:t>Girshick</a:t>
            </a:r>
            <a:r>
              <a:rPr lang="en-US" altLang="ko-KR" sz="1200" dirty="0">
                <a:solidFill>
                  <a:schemeClr val="tx1"/>
                </a:solidFill>
              </a:rPr>
              <a:t> et al, “Rich feature hierarchies for accurate object detection and semantic segmentation”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6276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69D31-7A5F-7ECA-CAD7-A926B796B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532B4D9C-5FF8-C01C-7B23-41ACB906CAA8}"/>
              </a:ext>
            </a:extLst>
          </p:cNvPr>
          <p:cNvCxnSpPr>
            <a:cxnSpLocks/>
          </p:cNvCxnSpPr>
          <p:nvPr/>
        </p:nvCxnSpPr>
        <p:spPr>
          <a:xfrm>
            <a:off x="0" y="0"/>
            <a:ext cx="8709" cy="64800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3AB4307-46A3-BAEC-C88B-B55D89744017}"/>
              </a:ext>
            </a:extLst>
          </p:cNvPr>
          <p:cNvCxnSpPr>
            <a:cxnSpLocks/>
          </p:cNvCxnSpPr>
          <p:nvPr/>
        </p:nvCxnSpPr>
        <p:spPr>
          <a:xfrm>
            <a:off x="0" y="18000"/>
            <a:ext cx="1188000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8A17E67-5F65-1C70-69E6-A7A94C1958FC}"/>
                  </a:ext>
                </a:extLst>
              </p:cNvPr>
              <p:cNvSpPr txBox="1"/>
              <p:nvPr/>
            </p:nvSpPr>
            <p:spPr>
              <a:xfrm>
                <a:off x="11790000" y="18000"/>
                <a:ext cx="180000" cy="180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ko-KR" altLang="en-US" sz="10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8A17E67-5F65-1C70-69E6-A7A94C1958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0000" y="18000"/>
                <a:ext cx="180000" cy="180000"/>
              </a:xfrm>
              <a:prstGeom prst="rect">
                <a:avLst/>
              </a:prstGeom>
              <a:blipFill>
                <a:blip r:embed="rId3"/>
                <a:stretch>
                  <a:fillRect t="-17241" r="-23333" b="-379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5828F8A-90DD-0479-BF82-766286AFE30F}"/>
                  </a:ext>
                </a:extLst>
              </p:cNvPr>
              <p:cNvSpPr txBox="1"/>
              <p:nvPr/>
            </p:nvSpPr>
            <p:spPr>
              <a:xfrm>
                <a:off x="0" y="6390001"/>
                <a:ext cx="180000" cy="180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000" b="1" i="1" smtClean="0"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ko-KR" altLang="en-US" sz="10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5828F8A-90DD-0479-BF82-766286AFE3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390001"/>
                <a:ext cx="180000" cy="180000"/>
              </a:xfrm>
              <a:prstGeom prst="rect">
                <a:avLst/>
              </a:prstGeom>
              <a:blipFill>
                <a:blip r:embed="rId4"/>
                <a:stretch>
                  <a:fillRect l="-23333" t="-30000" r="-30000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0AC4BB5C-B61E-D7E6-819C-B8112575969A}"/>
              </a:ext>
            </a:extLst>
          </p:cNvPr>
          <p:cNvSpPr txBox="1"/>
          <p:nvPr/>
        </p:nvSpPr>
        <p:spPr>
          <a:xfrm>
            <a:off x="360000" y="360000"/>
            <a:ext cx="2250000" cy="450000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2400" b="1" dirty="0"/>
              <a:t>2</a:t>
            </a:r>
            <a:r>
              <a:rPr lang="ko-KR" altLang="en-US" sz="2400" b="1" dirty="0"/>
              <a:t>단계 객체 인식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5B69A34-B6E5-AD02-E3F8-167901888E6F}"/>
              </a:ext>
            </a:extLst>
          </p:cNvPr>
          <p:cNvSpPr/>
          <p:nvPr/>
        </p:nvSpPr>
        <p:spPr>
          <a:xfrm>
            <a:off x="360000" y="180000"/>
            <a:ext cx="450000" cy="1800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/>
              <a:t>목차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1001DF-49F1-6B56-2F53-14BCDD7B0B9C}"/>
              </a:ext>
            </a:extLst>
          </p:cNvPr>
          <p:cNvSpPr txBox="1"/>
          <p:nvPr/>
        </p:nvSpPr>
        <p:spPr>
          <a:xfrm>
            <a:off x="450000" y="1133998"/>
            <a:ext cx="11160000" cy="50400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lIns="90000" tIns="54000" rIns="54000" bIns="54000" rtlCol="0" anchor="t">
            <a:noAutofit/>
          </a:bodyPr>
          <a:lstStyle/>
          <a:p>
            <a:pPr algn="just"/>
            <a:endParaRPr lang="en-US" altLang="ko-KR" sz="1600" dirty="0"/>
          </a:p>
          <a:p>
            <a:pPr algn="just"/>
            <a:endParaRPr lang="en-US" altLang="ko-KR" sz="1600" dirty="0"/>
          </a:p>
          <a:p>
            <a:pPr algn="just"/>
            <a:endParaRPr lang="en-US" altLang="ko-KR" sz="1600" dirty="0"/>
          </a:p>
          <a:p>
            <a:pPr algn="just"/>
            <a:endParaRPr lang="en-US" altLang="ko-KR" sz="1600" dirty="0"/>
          </a:p>
          <a:p>
            <a:pPr algn="just"/>
            <a:endParaRPr lang="en-US" altLang="ko-KR" sz="1600" dirty="0"/>
          </a:p>
          <a:p>
            <a:pPr algn="just"/>
            <a:endParaRPr lang="en-US" altLang="ko-KR" sz="1600" dirty="0"/>
          </a:p>
          <a:p>
            <a:pPr algn="just"/>
            <a:endParaRPr lang="en-US" altLang="ko-KR" sz="1600" dirty="0"/>
          </a:p>
          <a:p>
            <a:pPr algn="just"/>
            <a:endParaRPr lang="en-US" altLang="ko-KR" sz="1600" dirty="0"/>
          </a:p>
          <a:p>
            <a:pPr algn="just"/>
            <a:endParaRPr lang="en-US" altLang="ko-KR" sz="1600" dirty="0"/>
          </a:p>
          <a:p>
            <a:pPr algn="just">
              <a:lnSpc>
                <a:spcPct val="150000"/>
              </a:lnSpc>
            </a:pPr>
            <a:r>
              <a:rPr lang="ko-KR" altLang="en-US" sz="1600" dirty="0"/>
              <a:t>후보 영역 결정 방법</a:t>
            </a:r>
            <a:endParaRPr lang="en-US" altLang="ko-KR" sz="1600" dirty="0"/>
          </a:p>
          <a:p>
            <a:pPr marL="34290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ko-KR" altLang="en-US" sz="1600" dirty="0"/>
              <a:t>입력된 이미지를 매우 작은 크기의 픽셀 그룹으로 세분화함</a:t>
            </a:r>
            <a:endParaRPr lang="en-US" altLang="ko-KR" sz="1600" dirty="0"/>
          </a:p>
          <a:p>
            <a:pPr marL="34290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ko-KR" altLang="en-US" sz="1600" dirty="0"/>
              <a:t>색상</a:t>
            </a:r>
            <a:r>
              <a:rPr lang="en-US" altLang="ko-KR" sz="1600" dirty="0"/>
              <a:t>, </a:t>
            </a:r>
            <a:r>
              <a:rPr lang="ko-KR" altLang="en-US" sz="1600" dirty="0"/>
              <a:t>질감</a:t>
            </a:r>
            <a:r>
              <a:rPr lang="en-US" altLang="ko-KR" sz="1600" dirty="0"/>
              <a:t>, </a:t>
            </a:r>
            <a:r>
              <a:rPr lang="ko-KR" altLang="en-US" sz="1600" dirty="0"/>
              <a:t>크기</a:t>
            </a:r>
            <a:r>
              <a:rPr lang="en-US" altLang="ko-KR" sz="1600" dirty="0"/>
              <a:t>, </a:t>
            </a:r>
            <a:r>
              <a:rPr lang="ko-KR" altLang="en-US" sz="1600" dirty="0"/>
              <a:t>형태</a:t>
            </a:r>
            <a:r>
              <a:rPr lang="en-US" altLang="ko-KR" sz="1600" dirty="0"/>
              <a:t> </a:t>
            </a:r>
            <a:r>
              <a:rPr lang="ko-KR" altLang="en-US" sz="1600" dirty="0"/>
              <a:t>호환성</a:t>
            </a:r>
            <a:r>
              <a:rPr lang="en-US" altLang="ko-KR" sz="1600" dirty="0"/>
              <a:t>, </a:t>
            </a:r>
            <a:r>
              <a:rPr lang="ko-KR" altLang="en-US" sz="1600" dirty="0"/>
              <a:t>채움 방식 등의 특징을 통해 초기 영역을 계층적으로 병합함 </a:t>
            </a:r>
            <a:r>
              <a:rPr lang="en-US" altLang="ko-KR" sz="1600" dirty="0"/>
              <a:t>(Greedy </a:t>
            </a:r>
            <a:r>
              <a:rPr lang="ko-KR" altLang="en-US" sz="1600" dirty="0"/>
              <a:t>알고리즘 적용</a:t>
            </a:r>
            <a:r>
              <a:rPr lang="en-US" altLang="ko-KR" sz="1600" dirty="0"/>
              <a:t>)</a:t>
            </a:r>
          </a:p>
          <a:p>
            <a:pPr marL="34290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en-US" altLang="ko-KR" sz="1600" dirty="0"/>
              <a:t>2</a:t>
            </a:r>
            <a:r>
              <a:rPr lang="ko-KR" altLang="en-US" sz="1600" dirty="0"/>
              <a:t>번의 영역을 반복적으로 정제한 후</a:t>
            </a:r>
            <a:r>
              <a:rPr lang="en-US" altLang="ko-KR" sz="1600" dirty="0"/>
              <a:t>, </a:t>
            </a:r>
            <a:r>
              <a:rPr lang="ko-KR" altLang="en-US" sz="1600" dirty="0"/>
              <a:t>모든 경계 상자를 식별함</a:t>
            </a:r>
            <a:endParaRPr lang="en-US" altLang="ko-KR" sz="1600" dirty="0"/>
          </a:p>
          <a:p>
            <a:pPr marL="34290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ko-KR" altLang="en-US" sz="1600" dirty="0"/>
              <a:t>예측하는 경계 상자에서 객체 경계와 더 잘 일치하는 상자를 후보로 정하며</a:t>
            </a:r>
            <a:r>
              <a:rPr lang="en-US" altLang="ko-KR" sz="1600" dirty="0"/>
              <a:t>, </a:t>
            </a:r>
            <a:r>
              <a:rPr lang="ko-KR" altLang="en-US" sz="1600" dirty="0"/>
              <a:t>경계 상자의 위치를 조정함</a:t>
            </a:r>
            <a:endParaRPr lang="en-US" altLang="ko-KR" sz="1600" dirty="0"/>
          </a:p>
          <a:p>
            <a:pPr marL="34290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ko-KR" altLang="en-US" sz="1600" dirty="0"/>
              <a:t>후보 위치를 갖는 이미지들</a:t>
            </a:r>
            <a:r>
              <a:rPr lang="en-US" altLang="ko-KR" sz="1600" dirty="0"/>
              <a:t>(</a:t>
            </a:r>
            <a:r>
              <a:rPr lang="ko-KR" altLang="en-US" sz="1600" dirty="0"/>
              <a:t>약</a:t>
            </a:r>
            <a:r>
              <a:rPr lang="en-US" altLang="ko-KR" sz="1600" dirty="0"/>
              <a:t> 2,000</a:t>
            </a:r>
            <a:r>
              <a:rPr lang="ko-KR" altLang="en-US" sz="1600" dirty="0"/>
              <a:t>개</a:t>
            </a:r>
            <a:r>
              <a:rPr lang="en-US" altLang="ko-KR" sz="1600" dirty="0"/>
              <a:t>) </a:t>
            </a:r>
            <a:r>
              <a:rPr lang="ko-KR" altLang="en-US" sz="1600" dirty="0"/>
              <a:t>정도를 계산하여 객체 분류 모델을 위한 입력으로 사용함</a:t>
            </a:r>
            <a:endParaRPr lang="en-US" altLang="ko-KR" sz="16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077D404-C7A3-9F67-125F-2FF7CDAFCC77}"/>
              </a:ext>
            </a:extLst>
          </p:cNvPr>
          <p:cNvSpPr/>
          <p:nvPr/>
        </p:nvSpPr>
        <p:spPr>
          <a:xfrm>
            <a:off x="450000" y="953502"/>
            <a:ext cx="450000" cy="180000"/>
          </a:xfrm>
          <a:prstGeom prst="rect">
            <a:avLst/>
          </a:prstGeom>
          <a:solidFill>
            <a:srgbClr val="92D050"/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/>
              <a:t>내용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B211377-961A-7F90-02B7-DF96B6810958}"/>
              </a:ext>
            </a:extLst>
          </p:cNvPr>
          <p:cNvSpPr/>
          <p:nvPr/>
        </p:nvSpPr>
        <p:spPr>
          <a:xfrm>
            <a:off x="504000" y="1188000"/>
            <a:ext cx="10512000" cy="1944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A851C5C6-B1A8-D822-969A-3CF4FAD641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000" y="1260000"/>
            <a:ext cx="1800000" cy="180000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C3C922CA-B8C4-738C-806F-78390A3E43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00000" y="1260000"/>
            <a:ext cx="1800000" cy="1800000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F6CCAD92-5AE3-98AB-30D1-703C1ACED1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0000" y="1260000"/>
            <a:ext cx="1800000" cy="1800000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2F998582-B7D6-ECD2-3143-C684B30EF70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20000" y="1260000"/>
            <a:ext cx="1800000" cy="1800000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3093040B-5458-467E-2402-A3806231EF9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80000" y="1260000"/>
            <a:ext cx="1800000" cy="1800000"/>
          </a:xfrm>
          <a:prstGeom prst="rect">
            <a:avLst/>
          </a:prstGeom>
        </p:spPr>
      </p:pic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CEA15012-14AD-A6F3-D2D6-3E84BCBCA3DE}"/>
              </a:ext>
            </a:extLst>
          </p:cNvPr>
          <p:cNvCxnSpPr>
            <a:stCxn id="19" idx="3"/>
          </p:cNvCxnSpPr>
          <p:nvPr/>
        </p:nvCxnSpPr>
        <p:spPr>
          <a:xfrm>
            <a:off x="2340000" y="2160000"/>
            <a:ext cx="360000" cy="0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F822E890-753B-5B01-573C-A753C7E3B226}"/>
              </a:ext>
            </a:extLst>
          </p:cNvPr>
          <p:cNvCxnSpPr>
            <a:cxnSpLocks/>
            <a:stCxn id="21" idx="3"/>
            <a:endCxn id="23" idx="1"/>
          </p:cNvCxnSpPr>
          <p:nvPr/>
        </p:nvCxnSpPr>
        <p:spPr>
          <a:xfrm>
            <a:off x="4500000" y="2160000"/>
            <a:ext cx="360000" cy="0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577C67BB-76EB-F6FE-C8DE-7B95E52AD8CB}"/>
              </a:ext>
            </a:extLst>
          </p:cNvPr>
          <p:cNvCxnSpPr>
            <a:cxnSpLocks/>
            <a:stCxn id="23" idx="3"/>
            <a:endCxn id="25" idx="1"/>
          </p:cNvCxnSpPr>
          <p:nvPr/>
        </p:nvCxnSpPr>
        <p:spPr>
          <a:xfrm>
            <a:off x="6660000" y="2160000"/>
            <a:ext cx="360000" cy="0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D5BACBEA-434A-40B1-B75B-5373316ADF82}"/>
              </a:ext>
            </a:extLst>
          </p:cNvPr>
          <p:cNvCxnSpPr>
            <a:cxnSpLocks/>
            <a:stCxn id="25" idx="3"/>
            <a:endCxn id="27" idx="1"/>
          </p:cNvCxnSpPr>
          <p:nvPr/>
        </p:nvCxnSpPr>
        <p:spPr>
          <a:xfrm>
            <a:off x="8820000" y="2160000"/>
            <a:ext cx="360000" cy="0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23316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2E25A-7D38-EA68-5A1A-A500E9B47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490F4E78-ED4F-5DC2-9C8E-7FC1123B35F3}"/>
              </a:ext>
            </a:extLst>
          </p:cNvPr>
          <p:cNvCxnSpPr>
            <a:cxnSpLocks/>
          </p:cNvCxnSpPr>
          <p:nvPr/>
        </p:nvCxnSpPr>
        <p:spPr>
          <a:xfrm>
            <a:off x="0" y="0"/>
            <a:ext cx="8709" cy="64800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4C102686-69E0-84E8-B257-90A45B6D061E}"/>
              </a:ext>
            </a:extLst>
          </p:cNvPr>
          <p:cNvCxnSpPr>
            <a:cxnSpLocks/>
          </p:cNvCxnSpPr>
          <p:nvPr/>
        </p:nvCxnSpPr>
        <p:spPr>
          <a:xfrm>
            <a:off x="0" y="18000"/>
            <a:ext cx="1188000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CE7B027-F51D-1AC5-44C4-C4911D552C65}"/>
                  </a:ext>
                </a:extLst>
              </p:cNvPr>
              <p:cNvSpPr txBox="1"/>
              <p:nvPr/>
            </p:nvSpPr>
            <p:spPr>
              <a:xfrm>
                <a:off x="11790000" y="18000"/>
                <a:ext cx="180000" cy="180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ko-KR" altLang="en-US" sz="1000" b="1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CE7B027-F51D-1AC5-44C4-C4911D552C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0000" y="18000"/>
                <a:ext cx="180000" cy="180000"/>
              </a:xfrm>
              <a:prstGeom prst="rect">
                <a:avLst/>
              </a:prstGeom>
              <a:blipFill>
                <a:blip r:embed="rId3"/>
                <a:stretch>
                  <a:fillRect t="-17241" r="-23333" b="-379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54A47AB-3BC8-89D8-389B-BC6D59C63B6C}"/>
                  </a:ext>
                </a:extLst>
              </p:cNvPr>
              <p:cNvSpPr txBox="1"/>
              <p:nvPr/>
            </p:nvSpPr>
            <p:spPr>
              <a:xfrm>
                <a:off x="0" y="6390001"/>
                <a:ext cx="180000" cy="180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000" b="1" i="1" smtClean="0"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ko-KR" altLang="en-US" sz="1000" b="1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54A47AB-3BC8-89D8-389B-BC6D59C63B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390001"/>
                <a:ext cx="180000" cy="180000"/>
              </a:xfrm>
              <a:prstGeom prst="rect">
                <a:avLst/>
              </a:prstGeom>
              <a:blipFill>
                <a:blip r:embed="rId4"/>
                <a:stretch>
                  <a:fillRect l="-23333" t="-30000" r="-30000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0CDF9426-3323-F7BC-7950-FFBAAF735FD4}"/>
              </a:ext>
            </a:extLst>
          </p:cNvPr>
          <p:cNvSpPr txBox="1"/>
          <p:nvPr/>
        </p:nvSpPr>
        <p:spPr>
          <a:xfrm>
            <a:off x="360000" y="360000"/>
            <a:ext cx="2250000" cy="450000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2400" b="1" dirty="0"/>
              <a:t>2</a:t>
            </a:r>
            <a:r>
              <a:rPr lang="ko-KR" altLang="en-US" sz="2400" b="1" dirty="0"/>
              <a:t>단계 객체 인식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F0C246E-3060-75DC-A7A0-3F7D819D1C68}"/>
              </a:ext>
            </a:extLst>
          </p:cNvPr>
          <p:cNvSpPr/>
          <p:nvPr/>
        </p:nvSpPr>
        <p:spPr>
          <a:xfrm>
            <a:off x="360000" y="180000"/>
            <a:ext cx="450000" cy="1800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/>
              <a:t>목차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9ED137-4594-4558-93AA-37CEE2054213}"/>
              </a:ext>
            </a:extLst>
          </p:cNvPr>
          <p:cNvSpPr txBox="1"/>
          <p:nvPr/>
        </p:nvSpPr>
        <p:spPr>
          <a:xfrm>
            <a:off x="450000" y="1133998"/>
            <a:ext cx="11160000" cy="50400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lIns="54000" tIns="54000" rIns="54000" bIns="54000" rtlCol="0" anchor="t">
            <a:noAutofit/>
          </a:bodyPr>
          <a:lstStyle/>
          <a:p>
            <a:pPr algn="just"/>
            <a:r>
              <a:rPr lang="ko-KR" altLang="en-US" sz="1600" dirty="0"/>
              <a:t>결정된 후보 경계 상자를 신경망 모델에 넣기 전에</a:t>
            </a:r>
            <a:r>
              <a:rPr lang="en-US" altLang="ko-KR" sz="1600" dirty="0"/>
              <a:t> </a:t>
            </a:r>
            <a:r>
              <a:rPr lang="ko-KR" altLang="en-US" sz="1600" dirty="0"/>
              <a:t>일관된 입력 크기로 왜곡하여</a:t>
            </a:r>
            <a:r>
              <a:rPr lang="en-US" altLang="ko-KR" sz="1600" dirty="0"/>
              <a:t>, </a:t>
            </a:r>
            <a:r>
              <a:rPr lang="ko-KR" altLang="en-US" sz="1600" dirty="0"/>
              <a:t>왜곡된 프레임에 </a:t>
            </a:r>
            <a:r>
              <a:rPr lang="en-US" altLang="ko-KR" sz="1600" dirty="0"/>
              <a:t>16</a:t>
            </a:r>
            <a:r>
              <a:rPr lang="ko-KR" altLang="en-US" sz="1600" dirty="0"/>
              <a:t>픽셀의 특징 문맥을 생성함</a:t>
            </a:r>
            <a:endParaRPr lang="en-US" altLang="ko-KR" sz="1600" dirty="0"/>
          </a:p>
          <a:p>
            <a:pPr algn="just"/>
            <a:endParaRPr lang="en-US" altLang="ko-KR" sz="1600" dirty="0"/>
          </a:p>
          <a:p>
            <a:pPr algn="just"/>
            <a:endParaRPr lang="en-US" altLang="ko-KR" sz="1600" dirty="0"/>
          </a:p>
          <a:p>
            <a:pPr algn="just"/>
            <a:endParaRPr lang="en-US" altLang="ko-KR" sz="1600" dirty="0"/>
          </a:p>
          <a:p>
            <a:pPr algn="just"/>
            <a:endParaRPr lang="en-US" altLang="ko-KR" sz="1600" dirty="0"/>
          </a:p>
          <a:p>
            <a:pPr algn="just"/>
            <a:endParaRPr lang="en-US" altLang="ko-KR" sz="1600" dirty="0"/>
          </a:p>
          <a:p>
            <a:pPr algn="just"/>
            <a:endParaRPr lang="en-US" altLang="ko-KR" sz="1600" dirty="0"/>
          </a:p>
          <a:p>
            <a:pPr algn="just"/>
            <a:endParaRPr lang="en-US" altLang="ko-KR" sz="1600" dirty="0"/>
          </a:p>
          <a:p>
            <a:pPr algn="just"/>
            <a:endParaRPr lang="en-US" altLang="ko-KR" sz="1600" dirty="0"/>
          </a:p>
          <a:p>
            <a:pPr algn="just"/>
            <a:endParaRPr lang="en-US" altLang="ko-KR" sz="1600" dirty="0"/>
          </a:p>
          <a:p>
            <a:pPr algn="just"/>
            <a:endParaRPr lang="en-US" altLang="ko-KR" sz="1600" dirty="0"/>
          </a:p>
          <a:p>
            <a:pPr algn="just"/>
            <a:r>
              <a:rPr lang="ko-KR" altLang="en-US" sz="1600" dirty="0"/>
              <a:t>왜곡된 이미지를 </a:t>
            </a:r>
            <a:r>
              <a:rPr lang="en-US" altLang="ko-KR" sz="1600" dirty="0"/>
              <a:t>5</a:t>
            </a:r>
            <a:r>
              <a:rPr lang="ko-KR" altLang="en-US" sz="1600" dirty="0"/>
              <a:t>개의 </a:t>
            </a:r>
            <a:r>
              <a:rPr lang="en-US" altLang="ko-KR" sz="1600" dirty="0"/>
              <a:t>conv </a:t>
            </a:r>
            <a:r>
              <a:rPr lang="ko-KR" altLang="en-US" sz="1600" dirty="0"/>
              <a:t>레이어와 </a:t>
            </a:r>
            <a:r>
              <a:rPr lang="en-US" altLang="ko-KR" sz="1600" dirty="0"/>
              <a:t>2</a:t>
            </a:r>
            <a:r>
              <a:rPr lang="ko-KR" altLang="en-US" sz="1600" dirty="0"/>
              <a:t>개의 </a:t>
            </a:r>
            <a:r>
              <a:rPr lang="en-US" altLang="ko-KR" sz="1600" dirty="0"/>
              <a:t>FC </a:t>
            </a:r>
            <a:r>
              <a:rPr lang="ko-KR" altLang="en-US" sz="1600" dirty="0"/>
              <a:t>레이어에 입력하여 이미지 특징을 추출하고</a:t>
            </a:r>
            <a:r>
              <a:rPr lang="en-US" altLang="ko-KR" sz="1600" dirty="0"/>
              <a:t>, </a:t>
            </a:r>
            <a:r>
              <a:rPr lang="ko-KR" altLang="en-US" sz="1600" dirty="0"/>
              <a:t>선형 </a:t>
            </a:r>
            <a:r>
              <a:rPr lang="en-US" altLang="ko-KR" sz="1600" dirty="0"/>
              <a:t>SVM</a:t>
            </a:r>
            <a:r>
              <a:rPr lang="ko-KR" altLang="en-US" sz="1600" dirty="0"/>
              <a:t>을 사용하여 클래스를 분류함</a:t>
            </a:r>
            <a:endParaRPr lang="en-US" altLang="ko-KR" sz="1600" dirty="0"/>
          </a:p>
          <a:p>
            <a:pPr algn="just"/>
            <a:endParaRPr lang="en-US" altLang="ko-KR" sz="1600" dirty="0"/>
          </a:p>
          <a:p>
            <a:pPr algn="just"/>
            <a:r>
              <a:rPr lang="ko-KR" altLang="en-US" sz="1600" dirty="0"/>
              <a:t>각 클래스에 대해 고유한 </a:t>
            </a:r>
            <a:r>
              <a:rPr lang="en-US" altLang="ko-KR" sz="1600" dirty="0"/>
              <a:t>SVM</a:t>
            </a:r>
            <a:r>
              <a:rPr lang="ko-KR" altLang="en-US" sz="1600" dirty="0"/>
              <a:t>이 학습되어서</a:t>
            </a:r>
            <a:r>
              <a:rPr lang="en-US" altLang="ko-KR" sz="1600" dirty="0"/>
              <a:t>, </a:t>
            </a:r>
            <a:r>
              <a:rPr lang="ko-KR" altLang="en-US" sz="1600" dirty="0"/>
              <a:t>후보 지역 제안에 해당 클래스 인스턴스가 포함되는지 결정하는 방식을 사용함</a:t>
            </a:r>
            <a:endParaRPr lang="en-US" altLang="ko-KR" sz="16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041676D-AE87-8F21-281B-F1307EB3DC3B}"/>
              </a:ext>
            </a:extLst>
          </p:cNvPr>
          <p:cNvSpPr/>
          <p:nvPr/>
        </p:nvSpPr>
        <p:spPr>
          <a:xfrm>
            <a:off x="450000" y="953502"/>
            <a:ext cx="450000" cy="180000"/>
          </a:xfrm>
          <a:prstGeom prst="rect">
            <a:avLst/>
          </a:prstGeom>
          <a:solidFill>
            <a:srgbClr val="92D050"/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/>
              <a:t>내용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C6C2727F-3150-4D92-AE84-EE35654E69F1}"/>
              </a:ext>
            </a:extLst>
          </p:cNvPr>
          <p:cNvSpPr/>
          <p:nvPr/>
        </p:nvSpPr>
        <p:spPr>
          <a:xfrm>
            <a:off x="2880000" y="1783342"/>
            <a:ext cx="5058000" cy="1800000"/>
          </a:xfrm>
          <a:prstGeom prst="roundRect">
            <a:avLst>
              <a:gd name="adj" fmla="val 3096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Picture 5" descr="A person riding a horse&#10;&#10;Description automatically generated">
            <a:extLst>
              <a:ext uri="{FF2B5EF4-FFF2-40B4-BE49-F238E27FC236}">
                <a16:creationId xmlns:a16="http://schemas.microsoft.com/office/drawing/2014/main" id="{B7518899-A243-85B2-2357-82799CBAE3DB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" t="3931" r="85920" b="2793"/>
          <a:stretch>
            <a:fillRect/>
          </a:stretch>
        </p:blipFill>
        <p:spPr>
          <a:xfrm>
            <a:off x="675000" y="2143342"/>
            <a:ext cx="540000" cy="1080000"/>
          </a:xfrm>
          <a:prstGeom prst="rect">
            <a:avLst/>
          </a:prstGeom>
        </p:spPr>
      </p:pic>
      <p:pic>
        <p:nvPicPr>
          <p:cNvPr id="20" name="Picture 5" descr="A person riding a horse&#10;&#10;Description automatically generated">
            <a:extLst>
              <a:ext uri="{FF2B5EF4-FFF2-40B4-BE49-F238E27FC236}">
                <a16:creationId xmlns:a16="http://schemas.microsoft.com/office/drawing/2014/main" id="{DA245820-9288-21C1-4945-9907D08C409C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72" t="4010" r="39064" b="3631"/>
          <a:stretch>
            <a:fillRect/>
          </a:stretch>
        </p:blipFill>
        <p:spPr>
          <a:xfrm>
            <a:off x="1710000" y="2143342"/>
            <a:ext cx="1080000" cy="1080000"/>
          </a:xfrm>
          <a:prstGeom prst="rect">
            <a:avLst/>
          </a:prstGeom>
        </p:spPr>
      </p:pic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DF36C793-46FE-6A49-8124-DCCCBE0F70C2}"/>
              </a:ext>
            </a:extLst>
          </p:cNvPr>
          <p:cNvCxnSpPr>
            <a:cxnSpLocks/>
            <a:stCxn id="18" idx="3"/>
            <a:endCxn id="20" idx="1"/>
          </p:cNvCxnSpPr>
          <p:nvPr/>
        </p:nvCxnSpPr>
        <p:spPr>
          <a:xfrm>
            <a:off x="1215000" y="2683342"/>
            <a:ext cx="495000" cy="0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37D33B5-BC0B-8128-BA3E-7BA967B74D1D}"/>
              </a:ext>
            </a:extLst>
          </p:cNvPr>
          <p:cNvSpPr/>
          <p:nvPr/>
        </p:nvSpPr>
        <p:spPr>
          <a:xfrm>
            <a:off x="3111500" y="1963342"/>
            <a:ext cx="360000" cy="1440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C4EE0D6-21AB-CC8A-7EBC-6F4D44827969}"/>
              </a:ext>
            </a:extLst>
          </p:cNvPr>
          <p:cNvSpPr/>
          <p:nvPr/>
        </p:nvSpPr>
        <p:spPr>
          <a:xfrm>
            <a:off x="3696500" y="1963342"/>
            <a:ext cx="360000" cy="1440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FFB36C4-41CE-3C6F-2808-39873A27F089}"/>
              </a:ext>
            </a:extLst>
          </p:cNvPr>
          <p:cNvSpPr/>
          <p:nvPr/>
        </p:nvSpPr>
        <p:spPr>
          <a:xfrm>
            <a:off x="4281500" y="1963342"/>
            <a:ext cx="360000" cy="1440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2DDF1A7-AAA5-9CA2-18D0-2D4A7C4E555D}"/>
              </a:ext>
            </a:extLst>
          </p:cNvPr>
          <p:cNvSpPr/>
          <p:nvPr/>
        </p:nvSpPr>
        <p:spPr>
          <a:xfrm>
            <a:off x="4866500" y="1963342"/>
            <a:ext cx="360000" cy="1440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4BAA0ED-069B-F6C6-ED40-7CC2D5D0B099}"/>
              </a:ext>
            </a:extLst>
          </p:cNvPr>
          <p:cNvSpPr/>
          <p:nvPr/>
        </p:nvSpPr>
        <p:spPr>
          <a:xfrm>
            <a:off x="5451500" y="1963342"/>
            <a:ext cx="360000" cy="1440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94D39B79-A27C-8EEA-0883-9C4ADD6C2726}"/>
              </a:ext>
            </a:extLst>
          </p:cNvPr>
          <p:cNvSpPr/>
          <p:nvPr/>
        </p:nvSpPr>
        <p:spPr>
          <a:xfrm>
            <a:off x="6200502" y="2503342"/>
            <a:ext cx="360000" cy="360000"/>
          </a:xfrm>
          <a:prstGeom prst="roundRect">
            <a:avLst>
              <a:gd name="adj" fmla="val 26929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43CFD0F-A4FA-844B-257C-1564D1E1FB34}"/>
                  </a:ext>
                </a:extLst>
              </p:cNvPr>
              <p:cNvSpPr txBox="1"/>
              <p:nvPr/>
            </p:nvSpPr>
            <p:spPr>
              <a:xfrm>
                <a:off x="5811498" y="2593342"/>
                <a:ext cx="389003" cy="180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altLang="ko-KR" b="0" dirty="0"/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43CFD0F-A4FA-844B-257C-1564D1E1FB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1498" y="2593342"/>
                <a:ext cx="389003" cy="180000"/>
              </a:xfrm>
              <a:prstGeom prst="rect">
                <a:avLst/>
              </a:prstGeom>
              <a:blipFill>
                <a:blip r:embed="rId6"/>
                <a:stretch>
                  <a:fillRect t="-66667" r="-20313" b="-10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BFE611C-428D-1BB7-30AA-2EA65E5EC457}"/>
                  </a:ext>
                </a:extLst>
              </p:cNvPr>
              <p:cNvSpPr txBox="1"/>
              <p:nvPr/>
            </p:nvSpPr>
            <p:spPr>
              <a:xfrm>
                <a:off x="6560499" y="2593342"/>
                <a:ext cx="389003" cy="180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altLang="ko-KR" b="0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BFE611C-428D-1BB7-30AA-2EA65E5EC4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0499" y="2593342"/>
                <a:ext cx="389003" cy="180000"/>
              </a:xfrm>
              <a:prstGeom prst="rect">
                <a:avLst/>
              </a:prstGeom>
              <a:blipFill>
                <a:blip r:embed="rId7"/>
                <a:stretch>
                  <a:fillRect t="-66667" r="-20313" b="-10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직사각형 39">
            <a:extLst>
              <a:ext uri="{FF2B5EF4-FFF2-40B4-BE49-F238E27FC236}">
                <a16:creationId xmlns:a16="http://schemas.microsoft.com/office/drawing/2014/main" id="{81FC7FD5-07D9-5970-2FAF-07FFF4894DEF}"/>
              </a:ext>
            </a:extLst>
          </p:cNvPr>
          <p:cNvSpPr/>
          <p:nvPr/>
        </p:nvSpPr>
        <p:spPr>
          <a:xfrm>
            <a:off x="6955750" y="2143342"/>
            <a:ext cx="270000" cy="108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870A2036-AC0F-B3AF-B41A-6FBA1DC17D9D}"/>
              </a:ext>
            </a:extLst>
          </p:cNvPr>
          <p:cNvSpPr/>
          <p:nvPr/>
        </p:nvSpPr>
        <p:spPr>
          <a:xfrm>
            <a:off x="7453252" y="2143342"/>
            <a:ext cx="270000" cy="108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CA35E0B-1BEA-E9A4-C54F-EF808C8DC9F3}"/>
              </a:ext>
            </a:extLst>
          </p:cNvPr>
          <p:cNvSpPr txBox="1"/>
          <p:nvPr/>
        </p:nvSpPr>
        <p:spPr>
          <a:xfrm>
            <a:off x="3111500" y="1603094"/>
            <a:ext cx="2699998" cy="1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200" dirty="0"/>
              <a:t>Conv layer</a:t>
            </a:r>
            <a:endParaRPr lang="en-US" altLang="ko-KR" sz="1200" b="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632EE18-0CF1-62F0-8DC2-AA1F3DD8F8FF}"/>
              </a:ext>
            </a:extLst>
          </p:cNvPr>
          <p:cNvSpPr txBox="1"/>
          <p:nvPr/>
        </p:nvSpPr>
        <p:spPr>
          <a:xfrm>
            <a:off x="6949502" y="1603093"/>
            <a:ext cx="773750" cy="17999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200" dirty="0"/>
              <a:t>FC layer</a:t>
            </a:r>
            <a:endParaRPr lang="en-US" altLang="ko-KR" sz="1200" b="0" dirty="0"/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72E4E3AE-D35A-F9EE-7041-BC1453F1CEE2}"/>
              </a:ext>
            </a:extLst>
          </p:cNvPr>
          <p:cNvSpPr/>
          <p:nvPr/>
        </p:nvSpPr>
        <p:spPr>
          <a:xfrm>
            <a:off x="8169500" y="2413342"/>
            <a:ext cx="1260000" cy="540000"/>
          </a:xfrm>
          <a:prstGeom prst="roundRect">
            <a:avLst/>
          </a:prstGeom>
          <a:solidFill>
            <a:srgbClr val="D5B8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SVM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6" name="양쪽 대괄호 45">
            <a:extLst>
              <a:ext uri="{FF2B5EF4-FFF2-40B4-BE49-F238E27FC236}">
                <a16:creationId xmlns:a16="http://schemas.microsoft.com/office/drawing/2014/main" id="{CAB62301-48B5-2377-D2E0-3D65A3C8FE64}"/>
              </a:ext>
            </a:extLst>
          </p:cNvPr>
          <p:cNvSpPr/>
          <p:nvPr/>
        </p:nvSpPr>
        <p:spPr>
          <a:xfrm>
            <a:off x="9720000" y="1890000"/>
            <a:ext cx="1260000" cy="360000"/>
          </a:xfrm>
          <a:prstGeom prst="bracketPair">
            <a:avLst/>
          </a:prstGeom>
          <a:ln>
            <a:solidFill>
              <a:srgbClr val="D5B8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class 1</a:t>
            </a:r>
            <a:endParaRPr lang="ko-KR" altLang="en-US" sz="1400" dirty="0"/>
          </a:p>
        </p:txBody>
      </p:sp>
      <p:sp>
        <p:nvSpPr>
          <p:cNvPr id="47" name="양쪽 대괄호 46">
            <a:extLst>
              <a:ext uri="{FF2B5EF4-FFF2-40B4-BE49-F238E27FC236}">
                <a16:creationId xmlns:a16="http://schemas.microsoft.com/office/drawing/2014/main" id="{5B2ADFC9-E029-D2AE-298D-9627FBFEC889}"/>
              </a:ext>
            </a:extLst>
          </p:cNvPr>
          <p:cNvSpPr/>
          <p:nvPr/>
        </p:nvSpPr>
        <p:spPr>
          <a:xfrm>
            <a:off x="9720000" y="2503342"/>
            <a:ext cx="1260000" cy="360000"/>
          </a:xfrm>
          <a:prstGeom prst="bracketPair">
            <a:avLst/>
          </a:prstGeom>
          <a:ln>
            <a:solidFill>
              <a:srgbClr val="D5B8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class 2</a:t>
            </a:r>
            <a:endParaRPr lang="ko-KR" altLang="en-US" sz="1400" dirty="0"/>
          </a:p>
        </p:txBody>
      </p:sp>
      <p:sp>
        <p:nvSpPr>
          <p:cNvPr id="48" name="양쪽 대괄호 47">
            <a:extLst>
              <a:ext uri="{FF2B5EF4-FFF2-40B4-BE49-F238E27FC236}">
                <a16:creationId xmlns:a16="http://schemas.microsoft.com/office/drawing/2014/main" id="{86EA1074-BC81-EB9E-F275-0A1257533EDA}"/>
              </a:ext>
            </a:extLst>
          </p:cNvPr>
          <p:cNvSpPr/>
          <p:nvPr/>
        </p:nvSpPr>
        <p:spPr>
          <a:xfrm>
            <a:off x="9720000" y="3116684"/>
            <a:ext cx="1260000" cy="360000"/>
          </a:xfrm>
          <a:prstGeom prst="bracketPair">
            <a:avLst/>
          </a:prstGeom>
          <a:ln>
            <a:solidFill>
              <a:srgbClr val="D5B8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class 3</a:t>
            </a:r>
            <a:endParaRPr lang="ko-KR" altLang="en-US" sz="1400" dirty="0"/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55D7FDA7-A0D1-518E-0846-8D7C1055985E}"/>
              </a:ext>
            </a:extLst>
          </p:cNvPr>
          <p:cNvCxnSpPr>
            <a:stCxn id="45" idx="3"/>
            <a:endCxn id="46" idx="1"/>
          </p:cNvCxnSpPr>
          <p:nvPr/>
        </p:nvCxnSpPr>
        <p:spPr>
          <a:xfrm flipV="1">
            <a:off x="9429500" y="2070000"/>
            <a:ext cx="290500" cy="613342"/>
          </a:xfrm>
          <a:prstGeom prst="straightConnector1">
            <a:avLst/>
          </a:prstGeom>
          <a:ln>
            <a:solidFill>
              <a:srgbClr val="D5B8E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6BFB66DD-1795-C4F4-24A9-00BCD2AC8035}"/>
              </a:ext>
            </a:extLst>
          </p:cNvPr>
          <p:cNvCxnSpPr>
            <a:cxnSpLocks/>
            <a:stCxn id="45" idx="3"/>
            <a:endCxn id="47" idx="1"/>
          </p:cNvCxnSpPr>
          <p:nvPr/>
        </p:nvCxnSpPr>
        <p:spPr>
          <a:xfrm>
            <a:off x="9429500" y="2683342"/>
            <a:ext cx="290500" cy="0"/>
          </a:xfrm>
          <a:prstGeom prst="straightConnector1">
            <a:avLst/>
          </a:prstGeom>
          <a:ln>
            <a:solidFill>
              <a:srgbClr val="D5B8E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005170E9-1D81-5125-383B-688FB82CA989}"/>
              </a:ext>
            </a:extLst>
          </p:cNvPr>
          <p:cNvCxnSpPr>
            <a:cxnSpLocks/>
            <a:stCxn id="45" idx="3"/>
            <a:endCxn id="48" idx="1"/>
          </p:cNvCxnSpPr>
          <p:nvPr/>
        </p:nvCxnSpPr>
        <p:spPr>
          <a:xfrm>
            <a:off x="9429500" y="2683342"/>
            <a:ext cx="290500" cy="613342"/>
          </a:xfrm>
          <a:prstGeom prst="straightConnector1">
            <a:avLst/>
          </a:prstGeom>
          <a:ln>
            <a:solidFill>
              <a:srgbClr val="D5B8E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B00449C-53FB-F1D6-DDDF-982C5E660C24}"/>
              </a:ext>
            </a:extLst>
          </p:cNvPr>
          <p:cNvSpPr txBox="1"/>
          <p:nvPr/>
        </p:nvSpPr>
        <p:spPr>
          <a:xfrm>
            <a:off x="1710000" y="1602000"/>
            <a:ext cx="1080000" cy="1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200" b="0" dirty="0"/>
              <a:t>Warp Image</a:t>
            </a:r>
          </a:p>
        </p:txBody>
      </p:sp>
    </p:spTree>
    <p:extLst>
      <p:ext uri="{BB962C8B-B14F-4D97-AF65-F5344CB8AC3E}">
        <p14:creationId xmlns:p14="http://schemas.microsoft.com/office/powerpoint/2010/main" val="21783892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BC057-3409-D40D-0E00-1E3F57D7A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A7C72A7F-4101-AAC7-79AB-E76D582244A3}"/>
              </a:ext>
            </a:extLst>
          </p:cNvPr>
          <p:cNvCxnSpPr>
            <a:cxnSpLocks/>
          </p:cNvCxnSpPr>
          <p:nvPr/>
        </p:nvCxnSpPr>
        <p:spPr>
          <a:xfrm>
            <a:off x="0" y="0"/>
            <a:ext cx="8709" cy="64800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5F109D1-7497-660F-8257-2B8A7ECA98D8}"/>
              </a:ext>
            </a:extLst>
          </p:cNvPr>
          <p:cNvCxnSpPr>
            <a:cxnSpLocks/>
          </p:cNvCxnSpPr>
          <p:nvPr/>
        </p:nvCxnSpPr>
        <p:spPr>
          <a:xfrm>
            <a:off x="0" y="18000"/>
            <a:ext cx="1188000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0693ECE-B75A-D9DA-226E-AB2158E19431}"/>
                  </a:ext>
                </a:extLst>
              </p:cNvPr>
              <p:cNvSpPr txBox="1"/>
              <p:nvPr/>
            </p:nvSpPr>
            <p:spPr>
              <a:xfrm>
                <a:off x="11790000" y="18000"/>
                <a:ext cx="180000" cy="180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ko-KR" altLang="en-US" sz="10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6E89071-11C8-1B01-228C-CDCC5442B3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0000" y="18000"/>
                <a:ext cx="180000" cy="180000"/>
              </a:xfrm>
              <a:prstGeom prst="rect">
                <a:avLst/>
              </a:prstGeom>
              <a:blipFill>
                <a:blip r:embed="rId3"/>
                <a:stretch>
                  <a:fillRect t="-17241" r="-23333" b="-379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3562A8A-3436-A6BB-901F-65773F0A2FC7}"/>
                  </a:ext>
                </a:extLst>
              </p:cNvPr>
              <p:cNvSpPr txBox="1"/>
              <p:nvPr/>
            </p:nvSpPr>
            <p:spPr>
              <a:xfrm>
                <a:off x="0" y="6390001"/>
                <a:ext cx="180000" cy="180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000" b="1" i="1" smtClean="0"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ko-KR" altLang="en-US" sz="10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2965332-0EEF-840B-EADD-9394FE75AE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390001"/>
                <a:ext cx="180000" cy="180000"/>
              </a:xfrm>
              <a:prstGeom prst="rect">
                <a:avLst/>
              </a:prstGeom>
              <a:blipFill>
                <a:blip r:embed="rId4"/>
                <a:stretch>
                  <a:fillRect l="-23333" t="-30000" r="-30000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AA93E6AE-2D13-C496-FC6F-096D84601BA3}"/>
              </a:ext>
            </a:extLst>
          </p:cNvPr>
          <p:cNvSpPr txBox="1"/>
          <p:nvPr/>
        </p:nvSpPr>
        <p:spPr>
          <a:xfrm>
            <a:off x="360000" y="360000"/>
            <a:ext cx="2250000" cy="450000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2400" b="1" dirty="0"/>
              <a:t>2</a:t>
            </a:r>
            <a:r>
              <a:rPr lang="ko-KR" altLang="en-US" sz="2400" b="1" dirty="0"/>
              <a:t>단계 객체 인식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3A327FA-3675-24F9-1EEE-50BC32FEF5F1}"/>
              </a:ext>
            </a:extLst>
          </p:cNvPr>
          <p:cNvSpPr/>
          <p:nvPr/>
        </p:nvSpPr>
        <p:spPr>
          <a:xfrm>
            <a:off x="360000" y="180000"/>
            <a:ext cx="450000" cy="1800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/>
              <a:t>목차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CBE83-0607-DE10-4FFF-557771952D67}"/>
              </a:ext>
            </a:extLst>
          </p:cNvPr>
          <p:cNvSpPr txBox="1"/>
          <p:nvPr/>
        </p:nvSpPr>
        <p:spPr>
          <a:xfrm>
            <a:off x="439800" y="1133502"/>
            <a:ext cx="11160000" cy="50400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lIns="54000" tIns="54000" rIns="54000" bIns="54000" rtlCol="0" anchor="t">
            <a:noAutofit/>
          </a:bodyPr>
          <a:lstStyle/>
          <a:p>
            <a:pPr algn="just"/>
            <a:r>
              <a:rPr lang="en-US" altLang="ko-KR" sz="1600" dirty="0"/>
              <a:t>R-CNN </a:t>
            </a:r>
            <a:r>
              <a:rPr lang="ko-KR" altLang="en-US" sz="1600" dirty="0"/>
              <a:t>모델은 객체를 분류하는 것 이외에도 경계 상자 회귀</a:t>
            </a:r>
            <a:r>
              <a:rPr lang="en-US" altLang="ko-KR" sz="1600" dirty="0"/>
              <a:t>(Regression)</a:t>
            </a:r>
            <a:r>
              <a:rPr lang="ko-KR" altLang="en-US" sz="1600" dirty="0"/>
              <a:t>를 수행함</a:t>
            </a:r>
            <a:endParaRPr lang="en-US" altLang="ko-KR" sz="1600" dirty="0"/>
          </a:p>
          <a:p>
            <a:pPr algn="just"/>
            <a:endParaRPr lang="en-US" altLang="ko-KR" sz="1600" dirty="0"/>
          </a:p>
          <a:p>
            <a:pPr algn="just"/>
            <a:r>
              <a:rPr lang="ko-KR" altLang="en-US" sz="1600" dirty="0"/>
              <a:t>회귀 방식의 목적은 기존의 제안된 후보 지역의 경계 상자를 실제 객체 경계에 더 잘 맞도록 조정하는 미세 조정</a:t>
            </a:r>
            <a:r>
              <a:rPr lang="en-US" altLang="ko-KR" sz="1600" dirty="0"/>
              <a:t>(Fine-tune)</a:t>
            </a:r>
            <a:r>
              <a:rPr lang="ko-KR" altLang="en-US" sz="1600" dirty="0"/>
              <a:t>을 적용하는 것으로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IoU</a:t>
            </a:r>
            <a:r>
              <a:rPr lang="en-US" altLang="ko-KR" sz="1600" dirty="0"/>
              <a:t>(Intersection over Union) </a:t>
            </a:r>
            <a:r>
              <a:rPr lang="ko-KR" altLang="en-US" sz="1600" dirty="0"/>
              <a:t>중첩을 통하여 경계 상자를 수정함</a:t>
            </a:r>
            <a:endParaRPr lang="en-US" altLang="ko-KR" sz="1600" dirty="0"/>
          </a:p>
          <a:p>
            <a:pPr algn="just"/>
            <a:endParaRPr lang="en-US" altLang="ko-KR" sz="1600" dirty="0"/>
          </a:p>
          <a:p>
            <a:pPr algn="just"/>
            <a:r>
              <a:rPr lang="ko-KR" altLang="en-US" sz="1600" dirty="0"/>
              <a:t> </a:t>
            </a:r>
            <a:endParaRPr lang="en-US" altLang="ko-KR" sz="16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0C1EA61-88BE-31B5-B08E-00FEBFB2FF31}"/>
              </a:ext>
            </a:extLst>
          </p:cNvPr>
          <p:cNvSpPr/>
          <p:nvPr/>
        </p:nvSpPr>
        <p:spPr>
          <a:xfrm>
            <a:off x="450000" y="953502"/>
            <a:ext cx="450000" cy="180000"/>
          </a:xfrm>
          <a:prstGeom prst="rect">
            <a:avLst/>
          </a:prstGeom>
          <a:solidFill>
            <a:srgbClr val="92D050"/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/>
              <a:t>내용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6E2B7BE-A97D-81B2-BF2F-CFC6B6D16BBA}"/>
                  </a:ext>
                </a:extLst>
              </p:cNvPr>
              <p:cNvSpPr txBox="1"/>
              <p:nvPr/>
            </p:nvSpPr>
            <p:spPr>
              <a:xfrm>
                <a:off x="1080000" y="2880000"/>
                <a:ext cx="2880000" cy="720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𝐼𝑜𝑈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∩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∪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6E2B7BE-A97D-81B2-BF2F-CFC6B6D16B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0000" y="2880000"/>
                <a:ext cx="2880000" cy="7200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8" descr="A black background with white text and green squares&#10;&#10;Description automatically generated">
            <a:extLst>
              <a:ext uri="{FF2B5EF4-FFF2-40B4-BE49-F238E27FC236}">
                <a16:creationId xmlns:a16="http://schemas.microsoft.com/office/drawing/2014/main" id="{8717D8A7-0BF1-8944-03EC-1284BB99D9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283" t="13255" r="4079" b="11985"/>
          <a:stretch>
            <a:fillRect/>
          </a:stretch>
        </p:blipFill>
        <p:spPr>
          <a:xfrm>
            <a:off x="8820000" y="2700000"/>
            <a:ext cx="1440000" cy="1080000"/>
          </a:xfrm>
          <a:prstGeom prst="rect">
            <a:avLst/>
          </a:prstGeom>
        </p:spPr>
      </p:pic>
      <p:pic>
        <p:nvPicPr>
          <p:cNvPr id="16" name="Picture 8" descr="A black background with white text and green squares&#10;&#10;Description automatically generated">
            <a:extLst>
              <a:ext uri="{FF2B5EF4-FFF2-40B4-BE49-F238E27FC236}">
                <a16:creationId xmlns:a16="http://schemas.microsoft.com/office/drawing/2014/main" id="{77348DBA-1E02-0202-C149-3C0B69FC260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2" t="11374" r="68968" b="13865"/>
          <a:stretch>
            <a:fillRect/>
          </a:stretch>
        </p:blipFill>
        <p:spPr>
          <a:xfrm>
            <a:off x="5040000" y="2700000"/>
            <a:ext cx="1440000" cy="1080000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90CE745D-4DC0-4EC0-5D72-F6CC6B8E53BB}"/>
              </a:ext>
            </a:extLst>
          </p:cNvPr>
          <p:cNvSpPr/>
          <p:nvPr/>
        </p:nvSpPr>
        <p:spPr>
          <a:xfrm>
            <a:off x="7380000" y="2610000"/>
            <a:ext cx="360000" cy="360000"/>
          </a:xfrm>
          <a:prstGeom prst="rect">
            <a:avLst/>
          </a:prstGeom>
          <a:noFill/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841E089-2E5B-285A-BFE5-93FCBF2E5A33}"/>
              </a:ext>
            </a:extLst>
          </p:cNvPr>
          <p:cNvSpPr/>
          <p:nvPr/>
        </p:nvSpPr>
        <p:spPr>
          <a:xfrm>
            <a:off x="7560000" y="2790000"/>
            <a:ext cx="360000" cy="360000"/>
          </a:xfrm>
          <a:prstGeom prst="rect">
            <a:avLst/>
          </a:prstGeom>
          <a:noFill/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05450FB-240D-F903-760F-DD5B43EFB4C7}"/>
              </a:ext>
            </a:extLst>
          </p:cNvPr>
          <p:cNvSpPr/>
          <p:nvPr/>
        </p:nvSpPr>
        <p:spPr>
          <a:xfrm>
            <a:off x="7380000" y="3330000"/>
            <a:ext cx="360000" cy="360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6237243-FF73-9980-95DD-1BBADC40B3F4}"/>
              </a:ext>
            </a:extLst>
          </p:cNvPr>
          <p:cNvSpPr/>
          <p:nvPr/>
        </p:nvSpPr>
        <p:spPr>
          <a:xfrm>
            <a:off x="7560000" y="3510000"/>
            <a:ext cx="360000" cy="360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093CECA-7A2C-3D07-AF57-FB35ECF1897D}"/>
              </a:ext>
            </a:extLst>
          </p:cNvPr>
          <p:cNvSpPr/>
          <p:nvPr/>
        </p:nvSpPr>
        <p:spPr>
          <a:xfrm>
            <a:off x="7560000" y="2790000"/>
            <a:ext cx="180000" cy="180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2D70DBBD-702D-8B79-E15E-8EF870163286}"/>
              </a:ext>
            </a:extLst>
          </p:cNvPr>
          <p:cNvCxnSpPr/>
          <p:nvPr/>
        </p:nvCxnSpPr>
        <p:spPr>
          <a:xfrm>
            <a:off x="6930000" y="3240000"/>
            <a:ext cx="1440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3709A79-8E0E-0711-6A62-AD4F2274D64F}"/>
              </a:ext>
            </a:extLst>
          </p:cNvPr>
          <p:cNvSpPr txBox="1"/>
          <p:nvPr/>
        </p:nvSpPr>
        <p:spPr>
          <a:xfrm>
            <a:off x="7380000" y="2610000"/>
            <a:ext cx="90000" cy="9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600" b="1" dirty="0"/>
              <a:t>A</a:t>
            </a:r>
            <a:endParaRPr lang="ko-KR" altLang="en-US" sz="6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9AB10EB-333C-ABB9-C2F0-9C70DF94B925}"/>
              </a:ext>
            </a:extLst>
          </p:cNvPr>
          <p:cNvSpPr txBox="1"/>
          <p:nvPr/>
        </p:nvSpPr>
        <p:spPr>
          <a:xfrm>
            <a:off x="7830000" y="3060000"/>
            <a:ext cx="90000" cy="9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600" b="1" dirty="0"/>
              <a:t>B</a:t>
            </a:r>
            <a:endParaRPr lang="ko-KR" altLang="en-US" sz="6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6AB5494-E30A-9F50-86C7-99255A27D68B}"/>
              </a:ext>
            </a:extLst>
          </p:cNvPr>
          <p:cNvSpPr txBox="1"/>
          <p:nvPr/>
        </p:nvSpPr>
        <p:spPr>
          <a:xfrm>
            <a:off x="7380000" y="3330001"/>
            <a:ext cx="90000" cy="9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600" b="1" dirty="0">
                <a:solidFill>
                  <a:schemeClr val="bg1"/>
                </a:solidFill>
              </a:rPr>
              <a:t>A</a:t>
            </a:r>
            <a:endParaRPr lang="ko-KR" altLang="en-US" sz="600" b="1" dirty="0">
              <a:solidFill>
                <a:schemeClr val="bg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F4A6506-5B92-0111-3A59-68F062678448}"/>
              </a:ext>
            </a:extLst>
          </p:cNvPr>
          <p:cNvSpPr txBox="1"/>
          <p:nvPr/>
        </p:nvSpPr>
        <p:spPr>
          <a:xfrm>
            <a:off x="7830000" y="3780000"/>
            <a:ext cx="90000" cy="9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600" b="1" dirty="0">
                <a:solidFill>
                  <a:schemeClr val="bg1"/>
                </a:solidFill>
              </a:rPr>
              <a:t>A</a:t>
            </a:r>
            <a:endParaRPr lang="ko-KR" altLang="en-US" sz="600" b="1" dirty="0">
              <a:solidFill>
                <a:schemeClr val="bg1"/>
              </a:solidFill>
            </a:endParaRP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6CA001D4-FAD5-0561-C925-F1C99952FB67}"/>
              </a:ext>
            </a:extLst>
          </p:cNvPr>
          <p:cNvCxnSpPr/>
          <p:nvPr/>
        </p:nvCxnSpPr>
        <p:spPr>
          <a:xfrm>
            <a:off x="6570000" y="3240000"/>
            <a:ext cx="270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5A2B69E2-C71A-13B4-7AF6-59CD9A58E612}"/>
              </a:ext>
            </a:extLst>
          </p:cNvPr>
          <p:cNvCxnSpPr/>
          <p:nvPr/>
        </p:nvCxnSpPr>
        <p:spPr>
          <a:xfrm>
            <a:off x="8460000" y="3240000"/>
            <a:ext cx="270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4521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5148E-A82E-1874-EA09-718EC3BD0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0634E835-88CF-64F6-727D-3D08C54687A4}"/>
              </a:ext>
            </a:extLst>
          </p:cNvPr>
          <p:cNvCxnSpPr>
            <a:cxnSpLocks/>
          </p:cNvCxnSpPr>
          <p:nvPr/>
        </p:nvCxnSpPr>
        <p:spPr>
          <a:xfrm>
            <a:off x="0" y="0"/>
            <a:ext cx="8709" cy="64800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7097E91A-CF25-497A-2A33-9CFFBF2631A4}"/>
              </a:ext>
            </a:extLst>
          </p:cNvPr>
          <p:cNvCxnSpPr>
            <a:cxnSpLocks/>
          </p:cNvCxnSpPr>
          <p:nvPr/>
        </p:nvCxnSpPr>
        <p:spPr>
          <a:xfrm>
            <a:off x="0" y="18000"/>
            <a:ext cx="1188000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B35C2C4-D9F6-2509-F217-9F2F831269AD}"/>
                  </a:ext>
                </a:extLst>
              </p:cNvPr>
              <p:cNvSpPr txBox="1"/>
              <p:nvPr/>
            </p:nvSpPr>
            <p:spPr>
              <a:xfrm>
                <a:off x="11790000" y="18000"/>
                <a:ext cx="180000" cy="180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ko-KR" altLang="en-US" sz="10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6E89071-11C8-1B01-228C-CDCC5442B3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0000" y="18000"/>
                <a:ext cx="180000" cy="180000"/>
              </a:xfrm>
              <a:prstGeom prst="rect">
                <a:avLst/>
              </a:prstGeom>
              <a:blipFill>
                <a:blip r:embed="rId3"/>
                <a:stretch>
                  <a:fillRect t="-17241" r="-23333" b="-379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4C84C88-6B5E-AD13-E7DF-20B6C5C4B9CD}"/>
                  </a:ext>
                </a:extLst>
              </p:cNvPr>
              <p:cNvSpPr txBox="1"/>
              <p:nvPr/>
            </p:nvSpPr>
            <p:spPr>
              <a:xfrm>
                <a:off x="0" y="6390001"/>
                <a:ext cx="180000" cy="180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000" b="1" i="1" smtClean="0"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ko-KR" altLang="en-US" sz="10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2965332-0EEF-840B-EADD-9394FE75AE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390001"/>
                <a:ext cx="180000" cy="180000"/>
              </a:xfrm>
              <a:prstGeom prst="rect">
                <a:avLst/>
              </a:prstGeom>
              <a:blipFill>
                <a:blip r:embed="rId4"/>
                <a:stretch>
                  <a:fillRect l="-23333" t="-30000" r="-30000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3EDB754C-BB88-B12F-6EFE-76EB836AFBFE}"/>
              </a:ext>
            </a:extLst>
          </p:cNvPr>
          <p:cNvSpPr txBox="1"/>
          <p:nvPr/>
        </p:nvSpPr>
        <p:spPr>
          <a:xfrm>
            <a:off x="360000" y="360000"/>
            <a:ext cx="2250000" cy="450000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2400" b="1" dirty="0"/>
              <a:t>2</a:t>
            </a:r>
            <a:r>
              <a:rPr lang="ko-KR" altLang="en-US" sz="2400" b="1" dirty="0"/>
              <a:t>단계 객체 인식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600A54A-5850-E16F-5B87-1548C99DF371}"/>
              </a:ext>
            </a:extLst>
          </p:cNvPr>
          <p:cNvSpPr/>
          <p:nvPr/>
        </p:nvSpPr>
        <p:spPr>
          <a:xfrm>
            <a:off x="360000" y="180000"/>
            <a:ext cx="450000" cy="1800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/>
              <a:t>목차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304CCC-7ED2-1B29-AFEA-7C15911D7AB8}"/>
              </a:ext>
            </a:extLst>
          </p:cNvPr>
          <p:cNvSpPr txBox="1"/>
          <p:nvPr/>
        </p:nvSpPr>
        <p:spPr>
          <a:xfrm>
            <a:off x="439800" y="1133502"/>
            <a:ext cx="11160000" cy="50400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lIns="54000" tIns="54000" rIns="54000" bIns="54000" rtlCol="0" anchor="t">
            <a:noAutofit/>
          </a:bodyPr>
          <a:lstStyle/>
          <a:p>
            <a:pPr algn="just"/>
            <a:r>
              <a:rPr lang="ko-KR" altLang="en-US" sz="1600" dirty="0"/>
              <a:t>경계 상자 분류</a:t>
            </a:r>
            <a:r>
              <a:rPr lang="en-US" altLang="ko-KR" sz="1600" dirty="0"/>
              <a:t>, </a:t>
            </a:r>
            <a:r>
              <a:rPr lang="ko-KR" altLang="en-US" sz="1600" dirty="0"/>
              <a:t>회귀 작업을 수행한 뒤</a:t>
            </a:r>
            <a:r>
              <a:rPr lang="en-US" altLang="ko-KR" sz="1600" dirty="0"/>
              <a:t>, </a:t>
            </a:r>
            <a:r>
              <a:rPr lang="ko-KR" altLang="en-US" sz="1600" dirty="0"/>
              <a:t>중복되거나 겹치는 상자를 제거하기 위해 </a:t>
            </a:r>
            <a:r>
              <a:rPr lang="en-US" altLang="ko-KR" sz="1600" dirty="0"/>
              <a:t>3 </a:t>
            </a:r>
            <a:r>
              <a:rPr lang="ko-KR" altLang="en-US" sz="1600" dirty="0"/>
              <a:t>단계로 동작하는 비</a:t>
            </a:r>
            <a:r>
              <a:rPr lang="en-US" altLang="ko-KR" sz="1600" dirty="0"/>
              <a:t>-</a:t>
            </a:r>
            <a:r>
              <a:rPr lang="ko-KR" altLang="en-US" sz="1600" dirty="0"/>
              <a:t>최대 억제</a:t>
            </a:r>
            <a:r>
              <a:rPr lang="en-US" altLang="ko-KR" sz="1600" dirty="0"/>
              <a:t>(Non-Maximum Suppression, NMS)</a:t>
            </a:r>
            <a:r>
              <a:rPr lang="ko-KR" altLang="en-US" sz="1600" dirty="0"/>
              <a:t>를 적용함</a:t>
            </a:r>
            <a:endParaRPr lang="en-US" altLang="ko-KR" sz="1600" dirty="0"/>
          </a:p>
          <a:p>
            <a:pPr algn="just"/>
            <a:endParaRPr lang="en-US" altLang="ko-KR" sz="1600" dirty="0"/>
          </a:p>
          <a:p>
            <a:pPr marL="342900" indent="-342900" algn="just">
              <a:buFont typeface="+mj-lt"/>
              <a:buAutoNum type="arabicPeriod"/>
            </a:pPr>
            <a:r>
              <a:rPr lang="ko-KR" altLang="en-US" sz="1600" dirty="0"/>
              <a:t>신뢰 점수가 </a:t>
            </a:r>
            <a:r>
              <a:rPr lang="ko-KR" altLang="en-US" sz="1600" dirty="0" err="1"/>
              <a:t>임계값</a:t>
            </a:r>
            <a:r>
              <a:rPr lang="en-US" altLang="ko-KR" sz="1600" dirty="0"/>
              <a:t>(</a:t>
            </a:r>
            <a:r>
              <a:rPr lang="ko-KR" altLang="en-US" sz="1600" dirty="0"/>
              <a:t>기본으로 </a:t>
            </a:r>
            <a:r>
              <a:rPr lang="en-US" altLang="ko-KR" sz="1600" dirty="0"/>
              <a:t>0.5</a:t>
            </a:r>
            <a:r>
              <a:rPr lang="ko-KR" altLang="en-US" sz="1600" dirty="0"/>
              <a:t>를 사용</a:t>
            </a:r>
            <a:r>
              <a:rPr lang="en-US" altLang="ko-KR" sz="1600" dirty="0"/>
              <a:t>)</a:t>
            </a:r>
            <a:r>
              <a:rPr lang="ko-KR" altLang="en-US" sz="1600" dirty="0"/>
              <a:t>보다 낮은 객체 경계 상자는 제거함</a:t>
            </a:r>
            <a:endParaRPr lang="en-US" altLang="ko-KR" sz="1600" dirty="0"/>
          </a:p>
          <a:p>
            <a:pPr marL="342900" indent="-342900" algn="just">
              <a:buFont typeface="+mj-lt"/>
              <a:buAutoNum type="arabicPeriod"/>
            </a:pPr>
            <a:endParaRPr lang="en-US" altLang="ko-KR" sz="1600" dirty="0"/>
          </a:p>
          <a:p>
            <a:pPr marL="342900" indent="-342900" algn="just">
              <a:buFont typeface="+mj-lt"/>
              <a:buAutoNum type="arabicPeriod"/>
            </a:pPr>
            <a:r>
              <a:rPr lang="ko-KR" altLang="en-US" sz="1600" dirty="0"/>
              <a:t>객체의 후보 영역 중에서 가장 높은 확률을 가진 영역을 예측 영역으로 선택함</a:t>
            </a:r>
            <a:endParaRPr lang="en-US" altLang="ko-KR" sz="1600" dirty="0"/>
          </a:p>
          <a:p>
            <a:pPr marL="342900" indent="-342900" algn="just">
              <a:buFont typeface="+mj-lt"/>
              <a:buAutoNum type="arabicPeriod"/>
            </a:pPr>
            <a:endParaRPr lang="en-US" altLang="ko-KR" sz="1600" dirty="0"/>
          </a:p>
          <a:p>
            <a:pPr marL="342900" indent="-342900" algn="just">
              <a:buFont typeface="+mj-lt"/>
              <a:buAutoNum type="arabicPeriod"/>
            </a:pPr>
            <a:r>
              <a:rPr lang="ko-KR" altLang="en-US" sz="1600" dirty="0"/>
              <a:t>예측된 영역이 </a:t>
            </a:r>
            <a:r>
              <a:rPr lang="en-US" altLang="ko-KR" sz="1600" dirty="0"/>
              <a:t>0.5</a:t>
            </a:r>
            <a:r>
              <a:rPr lang="ko-KR" altLang="en-US" sz="1600" dirty="0"/>
              <a:t> 이상인 </a:t>
            </a:r>
            <a:r>
              <a:rPr lang="en-US" altLang="ko-KR" sz="1600" dirty="0" err="1"/>
              <a:t>IoU</a:t>
            </a:r>
            <a:r>
              <a:rPr lang="en-US" altLang="ko-KR" sz="1600" dirty="0"/>
              <a:t> </a:t>
            </a:r>
            <a:r>
              <a:rPr lang="ko-KR" altLang="en-US" sz="1600" dirty="0"/>
              <a:t>영역을 제거함</a:t>
            </a:r>
            <a:endParaRPr lang="en-US" altLang="ko-KR" sz="1600" dirty="0"/>
          </a:p>
          <a:p>
            <a:pPr algn="just"/>
            <a:r>
              <a:rPr lang="ko-KR" altLang="en-US" sz="1600" dirty="0"/>
              <a:t> </a:t>
            </a:r>
            <a:endParaRPr lang="en-US" altLang="ko-KR" sz="16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0D98A1F-D7FD-06C5-386E-B04D886605F0}"/>
              </a:ext>
            </a:extLst>
          </p:cNvPr>
          <p:cNvSpPr/>
          <p:nvPr/>
        </p:nvSpPr>
        <p:spPr>
          <a:xfrm>
            <a:off x="450000" y="953502"/>
            <a:ext cx="450000" cy="180000"/>
          </a:xfrm>
          <a:prstGeom prst="rect">
            <a:avLst/>
          </a:prstGeom>
          <a:solidFill>
            <a:srgbClr val="92D050"/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/>
              <a:t>내용</a:t>
            </a:r>
          </a:p>
        </p:txBody>
      </p:sp>
      <p:pic>
        <p:nvPicPr>
          <p:cNvPr id="12" name="Picture 4" descr="A comparison of a car&#10;&#10;Description automatically generated">
            <a:extLst>
              <a:ext uri="{FF2B5EF4-FFF2-40B4-BE49-F238E27FC236}">
                <a16:creationId xmlns:a16="http://schemas.microsoft.com/office/drawing/2014/main" id="{F6594517-FFD8-B476-1683-DE80887A59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1" t="8810" r="59063" b="3825"/>
          <a:stretch>
            <a:fillRect/>
          </a:stretch>
        </p:blipFill>
        <p:spPr>
          <a:xfrm>
            <a:off x="2609998" y="3600000"/>
            <a:ext cx="1800000" cy="1800000"/>
          </a:xfrm>
          <a:prstGeom prst="rect">
            <a:avLst/>
          </a:prstGeom>
        </p:spPr>
      </p:pic>
      <p:pic>
        <p:nvPicPr>
          <p:cNvPr id="13" name="Picture 4" descr="A comparison of a car&#10;&#10;Description automatically generated">
            <a:extLst>
              <a:ext uri="{FF2B5EF4-FFF2-40B4-BE49-F238E27FC236}">
                <a16:creationId xmlns:a16="http://schemas.microsoft.com/office/drawing/2014/main" id="{1D88A604-0387-A080-C012-C3E069FA3F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873" t="8579" r="1671" b="4056"/>
          <a:stretch>
            <a:fillRect/>
          </a:stretch>
        </p:blipFill>
        <p:spPr>
          <a:xfrm>
            <a:off x="7782002" y="3600000"/>
            <a:ext cx="1800000" cy="1800000"/>
          </a:xfrm>
          <a:prstGeom prst="rect">
            <a:avLst/>
          </a:prstGeom>
        </p:spPr>
      </p:pic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313A4031-DFD2-C0C5-6867-B7A5DD8D264A}"/>
              </a:ext>
            </a:extLst>
          </p:cNvPr>
          <p:cNvCxnSpPr/>
          <p:nvPr/>
        </p:nvCxnSpPr>
        <p:spPr>
          <a:xfrm>
            <a:off x="5081451" y="4500000"/>
            <a:ext cx="202909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7F8FC9E-FDC1-67BB-F5B6-721415BC930D}"/>
              </a:ext>
            </a:extLst>
          </p:cNvPr>
          <p:cNvSpPr txBox="1"/>
          <p:nvPr/>
        </p:nvSpPr>
        <p:spPr>
          <a:xfrm>
            <a:off x="5016000" y="3960000"/>
            <a:ext cx="2160000" cy="1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200" b="1" dirty="0"/>
              <a:t>Non-Maximum Suppression</a:t>
            </a:r>
          </a:p>
        </p:txBody>
      </p:sp>
    </p:spTree>
    <p:extLst>
      <p:ext uri="{BB962C8B-B14F-4D97-AF65-F5344CB8AC3E}">
        <p14:creationId xmlns:p14="http://schemas.microsoft.com/office/powerpoint/2010/main" val="11131067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87A11-5217-AC71-62B4-02A842645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ECC6CCC3-66FA-21C7-CE6E-9FB90324095B}"/>
              </a:ext>
            </a:extLst>
          </p:cNvPr>
          <p:cNvSpPr/>
          <p:nvPr/>
        </p:nvSpPr>
        <p:spPr>
          <a:xfrm>
            <a:off x="468000" y="2090057"/>
            <a:ext cx="7200000" cy="1889760"/>
          </a:xfrm>
          <a:prstGeom prst="rect">
            <a:avLst/>
          </a:prstGeom>
          <a:solidFill>
            <a:schemeClr val="accent4">
              <a:lumMod val="20000"/>
              <a:lumOff val="80000"/>
              <a:alpha val="50000"/>
            </a:schemeClr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60D2FC8-40E0-23E6-EBDE-89B9CC519ACD}"/>
              </a:ext>
            </a:extLst>
          </p:cNvPr>
          <p:cNvCxnSpPr>
            <a:cxnSpLocks/>
          </p:cNvCxnSpPr>
          <p:nvPr/>
        </p:nvCxnSpPr>
        <p:spPr>
          <a:xfrm>
            <a:off x="0" y="0"/>
            <a:ext cx="8709" cy="64800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223D8C2-102F-9A4A-F143-29188AE38CC1}"/>
              </a:ext>
            </a:extLst>
          </p:cNvPr>
          <p:cNvCxnSpPr>
            <a:cxnSpLocks/>
          </p:cNvCxnSpPr>
          <p:nvPr/>
        </p:nvCxnSpPr>
        <p:spPr>
          <a:xfrm>
            <a:off x="0" y="18000"/>
            <a:ext cx="1188000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6E89071-11C8-1B01-228C-CDCC5442B3BC}"/>
                  </a:ext>
                </a:extLst>
              </p:cNvPr>
              <p:cNvSpPr txBox="1"/>
              <p:nvPr/>
            </p:nvSpPr>
            <p:spPr>
              <a:xfrm>
                <a:off x="11790000" y="18000"/>
                <a:ext cx="180000" cy="180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ko-KR" altLang="en-US" sz="10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6E89071-11C8-1B01-228C-CDCC5442B3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0000" y="18000"/>
                <a:ext cx="180000" cy="180000"/>
              </a:xfrm>
              <a:prstGeom prst="rect">
                <a:avLst/>
              </a:prstGeom>
              <a:blipFill>
                <a:blip r:embed="rId3"/>
                <a:stretch>
                  <a:fillRect t="-17241" r="-23333" b="-379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2965332-0EEF-840B-EADD-9394FE75AE45}"/>
                  </a:ext>
                </a:extLst>
              </p:cNvPr>
              <p:cNvSpPr txBox="1"/>
              <p:nvPr/>
            </p:nvSpPr>
            <p:spPr>
              <a:xfrm>
                <a:off x="0" y="6390001"/>
                <a:ext cx="180000" cy="180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000" b="1" i="1" smtClean="0"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ko-KR" altLang="en-US" sz="10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2965332-0EEF-840B-EADD-9394FE75AE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390001"/>
                <a:ext cx="180000" cy="180000"/>
              </a:xfrm>
              <a:prstGeom prst="rect">
                <a:avLst/>
              </a:prstGeom>
              <a:blipFill>
                <a:blip r:embed="rId4"/>
                <a:stretch>
                  <a:fillRect l="-23333" t="-30000" r="-30000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1024A034-8F12-02A0-6387-FA14DC8A932D}"/>
              </a:ext>
            </a:extLst>
          </p:cNvPr>
          <p:cNvSpPr txBox="1"/>
          <p:nvPr/>
        </p:nvSpPr>
        <p:spPr>
          <a:xfrm>
            <a:off x="360000" y="360000"/>
            <a:ext cx="2250000" cy="450000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2400" b="1" dirty="0"/>
              <a:t>2</a:t>
            </a:r>
            <a:r>
              <a:rPr lang="ko-KR" altLang="en-US" sz="2400" b="1" dirty="0"/>
              <a:t>단계 객체 인식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771A0F8-CC0D-DD53-7FCB-5EB9AA7D5C01}"/>
              </a:ext>
            </a:extLst>
          </p:cNvPr>
          <p:cNvSpPr/>
          <p:nvPr/>
        </p:nvSpPr>
        <p:spPr>
          <a:xfrm>
            <a:off x="360000" y="180000"/>
            <a:ext cx="450000" cy="1800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/>
              <a:t>목차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52E84B-9F89-305A-193F-FC9034708D54}"/>
              </a:ext>
            </a:extLst>
          </p:cNvPr>
          <p:cNvSpPr txBox="1"/>
          <p:nvPr/>
        </p:nvSpPr>
        <p:spPr>
          <a:xfrm>
            <a:off x="450000" y="1133502"/>
            <a:ext cx="11160000" cy="50400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lIns="54000" tIns="54000" rIns="54000" bIns="54000" rtlCol="0" anchor="t">
            <a:noAutofit/>
          </a:bodyPr>
          <a:lstStyle/>
          <a:p>
            <a:r>
              <a:rPr lang="en-US" altLang="ko-KR" sz="1600" dirty="0"/>
              <a:t>R-CNN</a:t>
            </a:r>
            <a:r>
              <a:rPr lang="ko-KR" altLang="en-US" sz="1600" dirty="0"/>
              <a:t>은 당시</a:t>
            </a:r>
            <a:r>
              <a:rPr lang="en-US" altLang="ko-KR" sz="1600" dirty="0"/>
              <a:t>, </a:t>
            </a:r>
            <a:r>
              <a:rPr lang="ko-KR" altLang="en-US" sz="1600" dirty="0"/>
              <a:t>기존 모델들의 성능인 </a:t>
            </a:r>
            <a:r>
              <a:rPr lang="en-US" altLang="ko-KR" sz="1600" dirty="0"/>
              <a:t>33~40 </a:t>
            </a:r>
            <a:r>
              <a:rPr lang="en-US" altLang="ko-KR" sz="1600" dirty="0" err="1"/>
              <a:t>mAP</a:t>
            </a:r>
            <a:r>
              <a:rPr lang="ko-KR" altLang="en-US" sz="1600" dirty="0"/>
              <a:t> 보다 더 우수한 </a:t>
            </a:r>
            <a:r>
              <a:rPr lang="en-US" altLang="ko-KR" sz="1600" dirty="0"/>
              <a:t>50.2, 53.7 </a:t>
            </a:r>
            <a:r>
              <a:rPr lang="en-US" altLang="ko-KR" sz="1600" dirty="0" err="1"/>
              <a:t>mAP</a:t>
            </a:r>
            <a:r>
              <a:rPr lang="ko-KR" altLang="en-US" sz="1600" dirty="0"/>
              <a:t>를</a:t>
            </a:r>
            <a:br>
              <a:rPr lang="en-US" altLang="ko-KR" sz="1600" dirty="0"/>
            </a:br>
            <a:r>
              <a:rPr lang="ko-KR" altLang="en-US" sz="1600" dirty="0"/>
              <a:t>달성하였지만</a:t>
            </a:r>
            <a:r>
              <a:rPr lang="en-US" altLang="ko-KR" sz="1600" dirty="0"/>
              <a:t>, </a:t>
            </a:r>
            <a:r>
              <a:rPr lang="ko-KR" altLang="en-US" sz="1600" dirty="0"/>
              <a:t>크게 세 가지 한계를 갖고 있음</a:t>
            </a:r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sz="1600" dirty="0"/>
              <a:t>선택적 탐색 알고리즘을 사용하여 후보 지역을 결정하고 객체를 탐지하였지만</a:t>
            </a:r>
            <a:r>
              <a:rPr lang="en-US" altLang="ko-KR" sz="1600" dirty="0"/>
              <a:t>,</a:t>
            </a:r>
            <a:br>
              <a:rPr lang="en-US" altLang="ko-KR" sz="1600" dirty="0"/>
            </a:br>
            <a:r>
              <a:rPr lang="ko-KR" altLang="en-US" sz="1600" dirty="0"/>
              <a:t>완전 탐색으로 인한 비효율성으로 학습 복잡도가 높음</a:t>
            </a:r>
            <a:endParaRPr lang="en-US" altLang="ko-KR" sz="1600" dirty="0"/>
          </a:p>
          <a:p>
            <a:pPr marL="342900" indent="-342900">
              <a:buFont typeface="+mj-lt"/>
              <a:buAutoNum type="arabicPeriod"/>
            </a:pPr>
            <a:endParaRPr lang="en-US" altLang="ko-KR" sz="1600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sz="1600" dirty="0"/>
              <a:t>학습 시간이 길며</a:t>
            </a:r>
            <a:r>
              <a:rPr lang="en-US" altLang="ko-KR" sz="1600" dirty="0"/>
              <a:t>, </a:t>
            </a:r>
            <a:r>
              <a:rPr lang="ko-KR" altLang="en-US" sz="1600" dirty="0"/>
              <a:t>많은 데이터를 사용하고 후보 지역들을 보관해야 하기 때문에</a:t>
            </a:r>
            <a:r>
              <a:rPr lang="en-US" altLang="ko-KR" sz="1600" dirty="0"/>
              <a:t>,</a:t>
            </a:r>
            <a:br>
              <a:rPr lang="en-US" altLang="ko-KR" sz="1600" dirty="0"/>
            </a:br>
            <a:r>
              <a:rPr lang="ko-KR" altLang="en-US" sz="1600" dirty="0"/>
              <a:t>대용량의 저장 공간을 요구함</a:t>
            </a:r>
            <a:endParaRPr lang="en-US" altLang="ko-KR" sz="1600" dirty="0"/>
          </a:p>
          <a:p>
            <a:pPr marL="342900" indent="-342900">
              <a:buFont typeface="+mj-lt"/>
              <a:buAutoNum type="arabicPeriod"/>
            </a:pPr>
            <a:endParaRPr lang="en-US" altLang="ko-KR" sz="1600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sz="1600" dirty="0"/>
              <a:t>긴 학습 시간에 비례한 긴 추론 시간의 문제가 있음</a:t>
            </a:r>
            <a:endParaRPr lang="en-US" altLang="ko-KR" sz="16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83DF581-2EFC-F40C-6A50-C5E649FBC9A2}"/>
              </a:ext>
            </a:extLst>
          </p:cNvPr>
          <p:cNvSpPr/>
          <p:nvPr/>
        </p:nvSpPr>
        <p:spPr>
          <a:xfrm>
            <a:off x="450000" y="953502"/>
            <a:ext cx="450000" cy="180000"/>
          </a:xfrm>
          <a:prstGeom prst="rect">
            <a:avLst/>
          </a:prstGeom>
          <a:solidFill>
            <a:srgbClr val="92D050"/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/>
              <a:t>내용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16DB0CA-45DD-AE6D-28C5-24B11A9E7D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0000" y="1853502"/>
            <a:ext cx="3240000" cy="360000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B74F87FE-0A36-DE02-33B4-8612254DA7B1}"/>
              </a:ext>
            </a:extLst>
          </p:cNvPr>
          <p:cNvSpPr/>
          <p:nvPr/>
        </p:nvSpPr>
        <p:spPr>
          <a:xfrm>
            <a:off x="7900950" y="1673502"/>
            <a:ext cx="630000" cy="180000"/>
          </a:xfrm>
          <a:prstGeom prst="rect">
            <a:avLst/>
          </a:prstGeom>
          <a:solidFill>
            <a:schemeClr val="tx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/>
              <a:t>예측 결과</a:t>
            </a:r>
          </a:p>
        </p:txBody>
      </p:sp>
    </p:spTree>
    <p:extLst>
      <p:ext uri="{BB962C8B-B14F-4D97-AF65-F5344CB8AC3E}">
        <p14:creationId xmlns:p14="http://schemas.microsoft.com/office/powerpoint/2010/main" val="35052718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BDEF5-F182-9FB7-9FF4-A33EB8C50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B9BA7E80-0756-FAB8-ABF0-7DDEA5CF94B2}"/>
              </a:ext>
            </a:extLst>
          </p:cNvPr>
          <p:cNvCxnSpPr>
            <a:cxnSpLocks/>
          </p:cNvCxnSpPr>
          <p:nvPr/>
        </p:nvCxnSpPr>
        <p:spPr>
          <a:xfrm>
            <a:off x="-8709" y="0"/>
            <a:ext cx="8709" cy="64800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CDF2FEC5-01D6-D7A8-CC99-E5D968DF974D}"/>
              </a:ext>
            </a:extLst>
          </p:cNvPr>
          <p:cNvCxnSpPr>
            <a:cxnSpLocks/>
          </p:cNvCxnSpPr>
          <p:nvPr/>
        </p:nvCxnSpPr>
        <p:spPr>
          <a:xfrm>
            <a:off x="0" y="18000"/>
            <a:ext cx="1188000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2AC110D-8BE4-699B-72A8-C7D443080816}"/>
                  </a:ext>
                </a:extLst>
              </p:cNvPr>
              <p:cNvSpPr txBox="1"/>
              <p:nvPr/>
            </p:nvSpPr>
            <p:spPr>
              <a:xfrm>
                <a:off x="11790000" y="18000"/>
                <a:ext cx="180000" cy="180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ko-KR" altLang="en-US" sz="10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6E89071-11C8-1B01-228C-CDCC5442B3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0000" y="18000"/>
                <a:ext cx="180000" cy="180000"/>
              </a:xfrm>
              <a:prstGeom prst="rect">
                <a:avLst/>
              </a:prstGeom>
              <a:blipFill>
                <a:blip r:embed="rId3"/>
                <a:stretch>
                  <a:fillRect t="-17241" r="-23333" b="-379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3C691E5-60ED-B03B-8300-6D09A5E93A50}"/>
                  </a:ext>
                </a:extLst>
              </p:cNvPr>
              <p:cNvSpPr txBox="1"/>
              <p:nvPr/>
            </p:nvSpPr>
            <p:spPr>
              <a:xfrm>
                <a:off x="0" y="6390001"/>
                <a:ext cx="180000" cy="180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000" b="1" i="1" smtClean="0"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ko-KR" altLang="en-US" sz="10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2965332-0EEF-840B-EADD-9394FE75AE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390001"/>
                <a:ext cx="180000" cy="180000"/>
              </a:xfrm>
              <a:prstGeom prst="rect">
                <a:avLst/>
              </a:prstGeom>
              <a:blipFill>
                <a:blip r:embed="rId4"/>
                <a:stretch>
                  <a:fillRect l="-23333" t="-30000" r="-30000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1C062184-568B-B107-FA7D-F7525DDE262E}"/>
              </a:ext>
            </a:extLst>
          </p:cNvPr>
          <p:cNvSpPr txBox="1"/>
          <p:nvPr/>
        </p:nvSpPr>
        <p:spPr>
          <a:xfrm>
            <a:off x="360000" y="360000"/>
            <a:ext cx="2250000" cy="450000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2400" b="1" dirty="0"/>
              <a:t>2</a:t>
            </a:r>
            <a:r>
              <a:rPr lang="ko-KR" altLang="en-US" sz="2400" b="1" dirty="0"/>
              <a:t>단계 객체 인식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1A4A1A2-1649-9990-816A-0B6E4C6252B1}"/>
              </a:ext>
            </a:extLst>
          </p:cNvPr>
          <p:cNvSpPr/>
          <p:nvPr/>
        </p:nvSpPr>
        <p:spPr>
          <a:xfrm>
            <a:off x="360000" y="180000"/>
            <a:ext cx="450000" cy="1800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/>
              <a:t>목차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AD0C19-51D7-78B8-CDA0-AE3EF797E05D}"/>
              </a:ext>
            </a:extLst>
          </p:cNvPr>
          <p:cNvSpPr txBox="1"/>
          <p:nvPr/>
        </p:nvSpPr>
        <p:spPr>
          <a:xfrm>
            <a:off x="450000" y="1133502"/>
            <a:ext cx="11160000" cy="50400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lIns="54000" tIns="54000" rIns="54000" bIns="54000" rtlCol="0" anchor="t">
            <a:noAutofit/>
          </a:bodyPr>
          <a:lstStyle/>
          <a:p>
            <a:pPr algn="just"/>
            <a:r>
              <a:rPr lang="ko-KR" altLang="en-US" sz="1600" dirty="0"/>
              <a:t>기존 합성곱 신경망 구조는 완전연결층에 입력할 수 있도록 입력 이미지를 모델에 맞춰서 사용해야 함</a:t>
            </a:r>
            <a:endParaRPr lang="en-US" altLang="ko-KR" sz="1600" dirty="0"/>
          </a:p>
          <a:p>
            <a:pPr algn="just"/>
            <a:r>
              <a:rPr lang="ko-KR" altLang="en-US" sz="1600" dirty="0"/>
              <a:t>하지만</a:t>
            </a:r>
            <a:r>
              <a:rPr lang="en-US" altLang="ko-KR" sz="1600" dirty="0"/>
              <a:t>, </a:t>
            </a:r>
            <a:r>
              <a:rPr lang="ko-KR" altLang="en-US" sz="1600" dirty="0"/>
              <a:t>이런 방식은 물체가 잘리거나 변형되어서</a:t>
            </a:r>
            <a:r>
              <a:rPr lang="en-US" altLang="ko-KR" sz="1600" dirty="0"/>
              <a:t>, </a:t>
            </a:r>
            <a:r>
              <a:rPr lang="ko-KR" altLang="en-US" sz="1600" dirty="0"/>
              <a:t>시각적 특징이 훼손되는 문제가 있음</a:t>
            </a:r>
            <a:endParaRPr lang="en-US" altLang="ko-KR" sz="1600" dirty="0"/>
          </a:p>
          <a:p>
            <a:pPr algn="just"/>
            <a:endParaRPr lang="en-US" altLang="ko-KR" sz="1600" dirty="0"/>
          </a:p>
          <a:p>
            <a:pPr algn="just"/>
            <a:r>
              <a:rPr lang="ko-KR" altLang="en-US" sz="1600" dirty="0"/>
              <a:t>이런 문제를 해소하기 위해 공간 피라미드 </a:t>
            </a:r>
            <a:r>
              <a:rPr lang="ko-KR" altLang="en-US" sz="1600" dirty="0" err="1"/>
              <a:t>풀링</a:t>
            </a:r>
            <a:r>
              <a:rPr lang="en-US" altLang="ko-KR" sz="1600" dirty="0"/>
              <a:t>(Spatial Pyramid Pooling, SPP) </a:t>
            </a:r>
            <a:r>
              <a:rPr lang="ko-KR" altLang="en-US" sz="1600" dirty="0"/>
              <a:t>방식이 제안됨</a:t>
            </a:r>
            <a:endParaRPr lang="en-US" altLang="ko-KR" sz="16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1705CDB-A0F3-13DE-D999-65E326AF2848}"/>
              </a:ext>
            </a:extLst>
          </p:cNvPr>
          <p:cNvSpPr/>
          <p:nvPr/>
        </p:nvSpPr>
        <p:spPr>
          <a:xfrm>
            <a:off x="450000" y="953502"/>
            <a:ext cx="450000" cy="180000"/>
          </a:xfrm>
          <a:prstGeom prst="rect">
            <a:avLst/>
          </a:prstGeom>
          <a:solidFill>
            <a:srgbClr val="92D050"/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/>
              <a:t>내용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7E5AFE4-1F94-9150-EA32-A4A033CCCD7B}"/>
              </a:ext>
            </a:extLst>
          </p:cNvPr>
          <p:cNvSpPr/>
          <p:nvPr/>
        </p:nvSpPr>
        <p:spPr>
          <a:xfrm>
            <a:off x="5040000" y="6570001"/>
            <a:ext cx="6840000" cy="27000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[3] He et al, “Spatial Pyramid Pooling in Deep Convolutional Networks for Visual Recognition”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ED85C4C7-1187-C8E5-84BE-F7764C909557}"/>
              </a:ext>
            </a:extLst>
          </p:cNvPr>
          <p:cNvSpPr/>
          <p:nvPr/>
        </p:nvSpPr>
        <p:spPr>
          <a:xfrm>
            <a:off x="1440000" y="3060000"/>
            <a:ext cx="1080000" cy="27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Image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4A9AC21D-4829-5B30-BD21-F0016FFC5C51}"/>
              </a:ext>
            </a:extLst>
          </p:cNvPr>
          <p:cNvSpPr/>
          <p:nvPr/>
        </p:nvSpPr>
        <p:spPr>
          <a:xfrm>
            <a:off x="2880000" y="3060000"/>
            <a:ext cx="2340000" cy="27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Crop / Warp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CD5BD231-04D1-8134-9F8A-F267BF85ED89}"/>
              </a:ext>
            </a:extLst>
          </p:cNvPr>
          <p:cNvSpPr/>
          <p:nvPr/>
        </p:nvSpPr>
        <p:spPr>
          <a:xfrm>
            <a:off x="5580000" y="3060000"/>
            <a:ext cx="1260000" cy="27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Conv layers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DC64075B-42B7-5FD6-18CE-589B2D26971C}"/>
              </a:ext>
            </a:extLst>
          </p:cNvPr>
          <p:cNvSpPr/>
          <p:nvPr/>
        </p:nvSpPr>
        <p:spPr>
          <a:xfrm>
            <a:off x="7200000" y="3060000"/>
            <a:ext cx="1080000" cy="27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FC layers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E43619B5-6E35-A493-2462-D7EBE3AD97DA}"/>
              </a:ext>
            </a:extLst>
          </p:cNvPr>
          <p:cNvSpPr/>
          <p:nvPr/>
        </p:nvSpPr>
        <p:spPr>
          <a:xfrm>
            <a:off x="8640000" y="3058983"/>
            <a:ext cx="1080000" cy="27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Output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1885DD7D-23EE-5062-2018-26AEF87E3A8A}"/>
              </a:ext>
            </a:extLst>
          </p:cNvPr>
          <p:cNvSpPr/>
          <p:nvPr/>
        </p:nvSpPr>
        <p:spPr>
          <a:xfrm>
            <a:off x="1440000" y="4500000"/>
            <a:ext cx="1080000" cy="27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Image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4FB80837-B1F6-F829-588C-3759043453DA}"/>
              </a:ext>
            </a:extLst>
          </p:cNvPr>
          <p:cNvSpPr/>
          <p:nvPr/>
        </p:nvSpPr>
        <p:spPr>
          <a:xfrm>
            <a:off x="2880000" y="4500000"/>
            <a:ext cx="1260000" cy="27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Conv layers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47F2B495-D59E-8EE5-F92B-816377D58EA6}"/>
              </a:ext>
            </a:extLst>
          </p:cNvPr>
          <p:cNvSpPr/>
          <p:nvPr/>
        </p:nvSpPr>
        <p:spPr>
          <a:xfrm>
            <a:off x="4500000" y="4500000"/>
            <a:ext cx="2340000" cy="27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</a:rPr>
              <a:t>Spatial Pyramid Pooling</a:t>
            </a:r>
            <a:endParaRPr lang="ko-KR" altLang="en-US" sz="1400" b="1" dirty="0">
              <a:solidFill>
                <a:schemeClr val="tx1"/>
              </a:solidFill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926AB805-0E2A-9CD9-BF30-11D216A9CAEE}"/>
              </a:ext>
            </a:extLst>
          </p:cNvPr>
          <p:cNvSpPr/>
          <p:nvPr/>
        </p:nvSpPr>
        <p:spPr>
          <a:xfrm>
            <a:off x="7200000" y="4500000"/>
            <a:ext cx="1080000" cy="27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FC layers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248698E0-44E7-EEE0-782C-9E64A3C23773}"/>
              </a:ext>
            </a:extLst>
          </p:cNvPr>
          <p:cNvSpPr/>
          <p:nvPr/>
        </p:nvSpPr>
        <p:spPr>
          <a:xfrm>
            <a:off x="8640000" y="4500000"/>
            <a:ext cx="1080000" cy="27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Output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C47563CA-401A-6DF5-BBE5-7FFC0361DEF5}"/>
              </a:ext>
            </a:extLst>
          </p:cNvPr>
          <p:cNvSpPr/>
          <p:nvPr/>
        </p:nvSpPr>
        <p:spPr>
          <a:xfrm>
            <a:off x="1368000" y="2923983"/>
            <a:ext cx="8424000" cy="54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5ECEAE2D-E6D9-4639-299E-92CB8C6848C8}"/>
              </a:ext>
            </a:extLst>
          </p:cNvPr>
          <p:cNvSpPr/>
          <p:nvPr/>
        </p:nvSpPr>
        <p:spPr>
          <a:xfrm>
            <a:off x="1368000" y="4365000"/>
            <a:ext cx="8424000" cy="54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6FE123D4-C1AA-C6DD-B0C1-A6C9C2EDBC5C}"/>
              </a:ext>
            </a:extLst>
          </p:cNvPr>
          <p:cNvSpPr/>
          <p:nvPr/>
        </p:nvSpPr>
        <p:spPr>
          <a:xfrm>
            <a:off x="1368000" y="2743983"/>
            <a:ext cx="720000" cy="180000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/>
              <a:t>기존 </a:t>
            </a:r>
            <a:r>
              <a:rPr lang="en-US" altLang="ko-KR" sz="1000" b="1" dirty="0"/>
              <a:t>CNN</a:t>
            </a:r>
            <a:endParaRPr lang="ko-KR" altLang="en-US" sz="1000" b="1" dirty="0"/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07C491A7-8D8A-7F7D-09E6-5D1417EB75EC}"/>
              </a:ext>
            </a:extLst>
          </p:cNvPr>
          <p:cNvSpPr/>
          <p:nvPr/>
        </p:nvSpPr>
        <p:spPr>
          <a:xfrm>
            <a:off x="1368000" y="4162500"/>
            <a:ext cx="720000" cy="180000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SPP [3]</a:t>
            </a:r>
            <a:endParaRPr lang="ko-KR" altLang="en-US" sz="1000" b="1" dirty="0"/>
          </a:p>
        </p:txBody>
      </p: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65C7CE3A-0BCD-6FFC-F950-C81D3A795928}"/>
              </a:ext>
            </a:extLst>
          </p:cNvPr>
          <p:cNvCxnSpPr>
            <a:stCxn id="53" idx="3"/>
            <a:endCxn id="54" idx="1"/>
          </p:cNvCxnSpPr>
          <p:nvPr/>
        </p:nvCxnSpPr>
        <p:spPr>
          <a:xfrm>
            <a:off x="2520000" y="3195000"/>
            <a:ext cx="360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FC4FFD98-8928-6C97-E42B-01A0543A5311}"/>
              </a:ext>
            </a:extLst>
          </p:cNvPr>
          <p:cNvCxnSpPr>
            <a:cxnSpLocks/>
            <a:stCxn id="54" idx="3"/>
          </p:cNvCxnSpPr>
          <p:nvPr/>
        </p:nvCxnSpPr>
        <p:spPr>
          <a:xfrm>
            <a:off x="5220000" y="3195000"/>
            <a:ext cx="42315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2C6DDD52-8801-5638-CA19-A1EA4DDB8DA2}"/>
              </a:ext>
            </a:extLst>
          </p:cNvPr>
          <p:cNvCxnSpPr>
            <a:cxnSpLocks/>
            <a:stCxn id="55" idx="3"/>
            <a:endCxn id="56" idx="1"/>
          </p:cNvCxnSpPr>
          <p:nvPr/>
        </p:nvCxnSpPr>
        <p:spPr>
          <a:xfrm>
            <a:off x="6840000" y="3195000"/>
            <a:ext cx="360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DF3FB332-1DE7-E603-F704-976BD4B56C1E}"/>
              </a:ext>
            </a:extLst>
          </p:cNvPr>
          <p:cNvCxnSpPr>
            <a:cxnSpLocks/>
            <a:endCxn id="57" idx="1"/>
          </p:cNvCxnSpPr>
          <p:nvPr/>
        </p:nvCxnSpPr>
        <p:spPr>
          <a:xfrm flipV="1">
            <a:off x="8280000" y="3193983"/>
            <a:ext cx="360000" cy="101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9721ACEF-3DBD-A66A-536B-42B35955B39E}"/>
              </a:ext>
            </a:extLst>
          </p:cNvPr>
          <p:cNvCxnSpPr>
            <a:cxnSpLocks/>
            <a:stCxn id="58" idx="3"/>
            <a:endCxn id="60" idx="1"/>
          </p:cNvCxnSpPr>
          <p:nvPr/>
        </p:nvCxnSpPr>
        <p:spPr>
          <a:xfrm>
            <a:off x="2520000" y="4635000"/>
            <a:ext cx="360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화살표 연결선 84">
            <a:extLst>
              <a:ext uri="{FF2B5EF4-FFF2-40B4-BE49-F238E27FC236}">
                <a16:creationId xmlns:a16="http://schemas.microsoft.com/office/drawing/2014/main" id="{1378BE74-B737-0DC8-3676-C383D758A125}"/>
              </a:ext>
            </a:extLst>
          </p:cNvPr>
          <p:cNvCxnSpPr>
            <a:cxnSpLocks/>
            <a:stCxn id="60" idx="3"/>
            <a:endCxn id="61" idx="1"/>
          </p:cNvCxnSpPr>
          <p:nvPr/>
        </p:nvCxnSpPr>
        <p:spPr>
          <a:xfrm>
            <a:off x="4140000" y="4635000"/>
            <a:ext cx="360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C5B24ADE-84AA-9245-61A1-A17B53230415}"/>
              </a:ext>
            </a:extLst>
          </p:cNvPr>
          <p:cNvCxnSpPr>
            <a:cxnSpLocks/>
            <a:endCxn id="62" idx="1"/>
          </p:cNvCxnSpPr>
          <p:nvPr/>
        </p:nvCxnSpPr>
        <p:spPr>
          <a:xfrm>
            <a:off x="6840000" y="4635000"/>
            <a:ext cx="360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F0E2CC71-0A5C-6EED-C725-6CAF5C1FC385}"/>
              </a:ext>
            </a:extLst>
          </p:cNvPr>
          <p:cNvCxnSpPr>
            <a:cxnSpLocks/>
          </p:cNvCxnSpPr>
          <p:nvPr/>
        </p:nvCxnSpPr>
        <p:spPr>
          <a:xfrm>
            <a:off x="8280000" y="4635000"/>
            <a:ext cx="360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12639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B68FD-248E-BA79-16A6-CF48D30A9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3602C6DE-474D-4D15-2E24-51CE54A3BC16}"/>
              </a:ext>
            </a:extLst>
          </p:cNvPr>
          <p:cNvCxnSpPr>
            <a:cxnSpLocks/>
          </p:cNvCxnSpPr>
          <p:nvPr/>
        </p:nvCxnSpPr>
        <p:spPr>
          <a:xfrm>
            <a:off x="-8709" y="0"/>
            <a:ext cx="8709" cy="64800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8572FC3A-76DB-804D-F14C-BCB507CEA334}"/>
              </a:ext>
            </a:extLst>
          </p:cNvPr>
          <p:cNvCxnSpPr>
            <a:cxnSpLocks/>
          </p:cNvCxnSpPr>
          <p:nvPr/>
        </p:nvCxnSpPr>
        <p:spPr>
          <a:xfrm>
            <a:off x="0" y="18000"/>
            <a:ext cx="1188000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4C96AD4-3806-38DE-1B93-BCCEE218CF13}"/>
                  </a:ext>
                </a:extLst>
              </p:cNvPr>
              <p:cNvSpPr txBox="1"/>
              <p:nvPr/>
            </p:nvSpPr>
            <p:spPr>
              <a:xfrm>
                <a:off x="11790000" y="18000"/>
                <a:ext cx="180000" cy="180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ko-KR" altLang="en-US" sz="10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6E89071-11C8-1B01-228C-CDCC5442B3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0000" y="18000"/>
                <a:ext cx="180000" cy="180000"/>
              </a:xfrm>
              <a:prstGeom prst="rect">
                <a:avLst/>
              </a:prstGeom>
              <a:blipFill>
                <a:blip r:embed="rId3"/>
                <a:stretch>
                  <a:fillRect t="-17241" r="-23333" b="-379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F9A5D00-F436-EF7C-96F9-FDFFD74D1078}"/>
                  </a:ext>
                </a:extLst>
              </p:cNvPr>
              <p:cNvSpPr txBox="1"/>
              <p:nvPr/>
            </p:nvSpPr>
            <p:spPr>
              <a:xfrm>
                <a:off x="0" y="6390001"/>
                <a:ext cx="180000" cy="180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000" b="1" i="1" smtClean="0"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ko-KR" altLang="en-US" sz="10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2965332-0EEF-840B-EADD-9394FE75AE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390001"/>
                <a:ext cx="180000" cy="180000"/>
              </a:xfrm>
              <a:prstGeom prst="rect">
                <a:avLst/>
              </a:prstGeom>
              <a:blipFill>
                <a:blip r:embed="rId4"/>
                <a:stretch>
                  <a:fillRect l="-23333" t="-30000" r="-30000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957F8F5B-98D8-1B6B-C5BB-959166DC22C4}"/>
              </a:ext>
            </a:extLst>
          </p:cNvPr>
          <p:cNvSpPr txBox="1"/>
          <p:nvPr/>
        </p:nvSpPr>
        <p:spPr>
          <a:xfrm>
            <a:off x="360000" y="360000"/>
            <a:ext cx="2250000" cy="450000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2400" b="1" dirty="0"/>
              <a:t>2</a:t>
            </a:r>
            <a:r>
              <a:rPr lang="ko-KR" altLang="en-US" sz="2400" b="1" dirty="0"/>
              <a:t>단계 객체 인식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813FB4E-B0AE-53F8-16B7-2BCB3C21FE4B}"/>
              </a:ext>
            </a:extLst>
          </p:cNvPr>
          <p:cNvSpPr/>
          <p:nvPr/>
        </p:nvSpPr>
        <p:spPr>
          <a:xfrm>
            <a:off x="360000" y="180000"/>
            <a:ext cx="450000" cy="1800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/>
              <a:t>목차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899D88-E1AF-E358-17E7-EA02F53F857F}"/>
              </a:ext>
            </a:extLst>
          </p:cNvPr>
          <p:cNvSpPr txBox="1"/>
          <p:nvPr/>
        </p:nvSpPr>
        <p:spPr>
          <a:xfrm>
            <a:off x="450000" y="1152000"/>
            <a:ext cx="11160000" cy="50400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lIns="54000" tIns="54000" rIns="54000" bIns="54000" rtlCol="0" anchor="t">
            <a:noAutofit/>
          </a:bodyPr>
          <a:lstStyle/>
          <a:p>
            <a:pPr algn="just"/>
            <a:r>
              <a:rPr lang="en-US" altLang="ko-KR" sz="1600" dirty="0"/>
              <a:t>SPP</a:t>
            </a:r>
            <a:r>
              <a:rPr lang="ko-KR" altLang="en-US" sz="1600" dirty="0"/>
              <a:t>는 입력 이미지의 크기에 관계없이 합성곱 층을 통과시키고</a:t>
            </a:r>
            <a:r>
              <a:rPr lang="en-US" altLang="ko-KR" sz="1600" dirty="0"/>
              <a:t>, </a:t>
            </a:r>
            <a:r>
              <a:rPr lang="ko-KR" altLang="en-US" sz="1600" dirty="0"/>
              <a:t>완전 연결층에 특징을 입력하기 전에 특성 </a:t>
            </a:r>
            <a:r>
              <a:rPr lang="ko-KR" altLang="en-US" sz="1600" dirty="0" err="1"/>
              <a:t>맵을</a:t>
            </a:r>
            <a:r>
              <a:rPr lang="ko-KR" altLang="en-US" sz="1600" dirty="0"/>
              <a:t> 같은 크기로 조절함</a:t>
            </a:r>
            <a:endParaRPr lang="en-US" altLang="ko-KR" sz="1600" dirty="0"/>
          </a:p>
          <a:p>
            <a:pPr algn="just"/>
            <a:endParaRPr lang="en-US" altLang="ko-KR" sz="1600" dirty="0"/>
          </a:p>
          <a:p>
            <a:pPr algn="just"/>
            <a:r>
              <a:rPr lang="ko-KR" altLang="en-US" sz="1600" dirty="0"/>
              <a:t>입력 이미지의 크기를 조절하지 않고 특징을 얻을 수 있기 때문에</a:t>
            </a:r>
            <a:r>
              <a:rPr lang="en-US" altLang="ko-KR" sz="1600" dirty="0"/>
              <a:t> </a:t>
            </a:r>
            <a:r>
              <a:rPr lang="ko-KR" altLang="en-US" sz="1600" dirty="0"/>
              <a:t>정보 훼손이 거의 없이 사용할 수 있다는 장점이 있음</a:t>
            </a:r>
            <a:endParaRPr lang="en-US" altLang="ko-KR" sz="16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22EDD63-B02E-492A-3F19-45FAC9E53D8E}"/>
              </a:ext>
            </a:extLst>
          </p:cNvPr>
          <p:cNvSpPr/>
          <p:nvPr/>
        </p:nvSpPr>
        <p:spPr>
          <a:xfrm>
            <a:off x="450000" y="953502"/>
            <a:ext cx="450000" cy="180000"/>
          </a:xfrm>
          <a:prstGeom prst="rect">
            <a:avLst/>
          </a:prstGeom>
          <a:solidFill>
            <a:srgbClr val="92D050"/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/>
              <a:t>내용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F92539F-DF53-58DA-AEC3-470342819487}"/>
              </a:ext>
            </a:extLst>
          </p:cNvPr>
          <p:cNvSpPr/>
          <p:nvPr/>
        </p:nvSpPr>
        <p:spPr>
          <a:xfrm>
            <a:off x="1080000" y="3356247"/>
            <a:ext cx="1080000" cy="27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Input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324B27E-2CC5-63F1-D2D1-C057D8695CBB}"/>
              </a:ext>
            </a:extLst>
          </p:cNvPr>
          <p:cNvSpPr/>
          <p:nvPr/>
        </p:nvSpPr>
        <p:spPr>
          <a:xfrm>
            <a:off x="2430000" y="2790000"/>
            <a:ext cx="90000" cy="1440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3A0874D-1421-9B08-84B2-D620B607C41C}"/>
              </a:ext>
            </a:extLst>
          </p:cNvPr>
          <p:cNvSpPr/>
          <p:nvPr/>
        </p:nvSpPr>
        <p:spPr>
          <a:xfrm>
            <a:off x="2610000" y="2790000"/>
            <a:ext cx="90000" cy="1440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B76D073-6898-C70B-6164-655890047496}"/>
              </a:ext>
            </a:extLst>
          </p:cNvPr>
          <p:cNvSpPr/>
          <p:nvPr/>
        </p:nvSpPr>
        <p:spPr>
          <a:xfrm>
            <a:off x="2790000" y="2790000"/>
            <a:ext cx="90000" cy="1440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1CB127-AA06-A4DD-11A2-0B2AE057C938}"/>
              </a:ext>
            </a:extLst>
          </p:cNvPr>
          <p:cNvSpPr txBox="1"/>
          <p:nvPr/>
        </p:nvSpPr>
        <p:spPr>
          <a:xfrm>
            <a:off x="2070000" y="2520000"/>
            <a:ext cx="1080000" cy="1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200" dirty="0"/>
              <a:t>Conv layers</a:t>
            </a:r>
          </a:p>
        </p:txBody>
      </p:sp>
      <p:sp>
        <p:nvSpPr>
          <p:cNvPr id="17" name="평행 사변형 16">
            <a:extLst>
              <a:ext uri="{FF2B5EF4-FFF2-40B4-BE49-F238E27FC236}">
                <a16:creationId xmlns:a16="http://schemas.microsoft.com/office/drawing/2014/main" id="{BBD08F24-FC63-0BD0-DBE8-EAAD28C43563}"/>
              </a:ext>
            </a:extLst>
          </p:cNvPr>
          <p:cNvSpPr/>
          <p:nvPr/>
        </p:nvSpPr>
        <p:spPr>
          <a:xfrm>
            <a:off x="3420000" y="2933502"/>
            <a:ext cx="720000" cy="1080000"/>
          </a:xfrm>
          <a:prstGeom prst="parallelogram">
            <a:avLst>
              <a:gd name="adj" fmla="val 22622"/>
            </a:avLst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0" name="평행 사변형 19">
            <a:extLst>
              <a:ext uri="{FF2B5EF4-FFF2-40B4-BE49-F238E27FC236}">
                <a16:creationId xmlns:a16="http://schemas.microsoft.com/office/drawing/2014/main" id="{FBC90891-EAD7-B7A6-08F0-21B2B3D02ADB}"/>
              </a:ext>
            </a:extLst>
          </p:cNvPr>
          <p:cNvSpPr/>
          <p:nvPr/>
        </p:nvSpPr>
        <p:spPr>
          <a:xfrm>
            <a:off x="3510000" y="2933502"/>
            <a:ext cx="720000" cy="1080000"/>
          </a:xfrm>
          <a:prstGeom prst="parallelogram">
            <a:avLst>
              <a:gd name="adj" fmla="val 22622"/>
            </a:avLst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1" name="평행 사변형 20">
            <a:extLst>
              <a:ext uri="{FF2B5EF4-FFF2-40B4-BE49-F238E27FC236}">
                <a16:creationId xmlns:a16="http://schemas.microsoft.com/office/drawing/2014/main" id="{E5B8D92B-C816-5E8E-BE59-91F0136C070E}"/>
              </a:ext>
            </a:extLst>
          </p:cNvPr>
          <p:cNvSpPr/>
          <p:nvPr/>
        </p:nvSpPr>
        <p:spPr>
          <a:xfrm>
            <a:off x="3600000" y="2933502"/>
            <a:ext cx="720000" cy="1080000"/>
          </a:xfrm>
          <a:prstGeom prst="parallelogram">
            <a:avLst>
              <a:gd name="adj" fmla="val 22622"/>
            </a:avLst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4AC5FAD-8D9F-6C67-B198-FCC30541DB1E}"/>
              </a:ext>
            </a:extLst>
          </p:cNvPr>
          <p:cNvSpPr txBox="1"/>
          <p:nvPr/>
        </p:nvSpPr>
        <p:spPr>
          <a:xfrm>
            <a:off x="3330000" y="2520000"/>
            <a:ext cx="1080000" cy="1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200" dirty="0"/>
              <a:t>Feature maps</a:t>
            </a:r>
          </a:p>
        </p:txBody>
      </p:sp>
      <p:sp>
        <p:nvSpPr>
          <p:cNvPr id="23" name="왼쪽 중괄호 22">
            <a:extLst>
              <a:ext uri="{FF2B5EF4-FFF2-40B4-BE49-F238E27FC236}">
                <a16:creationId xmlns:a16="http://schemas.microsoft.com/office/drawing/2014/main" id="{EF70B93B-0FD6-7B3B-548C-DDAF745E5A51}"/>
              </a:ext>
            </a:extLst>
          </p:cNvPr>
          <p:cNvSpPr/>
          <p:nvPr/>
        </p:nvSpPr>
        <p:spPr>
          <a:xfrm>
            <a:off x="4860000" y="2411247"/>
            <a:ext cx="360000" cy="2160000"/>
          </a:xfrm>
          <a:prstGeom prst="leftBrace">
            <a:avLst>
              <a:gd name="adj1" fmla="val 51949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평행 사변형 23">
            <a:extLst>
              <a:ext uri="{FF2B5EF4-FFF2-40B4-BE49-F238E27FC236}">
                <a16:creationId xmlns:a16="http://schemas.microsoft.com/office/drawing/2014/main" id="{EFD0EE93-9874-A2C1-52BF-875CBDB9D669}"/>
              </a:ext>
            </a:extLst>
          </p:cNvPr>
          <p:cNvSpPr/>
          <p:nvPr/>
        </p:nvSpPr>
        <p:spPr>
          <a:xfrm>
            <a:off x="5652000" y="2430000"/>
            <a:ext cx="180000" cy="126000"/>
          </a:xfrm>
          <a:prstGeom prst="parallelogram">
            <a:avLst>
              <a:gd name="adj" fmla="val 25000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1" name="평행 사변형 40">
            <a:extLst>
              <a:ext uri="{FF2B5EF4-FFF2-40B4-BE49-F238E27FC236}">
                <a16:creationId xmlns:a16="http://schemas.microsoft.com/office/drawing/2014/main" id="{EEF122F7-696D-9140-8E5F-72EB5E4B737B}"/>
              </a:ext>
            </a:extLst>
          </p:cNvPr>
          <p:cNvSpPr/>
          <p:nvPr/>
        </p:nvSpPr>
        <p:spPr>
          <a:xfrm>
            <a:off x="5801400" y="2430000"/>
            <a:ext cx="180000" cy="126000"/>
          </a:xfrm>
          <a:prstGeom prst="parallelogram">
            <a:avLst>
              <a:gd name="adj" fmla="val 25000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2" name="평행 사변형 41">
            <a:extLst>
              <a:ext uri="{FF2B5EF4-FFF2-40B4-BE49-F238E27FC236}">
                <a16:creationId xmlns:a16="http://schemas.microsoft.com/office/drawing/2014/main" id="{4AC3B7A8-2433-801A-A9E0-50E05F2C61D5}"/>
              </a:ext>
            </a:extLst>
          </p:cNvPr>
          <p:cNvSpPr/>
          <p:nvPr/>
        </p:nvSpPr>
        <p:spPr>
          <a:xfrm>
            <a:off x="5950800" y="2430000"/>
            <a:ext cx="180000" cy="126000"/>
          </a:xfrm>
          <a:prstGeom prst="parallelogram">
            <a:avLst>
              <a:gd name="adj" fmla="val 25000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3" name="평행 사변형 42">
            <a:extLst>
              <a:ext uri="{FF2B5EF4-FFF2-40B4-BE49-F238E27FC236}">
                <a16:creationId xmlns:a16="http://schemas.microsoft.com/office/drawing/2014/main" id="{CF186AC3-1E2D-E9FE-5CB7-5B52E8645CDD}"/>
              </a:ext>
            </a:extLst>
          </p:cNvPr>
          <p:cNvSpPr/>
          <p:nvPr/>
        </p:nvSpPr>
        <p:spPr>
          <a:xfrm>
            <a:off x="6102000" y="2430000"/>
            <a:ext cx="180000" cy="126000"/>
          </a:xfrm>
          <a:prstGeom prst="parallelogram">
            <a:avLst>
              <a:gd name="adj" fmla="val 25000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3" name="평행 사변형 52">
            <a:extLst>
              <a:ext uri="{FF2B5EF4-FFF2-40B4-BE49-F238E27FC236}">
                <a16:creationId xmlns:a16="http://schemas.microsoft.com/office/drawing/2014/main" id="{BF320C90-4ACD-8FF3-5CCE-E5BC4400D08A}"/>
              </a:ext>
            </a:extLst>
          </p:cNvPr>
          <p:cNvSpPr/>
          <p:nvPr/>
        </p:nvSpPr>
        <p:spPr>
          <a:xfrm>
            <a:off x="5621100" y="2559297"/>
            <a:ext cx="180000" cy="126000"/>
          </a:xfrm>
          <a:prstGeom prst="parallelogram">
            <a:avLst>
              <a:gd name="adj" fmla="val 25000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4" name="평행 사변형 53">
            <a:extLst>
              <a:ext uri="{FF2B5EF4-FFF2-40B4-BE49-F238E27FC236}">
                <a16:creationId xmlns:a16="http://schemas.microsoft.com/office/drawing/2014/main" id="{CDEEB023-F212-3489-B1E0-5DC507D3FCCF}"/>
              </a:ext>
            </a:extLst>
          </p:cNvPr>
          <p:cNvSpPr/>
          <p:nvPr/>
        </p:nvSpPr>
        <p:spPr>
          <a:xfrm>
            <a:off x="5770200" y="2559297"/>
            <a:ext cx="180000" cy="126000"/>
          </a:xfrm>
          <a:prstGeom prst="parallelogram">
            <a:avLst>
              <a:gd name="adj" fmla="val 25000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5" name="평행 사변형 54">
            <a:extLst>
              <a:ext uri="{FF2B5EF4-FFF2-40B4-BE49-F238E27FC236}">
                <a16:creationId xmlns:a16="http://schemas.microsoft.com/office/drawing/2014/main" id="{719E064A-FF12-079A-5F9A-6E9672F07A2A}"/>
              </a:ext>
            </a:extLst>
          </p:cNvPr>
          <p:cNvSpPr/>
          <p:nvPr/>
        </p:nvSpPr>
        <p:spPr>
          <a:xfrm>
            <a:off x="5921700" y="2559297"/>
            <a:ext cx="180000" cy="126000"/>
          </a:xfrm>
          <a:prstGeom prst="parallelogram">
            <a:avLst>
              <a:gd name="adj" fmla="val 25000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6" name="평행 사변형 55">
            <a:extLst>
              <a:ext uri="{FF2B5EF4-FFF2-40B4-BE49-F238E27FC236}">
                <a16:creationId xmlns:a16="http://schemas.microsoft.com/office/drawing/2014/main" id="{523A5D79-62D5-0EB6-B8C2-37812B130020}"/>
              </a:ext>
            </a:extLst>
          </p:cNvPr>
          <p:cNvSpPr/>
          <p:nvPr/>
        </p:nvSpPr>
        <p:spPr>
          <a:xfrm>
            <a:off x="6068400" y="2559297"/>
            <a:ext cx="180000" cy="126000"/>
          </a:xfrm>
          <a:prstGeom prst="parallelogram">
            <a:avLst>
              <a:gd name="adj" fmla="val 25000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2" name="평행 사변형 61">
            <a:extLst>
              <a:ext uri="{FF2B5EF4-FFF2-40B4-BE49-F238E27FC236}">
                <a16:creationId xmlns:a16="http://schemas.microsoft.com/office/drawing/2014/main" id="{2ED0A7A5-7AD4-833A-346F-D87690D4E916}"/>
              </a:ext>
            </a:extLst>
          </p:cNvPr>
          <p:cNvSpPr/>
          <p:nvPr/>
        </p:nvSpPr>
        <p:spPr>
          <a:xfrm>
            <a:off x="5589600" y="2685297"/>
            <a:ext cx="180000" cy="126000"/>
          </a:xfrm>
          <a:prstGeom prst="parallelogram">
            <a:avLst>
              <a:gd name="adj" fmla="val 25000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3" name="평행 사변형 62">
            <a:extLst>
              <a:ext uri="{FF2B5EF4-FFF2-40B4-BE49-F238E27FC236}">
                <a16:creationId xmlns:a16="http://schemas.microsoft.com/office/drawing/2014/main" id="{30D0F8FE-AD0E-5DF6-861A-0C0C7FA30097}"/>
              </a:ext>
            </a:extLst>
          </p:cNvPr>
          <p:cNvSpPr/>
          <p:nvPr/>
        </p:nvSpPr>
        <p:spPr>
          <a:xfrm>
            <a:off x="5736300" y="2685297"/>
            <a:ext cx="180000" cy="126000"/>
          </a:xfrm>
          <a:prstGeom prst="parallelogram">
            <a:avLst>
              <a:gd name="adj" fmla="val 25000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4" name="평행 사변형 63">
            <a:extLst>
              <a:ext uri="{FF2B5EF4-FFF2-40B4-BE49-F238E27FC236}">
                <a16:creationId xmlns:a16="http://schemas.microsoft.com/office/drawing/2014/main" id="{E1587EC3-699D-87D5-8249-C5081B224AFE}"/>
              </a:ext>
            </a:extLst>
          </p:cNvPr>
          <p:cNvSpPr/>
          <p:nvPr/>
        </p:nvSpPr>
        <p:spPr>
          <a:xfrm>
            <a:off x="5885700" y="2685297"/>
            <a:ext cx="180000" cy="126000"/>
          </a:xfrm>
          <a:prstGeom prst="parallelogram">
            <a:avLst>
              <a:gd name="adj" fmla="val 25000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5" name="평행 사변형 64">
            <a:extLst>
              <a:ext uri="{FF2B5EF4-FFF2-40B4-BE49-F238E27FC236}">
                <a16:creationId xmlns:a16="http://schemas.microsoft.com/office/drawing/2014/main" id="{CB3E33BF-DD39-5705-1799-FD316AC819BE}"/>
              </a:ext>
            </a:extLst>
          </p:cNvPr>
          <p:cNvSpPr/>
          <p:nvPr/>
        </p:nvSpPr>
        <p:spPr>
          <a:xfrm>
            <a:off x="6036262" y="2685297"/>
            <a:ext cx="180000" cy="126000"/>
          </a:xfrm>
          <a:prstGeom prst="parallelogram">
            <a:avLst>
              <a:gd name="adj" fmla="val 25000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6" name="평행 사변형 65">
            <a:extLst>
              <a:ext uri="{FF2B5EF4-FFF2-40B4-BE49-F238E27FC236}">
                <a16:creationId xmlns:a16="http://schemas.microsoft.com/office/drawing/2014/main" id="{42E31F0A-6D51-96DC-F113-FC8FF35475D1}"/>
              </a:ext>
            </a:extLst>
          </p:cNvPr>
          <p:cNvSpPr/>
          <p:nvPr/>
        </p:nvSpPr>
        <p:spPr>
          <a:xfrm>
            <a:off x="5557650" y="2811297"/>
            <a:ext cx="180000" cy="126000"/>
          </a:xfrm>
          <a:prstGeom prst="parallelogram">
            <a:avLst>
              <a:gd name="adj" fmla="val 25000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7" name="평행 사변형 66">
            <a:extLst>
              <a:ext uri="{FF2B5EF4-FFF2-40B4-BE49-F238E27FC236}">
                <a16:creationId xmlns:a16="http://schemas.microsoft.com/office/drawing/2014/main" id="{0BB3E805-5433-7094-789F-BC6BFE901B0B}"/>
              </a:ext>
            </a:extLst>
          </p:cNvPr>
          <p:cNvSpPr/>
          <p:nvPr/>
        </p:nvSpPr>
        <p:spPr>
          <a:xfrm>
            <a:off x="5706956" y="2811297"/>
            <a:ext cx="180000" cy="126000"/>
          </a:xfrm>
          <a:prstGeom prst="parallelogram">
            <a:avLst>
              <a:gd name="adj" fmla="val 25000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8" name="평행 사변형 67">
            <a:extLst>
              <a:ext uri="{FF2B5EF4-FFF2-40B4-BE49-F238E27FC236}">
                <a16:creationId xmlns:a16="http://schemas.microsoft.com/office/drawing/2014/main" id="{8810F582-9C36-1A53-A3B3-7030DE393966}"/>
              </a:ext>
            </a:extLst>
          </p:cNvPr>
          <p:cNvSpPr/>
          <p:nvPr/>
        </p:nvSpPr>
        <p:spPr>
          <a:xfrm>
            <a:off x="5851144" y="2811297"/>
            <a:ext cx="180000" cy="126000"/>
          </a:xfrm>
          <a:prstGeom prst="parallelogram">
            <a:avLst>
              <a:gd name="adj" fmla="val 25000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9" name="평행 사변형 68">
            <a:extLst>
              <a:ext uri="{FF2B5EF4-FFF2-40B4-BE49-F238E27FC236}">
                <a16:creationId xmlns:a16="http://schemas.microsoft.com/office/drawing/2014/main" id="{40EE0663-DF4A-3BB7-6597-48DE560234BA}"/>
              </a:ext>
            </a:extLst>
          </p:cNvPr>
          <p:cNvSpPr/>
          <p:nvPr/>
        </p:nvSpPr>
        <p:spPr>
          <a:xfrm>
            <a:off x="6004519" y="2811297"/>
            <a:ext cx="180000" cy="126000"/>
          </a:xfrm>
          <a:prstGeom prst="parallelogram">
            <a:avLst>
              <a:gd name="adj" fmla="val 25000"/>
            </a:avLst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1" name="평행 사변형 70">
            <a:extLst>
              <a:ext uri="{FF2B5EF4-FFF2-40B4-BE49-F238E27FC236}">
                <a16:creationId xmlns:a16="http://schemas.microsoft.com/office/drawing/2014/main" id="{35A25CCF-5641-D2E0-591E-E497AC7D5D30}"/>
              </a:ext>
            </a:extLst>
          </p:cNvPr>
          <p:cNvSpPr/>
          <p:nvPr/>
        </p:nvSpPr>
        <p:spPr>
          <a:xfrm>
            <a:off x="5621756" y="3239247"/>
            <a:ext cx="360000" cy="252000"/>
          </a:xfrm>
          <a:prstGeom prst="parallelogram">
            <a:avLst>
              <a:gd name="adj" fmla="val 25000"/>
            </a:avLst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2" name="평행 사변형 71">
            <a:extLst>
              <a:ext uri="{FF2B5EF4-FFF2-40B4-BE49-F238E27FC236}">
                <a16:creationId xmlns:a16="http://schemas.microsoft.com/office/drawing/2014/main" id="{CB810359-F95B-A149-C38D-56BC6607540A}"/>
              </a:ext>
            </a:extLst>
          </p:cNvPr>
          <p:cNvSpPr/>
          <p:nvPr/>
        </p:nvSpPr>
        <p:spPr>
          <a:xfrm>
            <a:off x="5921700" y="3239247"/>
            <a:ext cx="360000" cy="252000"/>
          </a:xfrm>
          <a:prstGeom prst="parallelogram">
            <a:avLst>
              <a:gd name="adj" fmla="val 25000"/>
            </a:avLst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3" name="평행 사변형 72">
            <a:extLst>
              <a:ext uri="{FF2B5EF4-FFF2-40B4-BE49-F238E27FC236}">
                <a16:creationId xmlns:a16="http://schemas.microsoft.com/office/drawing/2014/main" id="{45B9B83A-6E00-BD89-AC04-DD573E5711B6}"/>
              </a:ext>
            </a:extLst>
          </p:cNvPr>
          <p:cNvSpPr/>
          <p:nvPr/>
        </p:nvSpPr>
        <p:spPr>
          <a:xfrm>
            <a:off x="5557650" y="3491247"/>
            <a:ext cx="360000" cy="252000"/>
          </a:xfrm>
          <a:prstGeom prst="parallelogram">
            <a:avLst>
              <a:gd name="adj" fmla="val 25000"/>
            </a:avLst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4" name="평행 사변형 73">
            <a:extLst>
              <a:ext uri="{FF2B5EF4-FFF2-40B4-BE49-F238E27FC236}">
                <a16:creationId xmlns:a16="http://schemas.microsoft.com/office/drawing/2014/main" id="{D2E0E5E7-A214-823C-CA70-D6ACFB16A33C}"/>
              </a:ext>
            </a:extLst>
          </p:cNvPr>
          <p:cNvSpPr/>
          <p:nvPr/>
        </p:nvSpPr>
        <p:spPr>
          <a:xfrm>
            <a:off x="5856281" y="3491247"/>
            <a:ext cx="360000" cy="252000"/>
          </a:xfrm>
          <a:prstGeom prst="parallelogram">
            <a:avLst>
              <a:gd name="adj" fmla="val 25000"/>
            </a:avLst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5" name="평행 사변형 74">
            <a:extLst>
              <a:ext uri="{FF2B5EF4-FFF2-40B4-BE49-F238E27FC236}">
                <a16:creationId xmlns:a16="http://schemas.microsoft.com/office/drawing/2014/main" id="{1E0BCC6E-D39B-4CEE-E378-67FDFBBD86BF}"/>
              </a:ext>
            </a:extLst>
          </p:cNvPr>
          <p:cNvSpPr/>
          <p:nvPr/>
        </p:nvSpPr>
        <p:spPr>
          <a:xfrm>
            <a:off x="5557650" y="4045197"/>
            <a:ext cx="724050" cy="504000"/>
          </a:xfrm>
          <a:prstGeom prst="parallelogram">
            <a:avLst>
              <a:gd name="adj" fmla="val 25000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FDF1ABB4-D751-5BA0-45A5-1B30DE992816}"/>
                  </a:ext>
                </a:extLst>
              </p:cNvPr>
              <p:cNvSpPr txBox="1"/>
              <p:nvPr/>
            </p:nvSpPr>
            <p:spPr>
              <a:xfrm>
                <a:off x="6480000" y="2595297"/>
                <a:ext cx="1080000" cy="180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16×256</m:t>
                    </m:r>
                  </m:oMath>
                </a14:m>
                <a:r>
                  <a:rPr lang="en-US" altLang="ko-KR" sz="1200" dirty="0"/>
                  <a:t> –d </a:t>
                </a:r>
              </a:p>
            </p:txBody>
          </p:sp>
        </mc:Choice>
        <mc:Fallback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FDF1ABB4-D751-5BA0-45A5-1B30DE9928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0000" y="2595297"/>
                <a:ext cx="1080000" cy="180000"/>
              </a:xfrm>
              <a:prstGeom prst="rect">
                <a:avLst/>
              </a:prstGeom>
              <a:blipFill>
                <a:blip r:embed="rId5"/>
                <a:stretch>
                  <a:fillRect t="-27586" r="-2825" b="-5517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7CED30CD-BABC-BCF8-4A3C-5D56E436C813}"/>
                  </a:ext>
                </a:extLst>
              </p:cNvPr>
              <p:cNvSpPr txBox="1"/>
              <p:nvPr/>
            </p:nvSpPr>
            <p:spPr>
              <a:xfrm>
                <a:off x="6480000" y="3383502"/>
                <a:ext cx="1080000" cy="180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ko-KR" sz="1200" i="1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×256</m:t>
                    </m:r>
                  </m:oMath>
                </a14:m>
                <a:r>
                  <a:rPr lang="en-US" altLang="ko-KR" sz="1200" dirty="0"/>
                  <a:t> –d </a:t>
                </a:r>
              </a:p>
            </p:txBody>
          </p:sp>
        </mc:Choice>
        <mc:Fallback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7CED30CD-BABC-BCF8-4A3C-5D56E436C8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0000" y="3383502"/>
                <a:ext cx="1080000" cy="180000"/>
              </a:xfrm>
              <a:prstGeom prst="rect">
                <a:avLst/>
              </a:prstGeom>
              <a:blipFill>
                <a:blip r:embed="rId6"/>
                <a:stretch>
                  <a:fillRect t="-26667" b="-5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DC5BD9F7-D757-58DF-57A4-00C4539E5E75}"/>
                  </a:ext>
                </a:extLst>
              </p:cNvPr>
              <p:cNvSpPr txBox="1"/>
              <p:nvPr/>
            </p:nvSpPr>
            <p:spPr>
              <a:xfrm>
                <a:off x="6480000" y="4212000"/>
                <a:ext cx="1080000" cy="180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ko-KR" sz="12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×256</m:t>
                    </m:r>
                  </m:oMath>
                </a14:m>
                <a:r>
                  <a:rPr lang="en-US" altLang="ko-KR" sz="1200" dirty="0"/>
                  <a:t> –d </a:t>
                </a:r>
              </a:p>
            </p:txBody>
          </p:sp>
        </mc:Choice>
        <mc:Fallback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DC5BD9F7-D757-58DF-57A4-00C4539E5E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0000" y="4212000"/>
                <a:ext cx="1080000" cy="180000"/>
              </a:xfrm>
              <a:prstGeom prst="rect">
                <a:avLst/>
              </a:prstGeom>
              <a:blipFill>
                <a:blip r:embed="rId7"/>
                <a:stretch>
                  <a:fillRect t="-27586" b="-5517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9" name="직사각형 78">
            <a:extLst>
              <a:ext uri="{FF2B5EF4-FFF2-40B4-BE49-F238E27FC236}">
                <a16:creationId xmlns:a16="http://schemas.microsoft.com/office/drawing/2014/main" id="{B4E3E254-7565-18AF-1C80-548CFED31D5A}"/>
              </a:ext>
            </a:extLst>
          </p:cNvPr>
          <p:cNvSpPr/>
          <p:nvPr/>
        </p:nvSpPr>
        <p:spPr>
          <a:xfrm>
            <a:off x="7740000" y="2160000"/>
            <a:ext cx="90000" cy="180000"/>
          </a:xfrm>
          <a:prstGeom prst="rect">
            <a:avLst/>
          </a:pr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4571FCA0-FD35-C396-08CD-955AA7D3288A}"/>
              </a:ext>
            </a:extLst>
          </p:cNvPr>
          <p:cNvSpPr/>
          <p:nvPr/>
        </p:nvSpPr>
        <p:spPr>
          <a:xfrm>
            <a:off x="7740000" y="2376000"/>
            <a:ext cx="90000" cy="180000"/>
          </a:xfrm>
          <a:prstGeom prst="rect">
            <a:avLst/>
          </a:pr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EF65BCE3-D5D2-4220-613B-703E02D9FD97}"/>
              </a:ext>
            </a:extLst>
          </p:cNvPr>
          <p:cNvSpPr/>
          <p:nvPr/>
        </p:nvSpPr>
        <p:spPr>
          <a:xfrm>
            <a:off x="7740000" y="2806494"/>
            <a:ext cx="90000" cy="180000"/>
          </a:xfrm>
          <a:prstGeom prst="rect">
            <a:avLst/>
          </a:pr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83702E4B-F970-8163-15E9-0B56E8A9BE75}"/>
              </a:ext>
            </a:extLst>
          </p:cNvPr>
          <p:cNvSpPr/>
          <p:nvPr/>
        </p:nvSpPr>
        <p:spPr>
          <a:xfrm>
            <a:off x="7740000" y="3021741"/>
            <a:ext cx="90000" cy="180000"/>
          </a:xfrm>
          <a:prstGeom prst="rect">
            <a:avLst/>
          </a:pr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1C3FC2A4-9389-ABC4-33B6-DC4E2A8C345F}"/>
                  </a:ext>
                </a:extLst>
              </p:cNvPr>
              <p:cNvSpPr txBox="1"/>
              <p:nvPr/>
            </p:nvSpPr>
            <p:spPr>
              <a:xfrm>
                <a:off x="7701600" y="2590494"/>
                <a:ext cx="180000" cy="180000"/>
              </a:xfrm>
              <a:prstGeom prst="rect">
                <a:avLst/>
              </a:prstGeom>
              <a:noFill/>
            </p:spPr>
            <p:txBody>
              <a:bodyPr vert="eaVert" wrap="squar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1C3FC2A4-9389-ABC4-33B6-DC4E2A8C34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1600" y="2590494"/>
                <a:ext cx="180000" cy="180000"/>
              </a:xfrm>
              <a:prstGeom prst="rect">
                <a:avLst/>
              </a:prstGeom>
              <a:blipFill>
                <a:blip r:embed="rId8"/>
                <a:stretch>
                  <a:fillRect l="-106667" r="-66667" b="-1206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5" name="직사각형 84">
            <a:extLst>
              <a:ext uri="{FF2B5EF4-FFF2-40B4-BE49-F238E27FC236}">
                <a16:creationId xmlns:a16="http://schemas.microsoft.com/office/drawing/2014/main" id="{575C5E72-E0CD-ED60-1CE1-B6353ADDE454}"/>
              </a:ext>
            </a:extLst>
          </p:cNvPr>
          <p:cNvSpPr/>
          <p:nvPr/>
        </p:nvSpPr>
        <p:spPr>
          <a:xfrm>
            <a:off x="7920000" y="3203502"/>
            <a:ext cx="90000" cy="180000"/>
          </a:xfrm>
          <a:prstGeom prst="rect">
            <a:avLst/>
          </a:prstGeom>
          <a:solidFill>
            <a:srgbClr val="7030A0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934A918B-D46D-98E7-CA11-25E23EE593D4}"/>
              </a:ext>
            </a:extLst>
          </p:cNvPr>
          <p:cNvSpPr/>
          <p:nvPr/>
        </p:nvSpPr>
        <p:spPr>
          <a:xfrm>
            <a:off x="7920000" y="3420000"/>
            <a:ext cx="90000" cy="180000"/>
          </a:xfrm>
          <a:prstGeom prst="rect">
            <a:avLst/>
          </a:prstGeom>
          <a:solidFill>
            <a:srgbClr val="7030A0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16705B7A-79CF-0820-A3BF-09CA17DFEA04}"/>
              </a:ext>
            </a:extLst>
          </p:cNvPr>
          <p:cNvSpPr/>
          <p:nvPr/>
        </p:nvSpPr>
        <p:spPr>
          <a:xfrm>
            <a:off x="7920000" y="3635502"/>
            <a:ext cx="90000" cy="180000"/>
          </a:xfrm>
          <a:prstGeom prst="rect">
            <a:avLst/>
          </a:prstGeom>
          <a:solidFill>
            <a:srgbClr val="7030A0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4FF0987F-569D-9A09-461D-21818BF0FEFF}"/>
              </a:ext>
            </a:extLst>
          </p:cNvPr>
          <p:cNvSpPr/>
          <p:nvPr/>
        </p:nvSpPr>
        <p:spPr>
          <a:xfrm>
            <a:off x="7920000" y="3851004"/>
            <a:ext cx="90000" cy="180000"/>
          </a:xfrm>
          <a:prstGeom prst="rect">
            <a:avLst/>
          </a:prstGeom>
          <a:solidFill>
            <a:srgbClr val="7030A0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C0982D4A-2F1B-3165-50E4-A6C2182AD824}"/>
              </a:ext>
            </a:extLst>
          </p:cNvPr>
          <p:cNvSpPr/>
          <p:nvPr/>
        </p:nvSpPr>
        <p:spPr>
          <a:xfrm>
            <a:off x="8100000" y="4212000"/>
            <a:ext cx="90000" cy="180000"/>
          </a:xfrm>
          <a:prstGeom prst="rect">
            <a:avLst/>
          </a:prstGeom>
          <a:solidFill>
            <a:srgbClr val="FF0000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0" name="왼쪽 중괄호 89">
            <a:extLst>
              <a:ext uri="{FF2B5EF4-FFF2-40B4-BE49-F238E27FC236}">
                <a16:creationId xmlns:a16="http://schemas.microsoft.com/office/drawing/2014/main" id="{2B55F005-4193-42D0-E3F8-F9AA242A6684}"/>
              </a:ext>
            </a:extLst>
          </p:cNvPr>
          <p:cNvSpPr/>
          <p:nvPr/>
        </p:nvSpPr>
        <p:spPr>
          <a:xfrm rot="10800000">
            <a:off x="8730000" y="2407991"/>
            <a:ext cx="360000" cy="2160000"/>
          </a:xfrm>
          <a:prstGeom prst="leftBrace">
            <a:avLst>
              <a:gd name="adj1" fmla="val 51949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70A75B9B-232A-8A61-2FD5-83F70D0C9885}"/>
              </a:ext>
            </a:extLst>
          </p:cNvPr>
          <p:cNvSpPr/>
          <p:nvPr/>
        </p:nvSpPr>
        <p:spPr>
          <a:xfrm>
            <a:off x="9360000" y="2933502"/>
            <a:ext cx="270000" cy="108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E65ED70-293F-35E8-50B2-86FA5B687573}"/>
              </a:ext>
            </a:extLst>
          </p:cNvPr>
          <p:cNvSpPr txBox="1"/>
          <p:nvPr/>
        </p:nvSpPr>
        <p:spPr>
          <a:xfrm>
            <a:off x="8955000" y="2520000"/>
            <a:ext cx="1080000" cy="1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200" dirty="0"/>
              <a:t>FC layers</a:t>
            </a:r>
          </a:p>
        </p:txBody>
      </p: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42A2E299-4442-C4EF-5B14-6D6002CA5087}"/>
              </a:ext>
            </a:extLst>
          </p:cNvPr>
          <p:cNvCxnSpPr>
            <a:cxnSpLocks/>
          </p:cNvCxnSpPr>
          <p:nvPr/>
        </p:nvCxnSpPr>
        <p:spPr>
          <a:xfrm>
            <a:off x="2228056" y="3491247"/>
            <a:ext cx="12938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1DE84B74-550B-6EE1-0597-BD3E0AD529CB}"/>
              </a:ext>
            </a:extLst>
          </p:cNvPr>
          <p:cNvCxnSpPr>
            <a:cxnSpLocks/>
          </p:cNvCxnSpPr>
          <p:nvPr/>
        </p:nvCxnSpPr>
        <p:spPr>
          <a:xfrm>
            <a:off x="3033713" y="3491247"/>
            <a:ext cx="31432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FEF52FF0-C203-7C60-CB60-3C3E30392BD2}"/>
              </a:ext>
            </a:extLst>
          </p:cNvPr>
          <p:cNvCxnSpPr>
            <a:cxnSpLocks/>
          </p:cNvCxnSpPr>
          <p:nvPr/>
        </p:nvCxnSpPr>
        <p:spPr>
          <a:xfrm>
            <a:off x="4410000" y="3493963"/>
            <a:ext cx="31432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750DBD71-EDB2-57C6-51E0-C305D9B51554}"/>
              </a:ext>
            </a:extLst>
          </p:cNvPr>
          <p:cNvCxnSpPr>
            <a:cxnSpLocks/>
          </p:cNvCxnSpPr>
          <p:nvPr/>
        </p:nvCxnSpPr>
        <p:spPr>
          <a:xfrm>
            <a:off x="9125361" y="3491247"/>
            <a:ext cx="18056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43F8B570-822B-BAD0-316E-5DD666651707}"/>
              </a:ext>
            </a:extLst>
          </p:cNvPr>
          <p:cNvSpPr/>
          <p:nvPr/>
        </p:nvSpPr>
        <p:spPr>
          <a:xfrm>
            <a:off x="8550000" y="2340000"/>
            <a:ext cx="90000" cy="180000"/>
          </a:xfrm>
          <a:prstGeom prst="rect">
            <a:avLst/>
          </a:pr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767ACA36-AA0C-7E1E-B16D-EE477B54EB8E}"/>
              </a:ext>
            </a:extLst>
          </p:cNvPr>
          <p:cNvSpPr/>
          <p:nvPr/>
        </p:nvSpPr>
        <p:spPr>
          <a:xfrm>
            <a:off x="8550000" y="2556000"/>
            <a:ext cx="90000" cy="180000"/>
          </a:xfrm>
          <a:prstGeom prst="rect">
            <a:avLst/>
          </a:pr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FEEBB7E7-A25F-2CF7-1C47-C2C0957F52AA}"/>
              </a:ext>
            </a:extLst>
          </p:cNvPr>
          <p:cNvSpPr/>
          <p:nvPr/>
        </p:nvSpPr>
        <p:spPr>
          <a:xfrm>
            <a:off x="8544863" y="2770494"/>
            <a:ext cx="90000" cy="180000"/>
          </a:xfrm>
          <a:prstGeom prst="rect">
            <a:avLst/>
          </a:pr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825145E6-351F-0813-3A43-F419215DE35F}"/>
              </a:ext>
            </a:extLst>
          </p:cNvPr>
          <p:cNvSpPr/>
          <p:nvPr/>
        </p:nvSpPr>
        <p:spPr>
          <a:xfrm>
            <a:off x="8544863" y="2984988"/>
            <a:ext cx="90000" cy="180000"/>
          </a:xfrm>
          <a:prstGeom prst="rect">
            <a:avLst/>
          </a:pr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B255AC9C-8F14-F589-6F05-999866DA64DF}"/>
              </a:ext>
            </a:extLst>
          </p:cNvPr>
          <p:cNvSpPr/>
          <p:nvPr/>
        </p:nvSpPr>
        <p:spPr>
          <a:xfrm>
            <a:off x="8544863" y="3203502"/>
            <a:ext cx="90000" cy="180000"/>
          </a:xfrm>
          <a:prstGeom prst="rect">
            <a:avLst/>
          </a:pr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2AF77CA5-4D21-A1A7-E753-71A924E65B62}"/>
              </a:ext>
            </a:extLst>
          </p:cNvPr>
          <p:cNvSpPr/>
          <p:nvPr/>
        </p:nvSpPr>
        <p:spPr>
          <a:xfrm>
            <a:off x="8544863" y="3417619"/>
            <a:ext cx="90000" cy="180000"/>
          </a:xfrm>
          <a:prstGeom prst="rect">
            <a:avLst/>
          </a:prstGeom>
          <a:solidFill>
            <a:srgbClr val="7030A0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8AD58D88-7702-0080-4E60-33DFA8719144}"/>
              </a:ext>
            </a:extLst>
          </p:cNvPr>
          <p:cNvSpPr/>
          <p:nvPr/>
        </p:nvSpPr>
        <p:spPr>
          <a:xfrm>
            <a:off x="8544863" y="3630517"/>
            <a:ext cx="90000" cy="180000"/>
          </a:xfrm>
          <a:prstGeom prst="rect">
            <a:avLst/>
          </a:prstGeom>
          <a:solidFill>
            <a:srgbClr val="7030A0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F76247A0-75C4-FF1E-BDA3-DF006A54D03B}"/>
              </a:ext>
            </a:extLst>
          </p:cNvPr>
          <p:cNvSpPr/>
          <p:nvPr/>
        </p:nvSpPr>
        <p:spPr>
          <a:xfrm>
            <a:off x="8544863" y="3849619"/>
            <a:ext cx="90000" cy="180000"/>
          </a:xfrm>
          <a:prstGeom prst="rect">
            <a:avLst/>
          </a:prstGeom>
          <a:solidFill>
            <a:srgbClr val="7030A0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B5870AD8-50B7-A245-959E-B1A77975FB37}"/>
              </a:ext>
            </a:extLst>
          </p:cNvPr>
          <p:cNvSpPr/>
          <p:nvPr/>
        </p:nvSpPr>
        <p:spPr>
          <a:xfrm>
            <a:off x="8544863" y="4062517"/>
            <a:ext cx="90000" cy="180000"/>
          </a:xfrm>
          <a:prstGeom prst="rect">
            <a:avLst/>
          </a:prstGeom>
          <a:solidFill>
            <a:srgbClr val="7030A0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E66C0A55-0BA4-1527-55ED-A6B017C78DD0}"/>
              </a:ext>
            </a:extLst>
          </p:cNvPr>
          <p:cNvSpPr/>
          <p:nvPr/>
        </p:nvSpPr>
        <p:spPr>
          <a:xfrm>
            <a:off x="8544863" y="4281619"/>
            <a:ext cx="90000" cy="180000"/>
          </a:xfrm>
          <a:prstGeom prst="rect">
            <a:avLst/>
          </a:prstGeom>
          <a:solidFill>
            <a:srgbClr val="FF0000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17" name="직선 화살표 연결선 116">
            <a:extLst>
              <a:ext uri="{FF2B5EF4-FFF2-40B4-BE49-F238E27FC236}">
                <a16:creationId xmlns:a16="http://schemas.microsoft.com/office/drawing/2014/main" id="{13C6A5D0-1BE4-38EE-D674-7B646398210A}"/>
              </a:ext>
            </a:extLst>
          </p:cNvPr>
          <p:cNvCxnSpPr>
            <a:cxnSpLocks/>
          </p:cNvCxnSpPr>
          <p:nvPr/>
        </p:nvCxnSpPr>
        <p:spPr>
          <a:xfrm>
            <a:off x="8216681" y="3491285"/>
            <a:ext cx="18056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05630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E9F67-CDE1-3988-A561-AAA29C880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1BDAF5-80C7-B22F-6DF4-ECB4DBB9604A}"/>
              </a:ext>
            </a:extLst>
          </p:cNvPr>
          <p:cNvSpPr txBox="1"/>
          <p:nvPr/>
        </p:nvSpPr>
        <p:spPr>
          <a:xfrm>
            <a:off x="450000" y="1152000"/>
            <a:ext cx="11160000" cy="50400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lIns="54000" tIns="54000" rIns="54000" bIns="54000" rtlCol="0" anchor="t">
            <a:noAutofit/>
          </a:bodyPr>
          <a:lstStyle/>
          <a:p>
            <a:pPr algn="just"/>
            <a:r>
              <a:rPr lang="en-US" altLang="ko-KR" sz="1600" dirty="0"/>
              <a:t>SPP</a:t>
            </a:r>
            <a:r>
              <a:rPr lang="ko-KR" altLang="en-US" sz="1600" dirty="0"/>
              <a:t>의 개념을 차용하여 </a:t>
            </a:r>
            <a:r>
              <a:rPr lang="en-US" altLang="ko-KR" sz="1600" dirty="0"/>
              <a:t>R-CNN</a:t>
            </a:r>
            <a:r>
              <a:rPr lang="ko-KR" altLang="en-US" sz="1600" dirty="0"/>
              <a:t>의 문제 중 하나인 긴 학습</a:t>
            </a:r>
            <a:r>
              <a:rPr lang="en-US" altLang="ko-KR" sz="1600" dirty="0"/>
              <a:t>/</a:t>
            </a:r>
            <a:r>
              <a:rPr lang="ko-KR" altLang="en-US" sz="1600" dirty="0"/>
              <a:t>추론 시간을 줄이기 위해 </a:t>
            </a:r>
            <a:r>
              <a:rPr lang="en-US" altLang="ko-KR" sz="1600" dirty="0"/>
              <a:t>Fast R-CNN</a:t>
            </a:r>
            <a:r>
              <a:rPr lang="ko-KR" altLang="en-US" sz="1600" dirty="0"/>
              <a:t>을 제안함</a:t>
            </a:r>
            <a:endParaRPr lang="en-US" altLang="ko-KR" sz="1600" dirty="0"/>
          </a:p>
          <a:p>
            <a:pPr algn="just"/>
            <a:endParaRPr lang="en-US" altLang="ko-KR" sz="1600" dirty="0"/>
          </a:p>
          <a:p>
            <a:pPr algn="just"/>
            <a:r>
              <a:rPr lang="ko-KR" altLang="en-US" sz="1600" dirty="0"/>
              <a:t>완전 탐색 기반의 선택적 탐색에 </a:t>
            </a:r>
            <a:r>
              <a:rPr lang="en-US" altLang="ko-KR" sz="1600" dirty="0" err="1"/>
              <a:t>RoI</a:t>
            </a:r>
            <a:r>
              <a:rPr lang="en-US" altLang="ko-KR" sz="1600" dirty="0"/>
              <a:t>(Region of Interest) </a:t>
            </a:r>
            <a:r>
              <a:rPr lang="ko-KR" altLang="en-US" sz="1600" dirty="0" err="1"/>
              <a:t>풀링을</a:t>
            </a:r>
            <a:r>
              <a:rPr lang="ko-KR" altLang="en-US" sz="1600" dirty="0"/>
              <a:t> 적용하여 경계 상자 정보가 신경망 계층을 통과하면서 유지되도록 함</a:t>
            </a:r>
            <a:endParaRPr lang="en-US" altLang="ko-KR" sz="1600" dirty="0"/>
          </a:p>
          <a:p>
            <a:pPr algn="just"/>
            <a:endParaRPr lang="en-US" altLang="ko-KR" sz="1600" dirty="0"/>
          </a:p>
          <a:p>
            <a:pPr algn="just"/>
            <a:endParaRPr lang="en-US" altLang="ko-KR" sz="1600" dirty="0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DC619C0C-34EE-1A6B-87F5-423AEDF9891F}"/>
              </a:ext>
            </a:extLst>
          </p:cNvPr>
          <p:cNvSpPr/>
          <p:nvPr/>
        </p:nvSpPr>
        <p:spPr>
          <a:xfrm>
            <a:off x="5040000" y="2772000"/>
            <a:ext cx="2700000" cy="1800000"/>
          </a:xfrm>
          <a:prstGeom prst="rect">
            <a:avLst/>
          </a:prstGeom>
          <a:solidFill>
            <a:schemeClr val="bg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419335D6-93A0-B980-BC5A-38A17239D2F9}"/>
              </a:ext>
            </a:extLst>
          </p:cNvPr>
          <p:cNvCxnSpPr>
            <a:cxnSpLocks/>
          </p:cNvCxnSpPr>
          <p:nvPr/>
        </p:nvCxnSpPr>
        <p:spPr>
          <a:xfrm>
            <a:off x="-35554" y="0"/>
            <a:ext cx="8709" cy="64800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2B30FCF1-0DDA-9E14-14DD-BC131D344468}"/>
              </a:ext>
            </a:extLst>
          </p:cNvPr>
          <p:cNvCxnSpPr>
            <a:cxnSpLocks/>
          </p:cNvCxnSpPr>
          <p:nvPr/>
        </p:nvCxnSpPr>
        <p:spPr>
          <a:xfrm>
            <a:off x="0" y="18000"/>
            <a:ext cx="1188000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BC10A06-7590-5E7A-972D-9906CCADE26C}"/>
                  </a:ext>
                </a:extLst>
              </p:cNvPr>
              <p:cNvSpPr txBox="1"/>
              <p:nvPr/>
            </p:nvSpPr>
            <p:spPr>
              <a:xfrm>
                <a:off x="11790000" y="18000"/>
                <a:ext cx="180000" cy="180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ko-KR" altLang="en-US" sz="10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EE9155E-C90E-F835-C889-6571036C42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0000" y="18000"/>
                <a:ext cx="180000" cy="180000"/>
              </a:xfrm>
              <a:prstGeom prst="rect">
                <a:avLst/>
              </a:prstGeom>
              <a:blipFill>
                <a:blip r:embed="rId3"/>
                <a:stretch>
                  <a:fillRect t="-17241" r="-23333" b="-379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FD70483-6667-339F-0685-CDA2F48A1648}"/>
                  </a:ext>
                </a:extLst>
              </p:cNvPr>
              <p:cNvSpPr txBox="1"/>
              <p:nvPr/>
            </p:nvSpPr>
            <p:spPr>
              <a:xfrm>
                <a:off x="0" y="6390001"/>
                <a:ext cx="180000" cy="180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000" b="1" i="1" smtClean="0"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ko-KR" altLang="en-US" sz="10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0820B8-06F0-981D-7F27-711F98B69F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390001"/>
                <a:ext cx="180000" cy="180000"/>
              </a:xfrm>
              <a:prstGeom prst="rect">
                <a:avLst/>
              </a:prstGeom>
              <a:blipFill>
                <a:blip r:embed="rId4"/>
                <a:stretch>
                  <a:fillRect l="-23333" t="-30000" r="-30000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EE7DE4EC-DE2E-8534-B6E6-D6A4B363B133}"/>
              </a:ext>
            </a:extLst>
          </p:cNvPr>
          <p:cNvSpPr txBox="1"/>
          <p:nvPr/>
        </p:nvSpPr>
        <p:spPr>
          <a:xfrm>
            <a:off x="360000" y="360000"/>
            <a:ext cx="2250000" cy="450000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2400" b="1" dirty="0"/>
              <a:t>2</a:t>
            </a:r>
            <a:r>
              <a:rPr lang="ko-KR" altLang="en-US" sz="2400" b="1" dirty="0"/>
              <a:t>단계 객체 인식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6DA0946-6B8C-6045-89D5-F432181B14EB}"/>
              </a:ext>
            </a:extLst>
          </p:cNvPr>
          <p:cNvSpPr/>
          <p:nvPr/>
        </p:nvSpPr>
        <p:spPr>
          <a:xfrm>
            <a:off x="360000" y="180000"/>
            <a:ext cx="450000" cy="1800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/>
              <a:t>목차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9604D0C-C9FC-5643-7E5D-DA48F69D328B}"/>
              </a:ext>
            </a:extLst>
          </p:cNvPr>
          <p:cNvSpPr/>
          <p:nvPr/>
        </p:nvSpPr>
        <p:spPr>
          <a:xfrm>
            <a:off x="450000" y="953502"/>
            <a:ext cx="450000" cy="180000"/>
          </a:xfrm>
          <a:prstGeom prst="rect">
            <a:avLst/>
          </a:prstGeom>
          <a:solidFill>
            <a:srgbClr val="92D050"/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/>
              <a:t>내용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1BBF889-C593-B389-CC1B-87BF44DFE029}"/>
              </a:ext>
            </a:extLst>
          </p:cNvPr>
          <p:cNvSpPr/>
          <p:nvPr/>
        </p:nvSpPr>
        <p:spPr>
          <a:xfrm>
            <a:off x="9720000" y="6570001"/>
            <a:ext cx="2160000" cy="27000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[4] </a:t>
            </a:r>
            <a:r>
              <a:rPr lang="en-US" altLang="ko-KR" sz="1200" dirty="0" err="1">
                <a:solidFill>
                  <a:schemeClr val="tx1"/>
                </a:solidFill>
              </a:rPr>
              <a:t>Girshick</a:t>
            </a:r>
            <a:r>
              <a:rPr lang="en-US" altLang="ko-KR" sz="1200" dirty="0">
                <a:solidFill>
                  <a:schemeClr val="tx1"/>
                </a:solidFill>
              </a:rPr>
              <a:t>, “Fast R-CNN”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BF18B33-1623-75F8-AF21-C4780CF8584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69" t="7134" r="82422" b="5883"/>
          <a:stretch>
            <a:fillRect/>
          </a:stretch>
        </p:blipFill>
        <p:spPr>
          <a:xfrm>
            <a:off x="1800000" y="3060000"/>
            <a:ext cx="1260000" cy="126000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14" name="정육면체 13">
            <a:extLst>
              <a:ext uri="{FF2B5EF4-FFF2-40B4-BE49-F238E27FC236}">
                <a16:creationId xmlns:a16="http://schemas.microsoft.com/office/drawing/2014/main" id="{828FBDAB-04FF-D250-CC93-7A01AE836077}"/>
              </a:ext>
            </a:extLst>
          </p:cNvPr>
          <p:cNvSpPr/>
          <p:nvPr/>
        </p:nvSpPr>
        <p:spPr>
          <a:xfrm>
            <a:off x="3960000" y="2772000"/>
            <a:ext cx="720000" cy="1800000"/>
          </a:xfrm>
          <a:prstGeom prst="cube">
            <a:avLst>
              <a:gd name="adj" fmla="val 86232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E902234-C84C-4996-D3B0-9E13D31408C2}"/>
              </a:ext>
            </a:extLst>
          </p:cNvPr>
          <p:cNvSpPr/>
          <p:nvPr/>
        </p:nvSpPr>
        <p:spPr>
          <a:xfrm>
            <a:off x="1995974" y="3096000"/>
            <a:ext cx="900000" cy="1224000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335E4821-B944-B9BD-DC81-62ADDE4EE871}"/>
              </a:ext>
            </a:extLst>
          </p:cNvPr>
          <p:cNvCxnSpPr>
            <a:cxnSpLocks/>
          </p:cNvCxnSpPr>
          <p:nvPr/>
        </p:nvCxnSpPr>
        <p:spPr>
          <a:xfrm>
            <a:off x="3077999" y="3600000"/>
            <a:ext cx="882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2FD60206-9F62-7754-05F1-89AB30633694}"/>
              </a:ext>
            </a:extLst>
          </p:cNvPr>
          <p:cNvCxnSpPr>
            <a:cxnSpLocks/>
          </p:cNvCxnSpPr>
          <p:nvPr/>
        </p:nvCxnSpPr>
        <p:spPr>
          <a:xfrm>
            <a:off x="2906141" y="3960000"/>
            <a:ext cx="1314000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정육면체 14">
            <a:extLst>
              <a:ext uri="{FF2B5EF4-FFF2-40B4-BE49-F238E27FC236}">
                <a16:creationId xmlns:a16="http://schemas.microsoft.com/office/drawing/2014/main" id="{7392BDE0-3325-9E7F-EC33-CEE5B99FEE6B}"/>
              </a:ext>
            </a:extLst>
          </p:cNvPr>
          <p:cNvSpPr/>
          <p:nvPr/>
        </p:nvSpPr>
        <p:spPr>
          <a:xfrm>
            <a:off x="4230000" y="3132000"/>
            <a:ext cx="360000" cy="1080000"/>
          </a:xfrm>
          <a:prstGeom prst="cube">
            <a:avLst>
              <a:gd name="adj" fmla="val 86232"/>
            </a:avLst>
          </a:prstGeom>
          <a:solidFill>
            <a:schemeClr val="bg2">
              <a:lumMod val="90000"/>
            </a:schemeClr>
          </a:solidFill>
          <a:ln w="190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48840B4-B855-F3EF-0AA0-7899801F2542}"/>
              </a:ext>
            </a:extLst>
          </p:cNvPr>
          <p:cNvSpPr txBox="1"/>
          <p:nvPr/>
        </p:nvSpPr>
        <p:spPr>
          <a:xfrm>
            <a:off x="3060000" y="3420000"/>
            <a:ext cx="900000" cy="1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000" dirty="0"/>
              <a:t>Deep </a:t>
            </a:r>
            <a:r>
              <a:rPr lang="en-US" altLang="ko-KR" sz="1000" dirty="0" err="1"/>
              <a:t>ConvNet</a:t>
            </a:r>
            <a:endParaRPr lang="en-US" altLang="ko-KR" sz="10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A8A8D60-68CF-D081-9F82-E857DE591977}"/>
              </a:ext>
            </a:extLst>
          </p:cNvPr>
          <p:cNvSpPr txBox="1"/>
          <p:nvPr/>
        </p:nvSpPr>
        <p:spPr>
          <a:xfrm>
            <a:off x="3060000" y="3960000"/>
            <a:ext cx="900000" cy="1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000" dirty="0" err="1"/>
              <a:t>RoI</a:t>
            </a:r>
            <a:r>
              <a:rPr lang="en-US" altLang="ko-KR" sz="1000" dirty="0"/>
              <a:t> </a:t>
            </a:r>
            <a:r>
              <a:rPr lang="en-US" altLang="ko-KR" sz="1000" dirty="0" err="1"/>
              <a:t>Proj</a:t>
            </a:r>
            <a:endParaRPr lang="en-US" altLang="ko-KR" sz="1000" dirty="0"/>
          </a:p>
        </p:txBody>
      </p:sp>
      <p:sp>
        <p:nvSpPr>
          <p:cNvPr id="31" name="정육면체 30">
            <a:extLst>
              <a:ext uri="{FF2B5EF4-FFF2-40B4-BE49-F238E27FC236}">
                <a16:creationId xmlns:a16="http://schemas.microsoft.com/office/drawing/2014/main" id="{D2248094-7696-D682-F8CC-D122EBF6030C}"/>
              </a:ext>
            </a:extLst>
          </p:cNvPr>
          <p:cNvSpPr/>
          <p:nvPr/>
        </p:nvSpPr>
        <p:spPr>
          <a:xfrm>
            <a:off x="5220000" y="3564000"/>
            <a:ext cx="180000" cy="360000"/>
          </a:xfrm>
          <a:prstGeom prst="cube">
            <a:avLst>
              <a:gd name="adj" fmla="val 57128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1B4AFF4-1EB2-B379-676D-C3E8A2B57E52}"/>
              </a:ext>
            </a:extLst>
          </p:cNvPr>
          <p:cNvSpPr/>
          <p:nvPr/>
        </p:nvSpPr>
        <p:spPr>
          <a:xfrm>
            <a:off x="6480000" y="3312000"/>
            <a:ext cx="36000" cy="900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AA083C8A-8748-1E56-9A91-0740314A13FE}"/>
              </a:ext>
            </a:extLst>
          </p:cNvPr>
          <p:cNvCxnSpPr>
            <a:cxnSpLocks/>
          </p:cNvCxnSpPr>
          <p:nvPr/>
        </p:nvCxnSpPr>
        <p:spPr>
          <a:xfrm>
            <a:off x="4446000" y="3835400"/>
            <a:ext cx="7623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0CC1D000-16C1-158F-2C9B-B9BDA94D518E}"/>
              </a:ext>
            </a:extLst>
          </p:cNvPr>
          <p:cNvCxnSpPr>
            <a:cxnSpLocks/>
          </p:cNvCxnSpPr>
          <p:nvPr/>
        </p:nvCxnSpPr>
        <p:spPr>
          <a:xfrm>
            <a:off x="5333700" y="3834606"/>
            <a:ext cx="11412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DD30771-9958-8092-B12A-B1FA8C433FDE}"/>
              </a:ext>
            </a:extLst>
          </p:cNvPr>
          <p:cNvSpPr/>
          <p:nvPr/>
        </p:nvSpPr>
        <p:spPr>
          <a:xfrm>
            <a:off x="5760000" y="3561600"/>
            <a:ext cx="9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3E0E3C6-F8B4-1AE4-7A6E-27265B17B401}"/>
              </a:ext>
            </a:extLst>
          </p:cNvPr>
          <p:cNvSpPr/>
          <p:nvPr/>
        </p:nvSpPr>
        <p:spPr>
          <a:xfrm>
            <a:off x="5940000" y="3559500"/>
            <a:ext cx="9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47" name="연결선: 꺾임 46">
            <a:extLst>
              <a:ext uri="{FF2B5EF4-FFF2-40B4-BE49-F238E27FC236}">
                <a16:creationId xmlns:a16="http://schemas.microsoft.com/office/drawing/2014/main" id="{908C6DE6-AAD2-8C26-596E-DD0E0918A44D}"/>
              </a:ext>
            </a:extLst>
          </p:cNvPr>
          <p:cNvCxnSpPr>
            <a:cxnSpLocks/>
            <a:endCxn id="40" idx="2"/>
          </p:cNvCxnSpPr>
          <p:nvPr/>
        </p:nvCxnSpPr>
        <p:spPr>
          <a:xfrm flipV="1">
            <a:off x="6540778" y="3006000"/>
            <a:ext cx="839222" cy="828606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C0873BD8-29EB-6C7A-B44A-005C461F1C78}"/>
              </a:ext>
            </a:extLst>
          </p:cNvPr>
          <p:cNvSpPr/>
          <p:nvPr/>
        </p:nvSpPr>
        <p:spPr>
          <a:xfrm>
            <a:off x="7200000" y="3114001"/>
            <a:ext cx="360000" cy="900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83617136-CCE6-389D-144E-57C552617121}"/>
              </a:ext>
            </a:extLst>
          </p:cNvPr>
          <p:cNvCxnSpPr>
            <a:cxnSpLocks/>
          </p:cNvCxnSpPr>
          <p:nvPr/>
        </p:nvCxnSpPr>
        <p:spPr>
          <a:xfrm flipV="1">
            <a:off x="6498000" y="3009600"/>
            <a:ext cx="0" cy="288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7B95900E-9626-1AF0-779D-AEB278A66970}"/>
              </a:ext>
            </a:extLst>
          </p:cNvPr>
          <p:cNvSpPr/>
          <p:nvPr/>
        </p:nvSpPr>
        <p:spPr>
          <a:xfrm>
            <a:off x="6228000" y="2970000"/>
            <a:ext cx="540000" cy="36000"/>
          </a:xfrm>
          <a:prstGeom prst="rect">
            <a:avLst/>
          </a:prstGeom>
          <a:noFill/>
          <a:ln w="1905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EFFAB393-60DE-4046-F9B9-638E68E39139}"/>
              </a:ext>
            </a:extLst>
          </p:cNvPr>
          <p:cNvSpPr/>
          <p:nvPr/>
        </p:nvSpPr>
        <p:spPr>
          <a:xfrm>
            <a:off x="7110000" y="2970000"/>
            <a:ext cx="540000" cy="36000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324C7012-71D7-C706-3B96-14279898C1A1}"/>
              </a:ext>
            </a:extLst>
          </p:cNvPr>
          <p:cNvSpPr/>
          <p:nvPr/>
        </p:nvSpPr>
        <p:spPr>
          <a:xfrm>
            <a:off x="6318000" y="3114001"/>
            <a:ext cx="360000" cy="900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55001DE-23C2-C2D1-AB82-A68261359D8A}"/>
              </a:ext>
            </a:extLst>
          </p:cNvPr>
          <p:cNvSpPr txBox="1"/>
          <p:nvPr/>
        </p:nvSpPr>
        <p:spPr>
          <a:xfrm>
            <a:off x="4883700" y="3337497"/>
            <a:ext cx="900000" cy="1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000" dirty="0" err="1"/>
              <a:t>RoI</a:t>
            </a:r>
            <a:r>
              <a:rPr lang="en-US" altLang="ko-KR" sz="1000" dirty="0"/>
              <a:t> Pooling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F50B8F7-60CB-913E-F399-F3909C5D72BC}"/>
              </a:ext>
            </a:extLst>
          </p:cNvPr>
          <p:cNvSpPr txBox="1"/>
          <p:nvPr/>
        </p:nvSpPr>
        <p:spPr>
          <a:xfrm>
            <a:off x="5454300" y="3954748"/>
            <a:ext cx="900000" cy="1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000" dirty="0"/>
              <a:t>FC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F39FB70-9BC0-A05D-F8AE-9381AEF4804C}"/>
              </a:ext>
            </a:extLst>
          </p:cNvPr>
          <p:cNvSpPr txBox="1"/>
          <p:nvPr/>
        </p:nvSpPr>
        <p:spPr>
          <a:xfrm>
            <a:off x="5958000" y="4271308"/>
            <a:ext cx="1080000" cy="1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000" dirty="0" err="1"/>
              <a:t>RoI</a:t>
            </a:r>
            <a:r>
              <a:rPr lang="en-US" altLang="ko-KR" sz="1000" dirty="0"/>
              <a:t> feature vector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1A512E0-FB59-1761-0F9F-5F228C8BE422}"/>
              </a:ext>
            </a:extLst>
          </p:cNvPr>
          <p:cNvSpPr txBox="1"/>
          <p:nvPr/>
        </p:nvSpPr>
        <p:spPr>
          <a:xfrm>
            <a:off x="6455223" y="3075539"/>
            <a:ext cx="900000" cy="1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000" dirty="0"/>
              <a:t>FC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782A523-2149-F175-30F8-AFEE95D418B5}"/>
              </a:ext>
            </a:extLst>
          </p:cNvPr>
          <p:cNvSpPr txBox="1"/>
          <p:nvPr/>
        </p:nvSpPr>
        <p:spPr>
          <a:xfrm>
            <a:off x="5469778" y="2899685"/>
            <a:ext cx="900000" cy="1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000" dirty="0" err="1"/>
              <a:t>Softmax</a:t>
            </a:r>
            <a:endParaRPr lang="en-US" altLang="ko-KR" sz="10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8803948-A912-BFBC-CCF1-1229BD4CD22E}"/>
              </a:ext>
            </a:extLst>
          </p:cNvPr>
          <p:cNvSpPr txBox="1"/>
          <p:nvPr/>
        </p:nvSpPr>
        <p:spPr>
          <a:xfrm>
            <a:off x="7531986" y="2899685"/>
            <a:ext cx="900000" cy="1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000" dirty="0"/>
              <a:t>regressor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B95D92B-A097-DCC6-89E2-7EF6E67B4E17}"/>
              </a:ext>
            </a:extLst>
          </p:cNvPr>
          <p:cNvSpPr txBox="1"/>
          <p:nvPr/>
        </p:nvSpPr>
        <p:spPr>
          <a:xfrm>
            <a:off x="7200000" y="4398148"/>
            <a:ext cx="540000" cy="1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800" dirty="0"/>
              <a:t>each </a:t>
            </a:r>
            <a:r>
              <a:rPr lang="en-US" altLang="ko-KR" sz="800" dirty="0" err="1"/>
              <a:t>RoI</a:t>
            </a:r>
            <a:endParaRPr lang="en-US" altLang="ko-KR" sz="8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CCF4F68-7323-004F-53D9-C1C610EDCE13}"/>
              </a:ext>
            </a:extLst>
          </p:cNvPr>
          <p:cNvSpPr txBox="1"/>
          <p:nvPr/>
        </p:nvSpPr>
        <p:spPr>
          <a:xfrm>
            <a:off x="3690000" y="4680000"/>
            <a:ext cx="1080000" cy="1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000" dirty="0"/>
              <a:t>Conv feature map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CC8C023-3BD5-3D1D-8618-778C6439E6DF}"/>
              </a:ext>
            </a:extLst>
          </p:cNvPr>
          <p:cNvSpPr txBox="1"/>
          <p:nvPr/>
        </p:nvSpPr>
        <p:spPr>
          <a:xfrm>
            <a:off x="6114900" y="2583000"/>
            <a:ext cx="720000" cy="1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000" dirty="0"/>
              <a:t>Outputs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BFA7BD8-082E-000F-49BD-A4E49D4DEE20}"/>
              </a:ext>
            </a:extLst>
          </p:cNvPr>
          <p:cNvSpPr txBox="1"/>
          <p:nvPr/>
        </p:nvSpPr>
        <p:spPr>
          <a:xfrm>
            <a:off x="7020000" y="2583000"/>
            <a:ext cx="720000" cy="1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000" dirty="0" err="1"/>
              <a:t>bbox</a:t>
            </a:r>
            <a:endParaRPr lang="en-US" altLang="ko-KR" sz="1000" dirty="0"/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64F9EA63-CF4E-81E9-D812-75DFCD28FAE1}"/>
              </a:ext>
            </a:extLst>
          </p:cNvPr>
          <p:cNvSpPr/>
          <p:nvPr/>
        </p:nvSpPr>
        <p:spPr>
          <a:xfrm>
            <a:off x="1530000" y="2430000"/>
            <a:ext cx="6840000" cy="252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CA425235-7306-69EC-BFA7-8D3ED27E1E17}"/>
              </a:ext>
            </a:extLst>
          </p:cNvPr>
          <p:cNvSpPr/>
          <p:nvPr/>
        </p:nvSpPr>
        <p:spPr>
          <a:xfrm>
            <a:off x="1530000" y="2232000"/>
            <a:ext cx="1080000" cy="180000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Fast R-CNN [4]</a:t>
            </a:r>
            <a:endParaRPr lang="ko-KR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8821849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0CA60-2D5D-7DBE-5E6F-8A74E859E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00C0FC8-31C7-BB38-1482-0C534FEE266E}"/>
              </a:ext>
            </a:extLst>
          </p:cNvPr>
          <p:cNvCxnSpPr>
            <a:cxnSpLocks/>
          </p:cNvCxnSpPr>
          <p:nvPr/>
        </p:nvCxnSpPr>
        <p:spPr>
          <a:xfrm>
            <a:off x="0" y="0"/>
            <a:ext cx="8709" cy="64800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09551885-58C3-30EC-6057-FBD6ECBB6857}"/>
              </a:ext>
            </a:extLst>
          </p:cNvPr>
          <p:cNvCxnSpPr>
            <a:cxnSpLocks/>
          </p:cNvCxnSpPr>
          <p:nvPr/>
        </p:nvCxnSpPr>
        <p:spPr>
          <a:xfrm>
            <a:off x="0" y="18000"/>
            <a:ext cx="1188000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CA7E9AD-221F-D160-AAEA-B3643F4BD159}"/>
                  </a:ext>
                </a:extLst>
              </p:cNvPr>
              <p:cNvSpPr txBox="1"/>
              <p:nvPr/>
            </p:nvSpPr>
            <p:spPr>
              <a:xfrm>
                <a:off x="11790000" y="18000"/>
                <a:ext cx="180000" cy="180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ko-KR" altLang="en-US" sz="10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EE9155E-C90E-F835-C889-6571036C42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0000" y="18000"/>
                <a:ext cx="180000" cy="180000"/>
              </a:xfrm>
              <a:prstGeom prst="rect">
                <a:avLst/>
              </a:prstGeom>
              <a:blipFill>
                <a:blip r:embed="rId3"/>
                <a:stretch>
                  <a:fillRect t="-17241" r="-23333" b="-379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EBC4CF3-A761-7922-D4DF-EF9C40F855CE}"/>
                  </a:ext>
                </a:extLst>
              </p:cNvPr>
              <p:cNvSpPr txBox="1"/>
              <p:nvPr/>
            </p:nvSpPr>
            <p:spPr>
              <a:xfrm>
                <a:off x="0" y="6390001"/>
                <a:ext cx="180000" cy="180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000" b="1" i="1" smtClean="0"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ko-KR" altLang="en-US" sz="10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0820B8-06F0-981D-7F27-711F98B69F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390001"/>
                <a:ext cx="180000" cy="180000"/>
              </a:xfrm>
              <a:prstGeom prst="rect">
                <a:avLst/>
              </a:prstGeom>
              <a:blipFill>
                <a:blip r:embed="rId4"/>
                <a:stretch>
                  <a:fillRect l="-23333" t="-30000" r="-30000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031A1923-F70B-FF6D-DF78-0E7BE2B1D8F6}"/>
              </a:ext>
            </a:extLst>
          </p:cNvPr>
          <p:cNvSpPr txBox="1"/>
          <p:nvPr/>
        </p:nvSpPr>
        <p:spPr>
          <a:xfrm>
            <a:off x="360000" y="360000"/>
            <a:ext cx="2250000" cy="450000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2400" b="1" dirty="0"/>
              <a:t>2</a:t>
            </a:r>
            <a:r>
              <a:rPr lang="ko-KR" altLang="en-US" sz="2400" b="1" dirty="0"/>
              <a:t>단계 객체 인식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201F020-507A-5A36-3C9A-62E18C2B9D54}"/>
              </a:ext>
            </a:extLst>
          </p:cNvPr>
          <p:cNvSpPr/>
          <p:nvPr/>
        </p:nvSpPr>
        <p:spPr>
          <a:xfrm>
            <a:off x="360000" y="180000"/>
            <a:ext cx="450000" cy="1800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/>
              <a:t>목차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8BF866E-0044-B1CA-68F2-E0F50D35A09B}"/>
                  </a:ext>
                </a:extLst>
              </p:cNvPr>
              <p:cNvSpPr txBox="1"/>
              <p:nvPr/>
            </p:nvSpPr>
            <p:spPr>
              <a:xfrm>
                <a:off x="450000" y="1133998"/>
                <a:ext cx="11160000" cy="5040000"/>
              </a:xfrm>
              <a:prstGeom prst="rect">
                <a:avLst/>
              </a:prstGeom>
              <a:noFill/>
              <a:ln w="19050">
                <a:solidFill>
                  <a:srgbClr val="92D050"/>
                </a:solidFill>
              </a:ln>
            </p:spPr>
            <p:txBody>
              <a:bodyPr wrap="square" lIns="54000" tIns="54000" rIns="54000" bIns="54000" rtlCol="0" anchor="t">
                <a:noAutofit/>
              </a:bodyPr>
              <a:lstStyle/>
              <a:p>
                <a:pPr algn="just"/>
                <a:r>
                  <a:rPr lang="en-US" altLang="ko-KR" sz="1600" dirty="0"/>
                  <a:t>RoI </a:t>
                </a:r>
                <a:r>
                  <a:rPr lang="ko-KR" altLang="en-US" sz="1600" dirty="0" err="1"/>
                  <a:t>풀링은</a:t>
                </a:r>
                <a:r>
                  <a:rPr lang="ko-KR" altLang="en-US" sz="1600" dirty="0"/>
                  <a:t> 유효한 관심 영역 내의 특징을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ko-KR" altLang="en-US" sz="1600" dirty="0"/>
                  <a:t> 크기의 작은 특징 </a:t>
                </a:r>
                <a:r>
                  <a:rPr lang="ko-KR" altLang="en-US" sz="1600" dirty="0" err="1"/>
                  <a:t>맵으로</a:t>
                </a:r>
                <a:r>
                  <a:rPr lang="ko-KR" altLang="en-US" sz="1600" dirty="0"/>
                  <a:t> 변환한 다음</a:t>
                </a:r>
                <a:r>
                  <a:rPr lang="en-US" altLang="ko-KR" sz="1600" dirty="0"/>
                  <a:t>,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ko-KR" sz="1600" dirty="0"/>
                  <a:t> </a:t>
                </a:r>
                <a:r>
                  <a:rPr lang="ko-KR" altLang="en-US" sz="1600" dirty="0"/>
                  <a:t>크기로 각각 최대 </a:t>
                </a:r>
                <a:r>
                  <a:rPr lang="ko-KR" altLang="en-US" sz="1600" dirty="0" err="1"/>
                  <a:t>풀링을</a:t>
                </a:r>
                <a:r>
                  <a:rPr lang="ko-KR" altLang="en-US" sz="1600" dirty="0"/>
                  <a:t> 적용하여 특징 </a:t>
                </a:r>
                <a:r>
                  <a:rPr lang="ko-KR" altLang="en-US" sz="1600" dirty="0" err="1"/>
                  <a:t>맵을</a:t>
                </a:r>
                <a:r>
                  <a:rPr lang="ko-KR" altLang="en-US" sz="1600" dirty="0"/>
                  <a:t> 결정함</a:t>
                </a:r>
                <a:endParaRPr lang="en-US" altLang="ko-KR" sz="16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8BF866E-0044-B1CA-68F2-E0F50D35A0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000" y="1133998"/>
                <a:ext cx="11160000" cy="5040000"/>
              </a:xfrm>
              <a:prstGeom prst="rect">
                <a:avLst/>
              </a:prstGeom>
              <a:blipFill>
                <a:blip r:embed="rId5"/>
                <a:stretch>
                  <a:fillRect l="-600" t="-120" r="-491"/>
                </a:stretch>
              </a:blipFill>
              <a:ln w="19050">
                <a:solidFill>
                  <a:srgbClr val="92D05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직사각형 2">
            <a:extLst>
              <a:ext uri="{FF2B5EF4-FFF2-40B4-BE49-F238E27FC236}">
                <a16:creationId xmlns:a16="http://schemas.microsoft.com/office/drawing/2014/main" id="{12A09C56-811B-6488-3AE5-40FEC3CED816}"/>
              </a:ext>
            </a:extLst>
          </p:cNvPr>
          <p:cNvSpPr/>
          <p:nvPr/>
        </p:nvSpPr>
        <p:spPr>
          <a:xfrm>
            <a:off x="450000" y="953502"/>
            <a:ext cx="450000" cy="180000"/>
          </a:xfrm>
          <a:prstGeom prst="rect">
            <a:avLst/>
          </a:prstGeom>
          <a:solidFill>
            <a:srgbClr val="92D050"/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/>
              <a:t>내용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A7AB8DF9-90ED-E9EA-622B-5338DBA1EA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677876"/>
              </p:ext>
            </p:extLst>
          </p:nvPr>
        </p:nvGraphicFramePr>
        <p:xfrm>
          <a:off x="900000" y="2520000"/>
          <a:ext cx="2880000" cy="28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804657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9767351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49452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553432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208831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474295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17652724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59312927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0.88</a:t>
                      </a:r>
                      <a:endParaRPr lang="ko-KR" altLang="en-US" sz="9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0.44</a:t>
                      </a:r>
                      <a:endParaRPr lang="ko-KR" altLang="en-US" sz="9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0.14</a:t>
                      </a:r>
                      <a:endParaRPr lang="ko-KR" altLang="en-US" sz="9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0.16</a:t>
                      </a:r>
                      <a:endParaRPr lang="ko-KR" altLang="en-US" sz="9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0.37</a:t>
                      </a:r>
                      <a:endParaRPr lang="ko-KR" altLang="en-US" sz="9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0.77</a:t>
                      </a:r>
                      <a:endParaRPr lang="ko-KR" altLang="en-US" sz="9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0.96</a:t>
                      </a:r>
                      <a:endParaRPr lang="ko-KR" altLang="en-US" sz="9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0.27</a:t>
                      </a:r>
                      <a:endParaRPr lang="ko-KR" altLang="en-US" sz="9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692421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0.19</a:t>
                      </a:r>
                      <a:endParaRPr lang="ko-KR" altLang="en-US" sz="9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0.45</a:t>
                      </a:r>
                      <a:endParaRPr lang="ko-KR" altLang="en-US" sz="9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0.57</a:t>
                      </a:r>
                      <a:endParaRPr lang="ko-KR" altLang="en-US" sz="9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0.16</a:t>
                      </a:r>
                      <a:endParaRPr lang="ko-KR" altLang="en-US" sz="9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0.63</a:t>
                      </a:r>
                      <a:endParaRPr lang="ko-KR" altLang="en-US" sz="9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0.29</a:t>
                      </a:r>
                      <a:endParaRPr lang="ko-KR" altLang="en-US" sz="9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0.71</a:t>
                      </a:r>
                      <a:endParaRPr lang="ko-KR" altLang="en-US" sz="9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0.70</a:t>
                      </a:r>
                      <a:endParaRPr lang="ko-KR" altLang="en-US" sz="9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7636164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0.66</a:t>
                      </a:r>
                      <a:endParaRPr lang="ko-KR" altLang="en-US" sz="900" dirty="0"/>
                    </a:p>
                  </a:txBody>
                  <a:tcPr marL="0" marR="0" marT="0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0.26</a:t>
                      </a:r>
                      <a:endParaRPr lang="ko-KR" altLang="en-US" sz="900" dirty="0"/>
                    </a:p>
                  </a:txBody>
                  <a:tcPr marL="0" marR="0" marT="0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0.82</a:t>
                      </a:r>
                      <a:endParaRPr lang="ko-KR" altLang="en-US" sz="900" dirty="0"/>
                    </a:p>
                  </a:txBody>
                  <a:tcPr marL="0" marR="0" marT="0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0.64</a:t>
                      </a:r>
                      <a:endParaRPr lang="ko-KR" altLang="en-US" sz="900" dirty="0"/>
                    </a:p>
                  </a:txBody>
                  <a:tcPr marL="0" marR="0" marT="0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0.54</a:t>
                      </a:r>
                      <a:endParaRPr lang="ko-KR" altLang="en-US" sz="900" dirty="0"/>
                    </a:p>
                  </a:txBody>
                  <a:tcPr marL="0" marR="0" marT="0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0.73</a:t>
                      </a:r>
                      <a:endParaRPr lang="ko-KR" altLang="en-US" sz="900" dirty="0"/>
                    </a:p>
                  </a:txBody>
                  <a:tcPr marL="0" marR="0" marT="0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0.59</a:t>
                      </a:r>
                      <a:endParaRPr lang="ko-KR" altLang="en-US" sz="900" dirty="0"/>
                    </a:p>
                  </a:txBody>
                  <a:tcPr marL="0" marR="0" marT="0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0.26</a:t>
                      </a:r>
                      <a:endParaRPr lang="ko-KR" altLang="en-US" sz="9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9256376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0.85</a:t>
                      </a:r>
                      <a:endParaRPr lang="ko-KR" altLang="en-US" sz="900" dirty="0"/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0.34</a:t>
                      </a:r>
                      <a:endParaRPr lang="ko-KR" altLang="en-US" sz="900" dirty="0"/>
                    </a:p>
                  </a:txBody>
                  <a:tcPr marL="0" marR="0" marT="0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0.76</a:t>
                      </a:r>
                      <a:endParaRPr lang="ko-KR" altLang="en-US" sz="900" dirty="0"/>
                    </a:p>
                  </a:txBody>
                  <a:tcPr marL="0" marR="0" marT="0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0.84</a:t>
                      </a:r>
                      <a:endParaRPr lang="ko-KR" altLang="en-US" sz="900" dirty="0"/>
                    </a:p>
                  </a:txBody>
                  <a:tcPr marL="0" marR="0" marT="0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0.29</a:t>
                      </a:r>
                      <a:endParaRPr lang="ko-KR" altLang="en-US" sz="900" dirty="0"/>
                    </a:p>
                  </a:txBody>
                  <a:tcPr marL="0" marR="0" marT="0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0.75</a:t>
                      </a:r>
                      <a:endParaRPr lang="ko-KR" altLang="en-US" sz="900" dirty="0"/>
                    </a:p>
                  </a:txBody>
                  <a:tcPr marL="0" marR="0" marT="0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0.62</a:t>
                      </a:r>
                      <a:endParaRPr lang="ko-KR" altLang="en-US" sz="900" dirty="0"/>
                    </a:p>
                  </a:txBody>
                  <a:tcPr marL="0" marR="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0.25</a:t>
                      </a:r>
                      <a:endParaRPr lang="ko-KR" altLang="en-US" sz="900" dirty="0"/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12303302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0.32</a:t>
                      </a:r>
                      <a:endParaRPr lang="ko-KR" altLang="en-US" sz="900" dirty="0"/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0.74</a:t>
                      </a:r>
                      <a:endParaRPr lang="ko-KR" altLang="en-US" sz="900" dirty="0"/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0.21</a:t>
                      </a:r>
                      <a:endParaRPr lang="ko-KR" altLang="en-US" sz="900" dirty="0"/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0.39</a:t>
                      </a:r>
                      <a:endParaRPr lang="ko-KR" altLang="en-US" sz="900" dirty="0"/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0.34</a:t>
                      </a:r>
                      <a:endParaRPr lang="ko-KR" altLang="en-US" sz="900" dirty="0"/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0.03</a:t>
                      </a:r>
                      <a:endParaRPr lang="ko-KR" altLang="en-US" sz="900" dirty="0"/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0.33</a:t>
                      </a:r>
                      <a:endParaRPr lang="ko-KR" altLang="en-US" sz="900" dirty="0"/>
                    </a:p>
                  </a:txBody>
                  <a:tcPr marL="0" marR="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0.48</a:t>
                      </a:r>
                      <a:endParaRPr lang="ko-KR" altLang="en-US" sz="900" dirty="0"/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0852114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0.20</a:t>
                      </a:r>
                      <a:endParaRPr lang="ko-KR" altLang="en-US" sz="900" dirty="0"/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0.14</a:t>
                      </a:r>
                      <a:endParaRPr lang="ko-KR" altLang="en-US" sz="900" dirty="0"/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0.16</a:t>
                      </a:r>
                      <a:endParaRPr lang="ko-KR" altLang="en-US" sz="900" dirty="0"/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0.13</a:t>
                      </a:r>
                      <a:endParaRPr lang="ko-KR" altLang="en-US" sz="900" dirty="0"/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0.73</a:t>
                      </a:r>
                      <a:endParaRPr lang="ko-KR" altLang="en-US" sz="900" dirty="0"/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0.65</a:t>
                      </a:r>
                      <a:endParaRPr lang="ko-KR" altLang="en-US" sz="900" dirty="0"/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0.96</a:t>
                      </a:r>
                      <a:endParaRPr lang="ko-KR" altLang="en-US" sz="900" dirty="0"/>
                    </a:p>
                  </a:txBody>
                  <a:tcPr marL="0" marR="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0.32</a:t>
                      </a:r>
                      <a:endParaRPr lang="ko-KR" altLang="en-US" sz="900" dirty="0"/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09320139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0.19</a:t>
                      </a:r>
                      <a:endParaRPr lang="ko-KR" altLang="en-US" sz="900" dirty="0"/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0.69</a:t>
                      </a:r>
                      <a:endParaRPr lang="ko-KR" altLang="en-US" sz="900" dirty="0"/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0.09</a:t>
                      </a:r>
                      <a:endParaRPr lang="ko-KR" altLang="en-US" sz="900" dirty="0"/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0.86</a:t>
                      </a:r>
                      <a:endParaRPr lang="ko-KR" altLang="en-US" sz="900" dirty="0"/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0.88</a:t>
                      </a:r>
                      <a:endParaRPr lang="ko-KR" altLang="en-US" sz="900" dirty="0"/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0.07</a:t>
                      </a:r>
                      <a:endParaRPr lang="ko-KR" altLang="en-US" sz="900" dirty="0"/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0.01</a:t>
                      </a:r>
                      <a:endParaRPr lang="ko-KR" altLang="en-US" sz="900" dirty="0"/>
                    </a:p>
                  </a:txBody>
                  <a:tcPr marL="0" marR="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0.48</a:t>
                      </a:r>
                      <a:endParaRPr lang="ko-KR" altLang="en-US" sz="900" dirty="0"/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0206131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0.83</a:t>
                      </a:r>
                      <a:endParaRPr lang="ko-KR" altLang="en-US" sz="900" dirty="0"/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0.24</a:t>
                      </a:r>
                      <a:endParaRPr lang="ko-KR" altLang="en-US" sz="900" dirty="0"/>
                    </a:p>
                  </a:txBody>
                  <a:tcPr marL="0" marR="0" marT="0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0.97</a:t>
                      </a:r>
                      <a:endParaRPr lang="ko-KR" altLang="en-US" sz="900" dirty="0"/>
                    </a:p>
                  </a:txBody>
                  <a:tcPr marL="0" marR="0" marT="0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0.04</a:t>
                      </a:r>
                      <a:endParaRPr lang="ko-KR" altLang="en-US" sz="900" dirty="0"/>
                    </a:p>
                  </a:txBody>
                  <a:tcPr marL="0" marR="0" marT="0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0.24</a:t>
                      </a:r>
                      <a:endParaRPr lang="ko-KR" altLang="en-US" sz="900" dirty="0"/>
                    </a:p>
                  </a:txBody>
                  <a:tcPr marL="0" marR="0" marT="0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0.35</a:t>
                      </a:r>
                      <a:endParaRPr lang="ko-KR" altLang="en-US" sz="900" dirty="0"/>
                    </a:p>
                  </a:txBody>
                  <a:tcPr marL="0" marR="0" marT="0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0.50</a:t>
                      </a:r>
                      <a:endParaRPr lang="ko-KR" altLang="en-US" sz="900" dirty="0"/>
                    </a:p>
                  </a:txBody>
                  <a:tcPr marL="0" marR="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0.91</a:t>
                      </a:r>
                      <a:endParaRPr lang="ko-KR" altLang="en-US" sz="900" dirty="0"/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439375525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7387F7C-BF43-3F5C-48AD-D3A1C384D4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2073325"/>
              </p:ext>
            </p:extLst>
          </p:nvPr>
        </p:nvGraphicFramePr>
        <p:xfrm>
          <a:off x="4320000" y="2520000"/>
          <a:ext cx="2880000" cy="28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2804657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9767351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49452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553432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208831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474295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17652724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59312927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0.88</a:t>
                      </a:r>
                      <a:endParaRPr lang="ko-KR" altLang="en-US" sz="9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0.44</a:t>
                      </a:r>
                      <a:endParaRPr lang="ko-KR" altLang="en-US" sz="9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0.14</a:t>
                      </a:r>
                      <a:endParaRPr lang="ko-KR" altLang="en-US" sz="9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0.16</a:t>
                      </a:r>
                      <a:endParaRPr lang="ko-KR" altLang="en-US" sz="9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0.37</a:t>
                      </a:r>
                      <a:endParaRPr lang="ko-KR" altLang="en-US" sz="9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0.77</a:t>
                      </a:r>
                      <a:endParaRPr lang="ko-KR" altLang="en-US" sz="9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0.96</a:t>
                      </a:r>
                      <a:endParaRPr lang="ko-KR" altLang="en-US" sz="9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0.27</a:t>
                      </a:r>
                      <a:endParaRPr lang="ko-KR" altLang="en-US" sz="9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692421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0.19</a:t>
                      </a:r>
                      <a:endParaRPr lang="ko-KR" altLang="en-US" sz="9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0.45</a:t>
                      </a:r>
                      <a:endParaRPr lang="ko-KR" altLang="en-US" sz="9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0.57</a:t>
                      </a:r>
                      <a:endParaRPr lang="ko-KR" altLang="en-US" sz="9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0.16</a:t>
                      </a:r>
                      <a:endParaRPr lang="ko-KR" altLang="en-US" sz="9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0.63</a:t>
                      </a:r>
                      <a:endParaRPr lang="ko-KR" altLang="en-US" sz="9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0.29</a:t>
                      </a:r>
                      <a:endParaRPr lang="ko-KR" altLang="en-US" sz="9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0.71</a:t>
                      </a:r>
                      <a:endParaRPr lang="ko-KR" altLang="en-US" sz="9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0.70</a:t>
                      </a:r>
                      <a:endParaRPr lang="ko-KR" altLang="en-US" sz="9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7636164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0.66</a:t>
                      </a:r>
                      <a:endParaRPr lang="ko-KR" altLang="en-US" sz="900" dirty="0"/>
                    </a:p>
                  </a:txBody>
                  <a:tcPr marL="0" marR="0" marT="0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0.26</a:t>
                      </a:r>
                      <a:endParaRPr lang="ko-KR" altLang="en-US" sz="900" dirty="0"/>
                    </a:p>
                  </a:txBody>
                  <a:tcPr marL="0" marR="0" marT="0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0.82</a:t>
                      </a:r>
                      <a:endParaRPr lang="ko-KR" altLang="en-US" sz="900" dirty="0"/>
                    </a:p>
                  </a:txBody>
                  <a:tcPr marL="0" marR="0" marT="0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0.64</a:t>
                      </a:r>
                      <a:endParaRPr lang="ko-KR" altLang="en-US" sz="900" dirty="0"/>
                    </a:p>
                  </a:txBody>
                  <a:tcPr marL="0" marR="0" marT="0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0.54</a:t>
                      </a:r>
                      <a:endParaRPr lang="ko-KR" altLang="en-US" sz="900" dirty="0"/>
                    </a:p>
                  </a:txBody>
                  <a:tcPr marL="0" marR="0" marT="0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0.73</a:t>
                      </a:r>
                      <a:endParaRPr lang="ko-KR" altLang="en-US" sz="900" dirty="0"/>
                    </a:p>
                  </a:txBody>
                  <a:tcPr marL="0" marR="0" marT="0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0.59</a:t>
                      </a:r>
                      <a:endParaRPr lang="ko-KR" altLang="en-US" sz="900" dirty="0"/>
                    </a:p>
                  </a:txBody>
                  <a:tcPr marL="0" marR="0" marT="0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0.26</a:t>
                      </a:r>
                      <a:endParaRPr lang="ko-KR" altLang="en-US" sz="9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9256376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0.85</a:t>
                      </a:r>
                      <a:endParaRPr lang="ko-KR" altLang="en-US" sz="900" b="1" dirty="0"/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0.34</a:t>
                      </a:r>
                      <a:endParaRPr lang="ko-KR" altLang="en-US" sz="900" dirty="0"/>
                    </a:p>
                  </a:txBody>
                  <a:tcPr marL="0" marR="0" marT="0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0.76</a:t>
                      </a:r>
                      <a:endParaRPr lang="ko-KR" altLang="en-US" sz="900" dirty="0"/>
                    </a:p>
                  </a:txBody>
                  <a:tcPr marL="0" marR="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0.84</a:t>
                      </a:r>
                      <a:endParaRPr lang="ko-KR" altLang="en-US" sz="900" b="1" dirty="0"/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0.29</a:t>
                      </a:r>
                      <a:endParaRPr lang="ko-KR" altLang="en-US" sz="900" dirty="0"/>
                    </a:p>
                  </a:txBody>
                  <a:tcPr marL="0" marR="0" marT="0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0.75</a:t>
                      </a:r>
                      <a:endParaRPr lang="ko-KR" altLang="en-US" sz="900" dirty="0"/>
                    </a:p>
                  </a:txBody>
                  <a:tcPr marL="0" marR="0" marT="0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0.62</a:t>
                      </a:r>
                      <a:endParaRPr lang="ko-KR" altLang="en-US" sz="900" dirty="0"/>
                    </a:p>
                  </a:txBody>
                  <a:tcPr marL="0" marR="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0.25</a:t>
                      </a:r>
                      <a:endParaRPr lang="ko-KR" altLang="en-US" sz="900" dirty="0"/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12303302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0.32</a:t>
                      </a:r>
                      <a:endParaRPr lang="ko-KR" altLang="en-US" sz="900" dirty="0"/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0.74</a:t>
                      </a:r>
                      <a:endParaRPr lang="ko-KR" altLang="en-US" sz="900" dirty="0"/>
                    </a:p>
                  </a:txBody>
                  <a:tcPr marL="0" marR="0" marT="0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0.21</a:t>
                      </a:r>
                      <a:endParaRPr lang="ko-KR" altLang="en-US" sz="900" dirty="0"/>
                    </a:p>
                  </a:txBody>
                  <a:tcPr marL="0" marR="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0.39</a:t>
                      </a:r>
                      <a:endParaRPr lang="ko-KR" altLang="en-US" sz="900" dirty="0"/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0.34</a:t>
                      </a:r>
                      <a:endParaRPr lang="ko-KR" altLang="en-US" sz="900" dirty="0"/>
                    </a:p>
                  </a:txBody>
                  <a:tcPr marL="0" marR="0" marT="0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0.03</a:t>
                      </a:r>
                      <a:endParaRPr lang="ko-KR" altLang="en-US" sz="900" dirty="0"/>
                    </a:p>
                  </a:txBody>
                  <a:tcPr marL="0" marR="0" marT="0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0.33</a:t>
                      </a:r>
                      <a:endParaRPr lang="ko-KR" altLang="en-US" sz="900" dirty="0"/>
                    </a:p>
                  </a:txBody>
                  <a:tcPr marL="0" marR="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0.48</a:t>
                      </a:r>
                      <a:endParaRPr lang="ko-KR" altLang="en-US" sz="900" dirty="0"/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0852114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0.20</a:t>
                      </a:r>
                      <a:endParaRPr lang="ko-KR" altLang="en-US" sz="900" dirty="0"/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0.14</a:t>
                      </a:r>
                      <a:endParaRPr lang="ko-KR" altLang="en-US" sz="900" dirty="0"/>
                    </a:p>
                  </a:txBody>
                  <a:tcPr marL="0" marR="0" marT="0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0.16</a:t>
                      </a:r>
                      <a:endParaRPr lang="ko-KR" altLang="en-US" sz="900" dirty="0"/>
                    </a:p>
                  </a:txBody>
                  <a:tcPr marL="0" marR="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0.13</a:t>
                      </a:r>
                      <a:endParaRPr lang="ko-KR" altLang="en-US" sz="900" dirty="0"/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0.73</a:t>
                      </a:r>
                      <a:endParaRPr lang="ko-KR" altLang="en-US" sz="900" dirty="0"/>
                    </a:p>
                  </a:txBody>
                  <a:tcPr marL="0" marR="0" marT="0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0.65</a:t>
                      </a:r>
                      <a:endParaRPr lang="ko-KR" altLang="en-US" sz="900" dirty="0"/>
                    </a:p>
                  </a:txBody>
                  <a:tcPr marL="0" marR="0" marT="0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0.96</a:t>
                      </a:r>
                      <a:endParaRPr lang="ko-KR" altLang="en-US" sz="900" b="1" dirty="0"/>
                    </a:p>
                  </a:txBody>
                  <a:tcPr marL="0" marR="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0.32</a:t>
                      </a:r>
                      <a:endParaRPr lang="ko-KR" altLang="en-US" sz="900" dirty="0"/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09320139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0.19</a:t>
                      </a:r>
                      <a:endParaRPr lang="ko-KR" altLang="en-US" sz="900" dirty="0"/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0.69</a:t>
                      </a:r>
                      <a:endParaRPr lang="ko-KR" altLang="en-US" sz="900" dirty="0"/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0.09</a:t>
                      </a:r>
                      <a:endParaRPr lang="ko-KR" altLang="en-US" sz="900" dirty="0"/>
                    </a:p>
                  </a:txBody>
                  <a:tcPr marL="0" marR="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0.86</a:t>
                      </a:r>
                      <a:endParaRPr lang="ko-KR" altLang="en-US" sz="900" dirty="0"/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0.88</a:t>
                      </a:r>
                      <a:endParaRPr lang="ko-KR" altLang="en-US" sz="900" dirty="0"/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0.07</a:t>
                      </a:r>
                      <a:endParaRPr lang="ko-KR" altLang="en-US" sz="900" dirty="0"/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0.01</a:t>
                      </a:r>
                      <a:endParaRPr lang="ko-KR" altLang="en-US" sz="900" dirty="0"/>
                    </a:p>
                  </a:txBody>
                  <a:tcPr marL="0" marR="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0.48</a:t>
                      </a:r>
                      <a:endParaRPr lang="ko-KR" altLang="en-US" sz="900" dirty="0"/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0206131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0.83</a:t>
                      </a:r>
                      <a:endParaRPr lang="ko-KR" altLang="en-US" sz="900" dirty="0"/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0.24</a:t>
                      </a:r>
                      <a:endParaRPr lang="ko-KR" altLang="en-US" sz="900" dirty="0"/>
                    </a:p>
                  </a:txBody>
                  <a:tcPr marL="0" marR="0" marT="0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0.97</a:t>
                      </a:r>
                      <a:endParaRPr lang="ko-KR" altLang="en-US" sz="900" b="1" dirty="0"/>
                    </a:p>
                  </a:txBody>
                  <a:tcPr marL="0" marR="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0.04</a:t>
                      </a:r>
                      <a:endParaRPr lang="ko-KR" altLang="en-US" sz="900" dirty="0"/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0.24</a:t>
                      </a:r>
                      <a:endParaRPr lang="ko-KR" altLang="en-US" sz="900" dirty="0"/>
                    </a:p>
                  </a:txBody>
                  <a:tcPr marL="0" marR="0" marT="0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0.35</a:t>
                      </a:r>
                      <a:endParaRPr lang="ko-KR" altLang="en-US" sz="900" dirty="0"/>
                    </a:p>
                  </a:txBody>
                  <a:tcPr marL="0" marR="0" marT="0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0.50</a:t>
                      </a:r>
                      <a:endParaRPr lang="ko-KR" altLang="en-US" sz="900" dirty="0"/>
                    </a:p>
                  </a:txBody>
                  <a:tcPr marL="0" marR="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0.91</a:t>
                      </a:r>
                      <a:endParaRPr lang="ko-KR" altLang="en-US" sz="900" dirty="0"/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439375525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36647F54-D04C-51BA-1419-B80613E724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0810299"/>
              </p:ext>
            </p:extLst>
          </p:nvPr>
        </p:nvGraphicFramePr>
        <p:xfrm>
          <a:off x="7740000" y="3060000"/>
          <a:ext cx="252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261704211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354229551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0.85</a:t>
                      </a:r>
                      <a:endParaRPr lang="ko-KR" altLang="en-US" sz="900" dirty="0"/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0.84</a:t>
                      </a:r>
                      <a:endParaRPr lang="ko-KR" altLang="en-US" sz="900" dirty="0"/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161785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0.97</a:t>
                      </a:r>
                      <a:endParaRPr lang="ko-KR" altLang="en-US" sz="900" dirty="0"/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0.96</a:t>
                      </a:r>
                      <a:endParaRPr lang="ko-KR" altLang="en-US" sz="900" dirty="0"/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0001116"/>
                  </a:ext>
                </a:extLst>
              </a:tr>
            </a:tbl>
          </a:graphicData>
        </a:graphic>
      </p:graphicFrame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45F62194-9C2A-1F17-2006-D40639A7323D}"/>
              </a:ext>
            </a:extLst>
          </p:cNvPr>
          <p:cNvCxnSpPr/>
          <p:nvPr/>
        </p:nvCxnSpPr>
        <p:spPr>
          <a:xfrm>
            <a:off x="3870000" y="3960000"/>
            <a:ext cx="360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35DF5C3D-EA63-4AB3-26A5-F7FB16CFD262}"/>
              </a:ext>
            </a:extLst>
          </p:cNvPr>
          <p:cNvCxnSpPr/>
          <p:nvPr/>
        </p:nvCxnSpPr>
        <p:spPr>
          <a:xfrm>
            <a:off x="7290000" y="3960000"/>
            <a:ext cx="360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74681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5D63C-03FD-221C-BC80-C430A6809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AE565B33-353A-DE9D-5D0A-5033510F912B}"/>
              </a:ext>
            </a:extLst>
          </p:cNvPr>
          <p:cNvSpPr/>
          <p:nvPr/>
        </p:nvSpPr>
        <p:spPr>
          <a:xfrm>
            <a:off x="468000" y="2160000"/>
            <a:ext cx="11052000" cy="1889760"/>
          </a:xfrm>
          <a:prstGeom prst="rect">
            <a:avLst/>
          </a:prstGeom>
          <a:solidFill>
            <a:schemeClr val="accent4">
              <a:lumMod val="20000"/>
              <a:lumOff val="80000"/>
              <a:alpha val="50000"/>
            </a:schemeClr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2AFEA033-F821-1375-FFBE-C3ADF9AD29A8}"/>
              </a:ext>
            </a:extLst>
          </p:cNvPr>
          <p:cNvCxnSpPr>
            <a:cxnSpLocks/>
          </p:cNvCxnSpPr>
          <p:nvPr/>
        </p:nvCxnSpPr>
        <p:spPr>
          <a:xfrm>
            <a:off x="0" y="0"/>
            <a:ext cx="8709" cy="64800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839A3BC9-5429-B038-873F-958480F36870}"/>
              </a:ext>
            </a:extLst>
          </p:cNvPr>
          <p:cNvCxnSpPr>
            <a:cxnSpLocks/>
          </p:cNvCxnSpPr>
          <p:nvPr/>
        </p:nvCxnSpPr>
        <p:spPr>
          <a:xfrm>
            <a:off x="0" y="18000"/>
            <a:ext cx="1188000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8AD7CAA-DB0B-37E8-B820-407FD4F49672}"/>
                  </a:ext>
                </a:extLst>
              </p:cNvPr>
              <p:cNvSpPr txBox="1"/>
              <p:nvPr/>
            </p:nvSpPr>
            <p:spPr>
              <a:xfrm>
                <a:off x="11790000" y="18000"/>
                <a:ext cx="180000" cy="180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ko-KR" altLang="en-US" sz="10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6E89071-11C8-1B01-228C-CDCC5442B3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0000" y="18000"/>
                <a:ext cx="180000" cy="180000"/>
              </a:xfrm>
              <a:prstGeom prst="rect">
                <a:avLst/>
              </a:prstGeom>
              <a:blipFill>
                <a:blip r:embed="rId3"/>
                <a:stretch>
                  <a:fillRect t="-17241" r="-23333" b="-379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AA9686B-899D-8DB2-276F-816CD4FB4064}"/>
                  </a:ext>
                </a:extLst>
              </p:cNvPr>
              <p:cNvSpPr txBox="1"/>
              <p:nvPr/>
            </p:nvSpPr>
            <p:spPr>
              <a:xfrm>
                <a:off x="0" y="6390001"/>
                <a:ext cx="180000" cy="180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000" b="1" i="1" smtClean="0"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ko-KR" altLang="en-US" sz="10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2965332-0EEF-840B-EADD-9394FE75AE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390001"/>
                <a:ext cx="180000" cy="180000"/>
              </a:xfrm>
              <a:prstGeom prst="rect">
                <a:avLst/>
              </a:prstGeom>
              <a:blipFill>
                <a:blip r:embed="rId4"/>
                <a:stretch>
                  <a:fillRect l="-23333" t="-30000" r="-30000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363B2678-9373-08B9-EB86-1E19F5C4EA86}"/>
              </a:ext>
            </a:extLst>
          </p:cNvPr>
          <p:cNvSpPr txBox="1"/>
          <p:nvPr/>
        </p:nvSpPr>
        <p:spPr>
          <a:xfrm>
            <a:off x="360000" y="360000"/>
            <a:ext cx="2250000" cy="450000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2400" b="1" dirty="0"/>
              <a:t>2</a:t>
            </a:r>
            <a:r>
              <a:rPr lang="ko-KR" altLang="en-US" sz="2400" b="1" dirty="0"/>
              <a:t>단계 객체 인식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E4508E5-7884-CB32-BBB1-2560E8D4BA41}"/>
              </a:ext>
            </a:extLst>
          </p:cNvPr>
          <p:cNvSpPr/>
          <p:nvPr/>
        </p:nvSpPr>
        <p:spPr>
          <a:xfrm>
            <a:off x="360000" y="180000"/>
            <a:ext cx="450000" cy="1800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/>
              <a:t>목차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F34A90-AB83-DCDF-B53D-706A65060ED6}"/>
              </a:ext>
            </a:extLst>
          </p:cNvPr>
          <p:cNvSpPr txBox="1"/>
          <p:nvPr/>
        </p:nvSpPr>
        <p:spPr>
          <a:xfrm>
            <a:off x="450000" y="1133502"/>
            <a:ext cx="11160000" cy="50400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lIns="54000" tIns="54000" rIns="54000" bIns="54000" rtlCol="0" anchor="t">
            <a:noAutofit/>
          </a:bodyPr>
          <a:lstStyle/>
          <a:p>
            <a:r>
              <a:rPr lang="en-US" altLang="ko-KR" sz="1600" dirty="0"/>
              <a:t>Fast R-CNN</a:t>
            </a:r>
            <a:r>
              <a:rPr lang="ko-KR" altLang="en-US" sz="1600" dirty="0"/>
              <a:t>은 이미지 전체의 특징 </a:t>
            </a:r>
            <a:r>
              <a:rPr lang="ko-KR" altLang="en-US" sz="1600" dirty="0" err="1"/>
              <a:t>맵을</a:t>
            </a:r>
            <a:r>
              <a:rPr lang="ko-KR" altLang="en-US" sz="1600" dirty="0"/>
              <a:t> 한 번만 추출하여 각 후보 영역에 </a:t>
            </a:r>
            <a:r>
              <a:rPr lang="en-US" altLang="ko-KR" sz="1600" dirty="0" err="1"/>
              <a:t>RoI</a:t>
            </a:r>
            <a:r>
              <a:rPr lang="en-US" altLang="ko-KR" sz="1600" dirty="0"/>
              <a:t> </a:t>
            </a:r>
            <a:r>
              <a:rPr lang="ko-KR" altLang="en-US" sz="1600" dirty="0" err="1"/>
              <a:t>풀링을</a:t>
            </a:r>
            <a:r>
              <a:rPr lang="ko-KR" altLang="en-US" sz="1600" dirty="0"/>
              <a:t> 적용하여 중복되는 </a:t>
            </a:r>
            <a:r>
              <a:rPr lang="ko-KR" altLang="en-US" sz="1600" dirty="0" err="1"/>
              <a:t>연산량을</a:t>
            </a:r>
            <a:r>
              <a:rPr lang="ko-KR" altLang="en-US" sz="1600" dirty="0"/>
              <a:t> 줄임</a:t>
            </a:r>
            <a:endParaRPr lang="en-US" altLang="ko-KR" sz="1600" dirty="0"/>
          </a:p>
          <a:p>
            <a:endParaRPr lang="en-US" altLang="ko-KR" sz="1600" dirty="0"/>
          </a:p>
          <a:p>
            <a:r>
              <a:rPr lang="ko-KR" altLang="en-US" sz="1600" dirty="0"/>
              <a:t>하지만</a:t>
            </a:r>
            <a:r>
              <a:rPr lang="en-US" altLang="ko-KR" sz="1600" dirty="0"/>
              <a:t>,</a:t>
            </a:r>
          </a:p>
          <a:p>
            <a:endParaRPr lang="en-US" altLang="ko-KR" sz="1600" dirty="0"/>
          </a:p>
          <a:p>
            <a:endParaRPr lang="en-US" altLang="ko-KR" sz="1600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/>
              <a:t> </a:t>
            </a:r>
            <a:r>
              <a:rPr lang="ko-KR" altLang="en-US" sz="1600" dirty="0"/>
              <a:t>후보 지역 결정은 선택적 탐색 알고리즘에 의존됨</a:t>
            </a:r>
            <a:endParaRPr lang="en-US" altLang="ko-KR" sz="1600" dirty="0"/>
          </a:p>
          <a:p>
            <a:pPr marL="342900" indent="-342900">
              <a:buFont typeface="+mj-lt"/>
              <a:buAutoNum type="arabicPeriod"/>
            </a:pPr>
            <a:endParaRPr lang="en-US" altLang="ko-KR" sz="1600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sz="1600" dirty="0"/>
              <a:t>선택적 탐색은 신경망 외부의 계산이기 때문에</a:t>
            </a:r>
            <a:r>
              <a:rPr lang="en-US" altLang="ko-KR" sz="1600" dirty="0"/>
              <a:t> </a:t>
            </a:r>
            <a:r>
              <a:rPr lang="ko-KR" altLang="en-US" sz="1600" dirty="0"/>
              <a:t>종단 간 학습이 어렵고</a:t>
            </a:r>
            <a:r>
              <a:rPr lang="en-US" altLang="ko-KR" sz="1600" dirty="0"/>
              <a:t>, </a:t>
            </a:r>
            <a:r>
              <a:rPr lang="ko-KR" altLang="en-US" sz="1600" dirty="0"/>
              <a:t>오래 걸리는 후보 지역 생성으로 인해 실시간 탐색에 한계가 있음</a:t>
            </a:r>
            <a:endParaRPr lang="en-US" altLang="ko-KR" sz="1600" dirty="0"/>
          </a:p>
          <a:p>
            <a:pPr marL="342900" indent="-342900">
              <a:buFont typeface="+mj-lt"/>
              <a:buAutoNum type="arabicPeriod"/>
            </a:pPr>
            <a:endParaRPr lang="en-US" altLang="ko-KR" sz="1600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sz="1600" dirty="0"/>
              <a:t>전체적인 성능이 제안되는 지역 품질에 크게 영향을 받기 때문에 편향이 큼</a:t>
            </a:r>
            <a:endParaRPr lang="en-US" altLang="ko-KR" sz="1600" dirty="0"/>
          </a:p>
          <a:p>
            <a:endParaRPr lang="en-US" altLang="ko-KR" sz="16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D783FFB-BB68-FD8A-E198-6B605DEC29C1}"/>
              </a:ext>
            </a:extLst>
          </p:cNvPr>
          <p:cNvSpPr/>
          <p:nvPr/>
        </p:nvSpPr>
        <p:spPr>
          <a:xfrm>
            <a:off x="450000" y="953502"/>
            <a:ext cx="450000" cy="180000"/>
          </a:xfrm>
          <a:prstGeom prst="rect">
            <a:avLst/>
          </a:prstGeom>
          <a:solidFill>
            <a:srgbClr val="92D050"/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/>
              <a:t>내용</a:t>
            </a:r>
          </a:p>
        </p:txBody>
      </p:sp>
    </p:spTree>
    <p:extLst>
      <p:ext uri="{BB962C8B-B14F-4D97-AF65-F5344CB8AC3E}">
        <p14:creationId xmlns:p14="http://schemas.microsoft.com/office/powerpoint/2010/main" val="19161519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60D49-6FF7-70C7-F4FA-C086112E2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C4C530E-4ADF-6EEA-981C-31B27C8D5CCC}"/>
              </a:ext>
            </a:extLst>
          </p:cNvPr>
          <p:cNvCxnSpPr>
            <a:cxnSpLocks/>
          </p:cNvCxnSpPr>
          <p:nvPr/>
        </p:nvCxnSpPr>
        <p:spPr>
          <a:xfrm>
            <a:off x="0" y="0"/>
            <a:ext cx="8709" cy="64800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8185C5F-102B-07A8-60E6-05724905CEDB}"/>
              </a:ext>
            </a:extLst>
          </p:cNvPr>
          <p:cNvCxnSpPr>
            <a:cxnSpLocks/>
          </p:cNvCxnSpPr>
          <p:nvPr/>
        </p:nvCxnSpPr>
        <p:spPr>
          <a:xfrm>
            <a:off x="0" y="18000"/>
            <a:ext cx="1188000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2363171-538A-F6F1-DFB9-3370A7E10F40}"/>
                  </a:ext>
                </a:extLst>
              </p:cNvPr>
              <p:cNvSpPr txBox="1"/>
              <p:nvPr/>
            </p:nvSpPr>
            <p:spPr>
              <a:xfrm>
                <a:off x="11790000" y="18000"/>
                <a:ext cx="180000" cy="180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ko-KR" altLang="en-US" sz="10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6E89071-11C8-1B01-228C-CDCC5442B3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0000" y="18000"/>
                <a:ext cx="180000" cy="180000"/>
              </a:xfrm>
              <a:prstGeom prst="rect">
                <a:avLst/>
              </a:prstGeom>
              <a:blipFill>
                <a:blip r:embed="rId3"/>
                <a:stretch>
                  <a:fillRect t="-17241" r="-23333" b="-379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16565CB-22FA-0474-E6C3-2A57760ACC2E}"/>
                  </a:ext>
                </a:extLst>
              </p:cNvPr>
              <p:cNvSpPr txBox="1"/>
              <p:nvPr/>
            </p:nvSpPr>
            <p:spPr>
              <a:xfrm>
                <a:off x="0" y="6390001"/>
                <a:ext cx="180000" cy="180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000" b="1" i="1" smtClean="0"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ko-KR" altLang="en-US" sz="10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2965332-0EEF-840B-EADD-9394FE75AE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390001"/>
                <a:ext cx="180000" cy="180000"/>
              </a:xfrm>
              <a:prstGeom prst="rect">
                <a:avLst/>
              </a:prstGeom>
              <a:blipFill>
                <a:blip r:embed="rId4"/>
                <a:stretch>
                  <a:fillRect l="-23333" t="-30000" r="-30000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28928743-DE28-6EB9-5CB2-6512F8F143B2}"/>
              </a:ext>
            </a:extLst>
          </p:cNvPr>
          <p:cNvSpPr txBox="1"/>
          <p:nvPr/>
        </p:nvSpPr>
        <p:spPr>
          <a:xfrm>
            <a:off x="360000" y="360000"/>
            <a:ext cx="2250000" cy="450000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2400" b="1" dirty="0"/>
              <a:t>2</a:t>
            </a:r>
            <a:r>
              <a:rPr lang="ko-KR" altLang="en-US" sz="2400" b="1" dirty="0"/>
              <a:t>단계 객체 인식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5A0DE59-8175-D545-A80B-882F18DD7077}"/>
              </a:ext>
            </a:extLst>
          </p:cNvPr>
          <p:cNvSpPr/>
          <p:nvPr/>
        </p:nvSpPr>
        <p:spPr>
          <a:xfrm>
            <a:off x="360000" y="180000"/>
            <a:ext cx="450000" cy="1800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/>
              <a:t>목차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ED09BA-513E-CC39-8E6E-DB21BDDB752B}"/>
              </a:ext>
            </a:extLst>
          </p:cNvPr>
          <p:cNvSpPr txBox="1"/>
          <p:nvPr/>
        </p:nvSpPr>
        <p:spPr>
          <a:xfrm>
            <a:off x="450000" y="1133502"/>
            <a:ext cx="11160000" cy="50400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lIns="54000" tIns="54000" rIns="54000" bIns="54000" rtlCol="0" anchor="t">
            <a:noAutofit/>
          </a:bodyPr>
          <a:lstStyle/>
          <a:p>
            <a:r>
              <a:rPr lang="en-US" altLang="ko-KR" sz="1600" dirty="0"/>
              <a:t>Fast</a:t>
            </a:r>
            <a:r>
              <a:rPr lang="ko-KR" altLang="en-US" sz="1600" dirty="0"/>
              <a:t> </a:t>
            </a:r>
            <a:r>
              <a:rPr lang="en-US" altLang="ko-KR" sz="1600" dirty="0"/>
              <a:t>R-CNN</a:t>
            </a:r>
            <a:r>
              <a:rPr lang="ko-KR" altLang="en-US" sz="1600" dirty="0"/>
              <a:t>의 선택적 탐색 알고리즘을 신경망 내부로 결합하여 종단 간 학습이 가능하도록 설계된 모델이 </a:t>
            </a:r>
            <a:r>
              <a:rPr lang="en-US" altLang="ko-KR" sz="1600" dirty="0"/>
              <a:t>Faster R-CNN </a:t>
            </a:r>
            <a:r>
              <a:rPr lang="ko-KR" altLang="en-US" sz="1600" dirty="0"/>
              <a:t>모델임</a:t>
            </a:r>
            <a:endParaRPr lang="en-US" altLang="ko-KR" sz="1600" dirty="0"/>
          </a:p>
          <a:p>
            <a:r>
              <a:rPr lang="en-US" altLang="ko-KR" sz="1600" dirty="0"/>
              <a:t>Faster</a:t>
            </a:r>
            <a:r>
              <a:rPr lang="ko-KR" altLang="en-US" sz="1600" dirty="0"/>
              <a:t> </a:t>
            </a:r>
            <a:r>
              <a:rPr lang="en-US" altLang="ko-KR" sz="1600" dirty="0"/>
              <a:t>R-CNN</a:t>
            </a:r>
            <a:r>
              <a:rPr lang="ko-KR" altLang="en-US" sz="1600" dirty="0"/>
              <a:t>은 후보 영역 추출 알고리즘을 신경망</a:t>
            </a:r>
            <a:r>
              <a:rPr lang="en-US" altLang="ko-KR" sz="1600" dirty="0"/>
              <a:t>(Region</a:t>
            </a:r>
            <a:r>
              <a:rPr lang="ko-KR" altLang="en-US" sz="1600" dirty="0"/>
              <a:t> </a:t>
            </a:r>
            <a:r>
              <a:rPr lang="en-US" altLang="ko-KR" sz="1600" dirty="0"/>
              <a:t>Proposal</a:t>
            </a:r>
            <a:r>
              <a:rPr lang="ko-KR" altLang="en-US" sz="1600" dirty="0"/>
              <a:t> </a:t>
            </a:r>
            <a:r>
              <a:rPr lang="en-US" altLang="ko-KR" sz="1600" dirty="0"/>
              <a:t>Network, RPN)</a:t>
            </a:r>
            <a:r>
              <a:rPr lang="ko-KR" altLang="en-US" sz="1600" dirty="0"/>
              <a:t>으로 구성하여 </a:t>
            </a:r>
            <a:r>
              <a:rPr lang="en-US" altLang="ko-KR" sz="1600" dirty="0" err="1"/>
              <a:t>cpu</a:t>
            </a:r>
            <a:r>
              <a:rPr lang="ko-KR" altLang="en-US" sz="1600" dirty="0"/>
              <a:t>로 계산되는 선택적 탐색 대신에 내부의 빠른 </a:t>
            </a:r>
            <a:r>
              <a:rPr lang="en-US" altLang="ko-KR" sz="1600" dirty="0"/>
              <a:t>RPN</a:t>
            </a:r>
            <a:r>
              <a:rPr lang="ko-KR" altLang="en-US" sz="1600" dirty="0"/>
              <a:t>을 사용하게 함</a:t>
            </a:r>
            <a:endParaRPr lang="en-US" altLang="ko-KR" sz="16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5DAA580-2924-0853-F9D3-CFCB4B165F8E}"/>
              </a:ext>
            </a:extLst>
          </p:cNvPr>
          <p:cNvSpPr/>
          <p:nvPr/>
        </p:nvSpPr>
        <p:spPr>
          <a:xfrm>
            <a:off x="450000" y="953502"/>
            <a:ext cx="450000" cy="180000"/>
          </a:xfrm>
          <a:prstGeom prst="rect">
            <a:avLst/>
          </a:prstGeom>
          <a:solidFill>
            <a:srgbClr val="92D050"/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/>
              <a:t>내용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C79C592-31EC-6797-04D3-2134DB3BE56D}"/>
              </a:ext>
            </a:extLst>
          </p:cNvPr>
          <p:cNvSpPr/>
          <p:nvPr/>
        </p:nvSpPr>
        <p:spPr>
          <a:xfrm>
            <a:off x="4320000" y="6570001"/>
            <a:ext cx="7560000" cy="27000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[5] Shaoqing et al, “Faster R-CNN: Towards Real-Time Object Detection with Region Proposal Networks”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1" name="평행 사변형 10">
            <a:extLst>
              <a:ext uri="{FF2B5EF4-FFF2-40B4-BE49-F238E27FC236}">
                <a16:creationId xmlns:a16="http://schemas.microsoft.com/office/drawing/2014/main" id="{ADDFC5C8-2985-8F8C-DE00-3EB2A8505124}"/>
              </a:ext>
            </a:extLst>
          </p:cNvPr>
          <p:cNvSpPr/>
          <p:nvPr/>
        </p:nvSpPr>
        <p:spPr>
          <a:xfrm>
            <a:off x="2160000" y="5040000"/>
            <a:ext cx="2520000" cy="540000"/>
          </a:xfrm>
          <a:prstGeom prst="parallelogram">
            <a:avLst>
              <a:gd name="adj" fmla="val 115028"/>
            </a:avLst>
          </a:prstGeom>
          <a:blipFill>
            <a:blip r:embed="rId5"/>
            <a:stretch>
              <a:fillRect/>
            </a:stretch>
          </a:blip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정육면체 11">
            <a:extLst>
              <a:ext uri="{FF2B5EF4-FFF2-40B4-BE49-F238E27FC236}">
                <a16:creationId xmlns:a16="http://schemas.microsoft.com/office/drawing/2014/main" id="{6C0CD741-47E2-97BE-41E8-39E9E2460FA3}"/>
              </a:ext>
            </a:extLst>
          </p:cNvPr>
          <p:cNvSpPr/>
          <p:nvPr/>
        </p:nvSpPr>
        <p:spPr>
          <a:xfrm>
            <a:off x="2700000" y="4860000"/>
            <a:ext cx="1440000" cy="630000"/>
          </a:xfrm>
          <a:prstGeom prst="cube">
            <a:avLst>
              <a:gd name="adj" fmla="val 42639"/>
            </a:avLst>
          </a:prstGeom>
          <a:solidFill>
            <a:schemeClr val="bg1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26AE52-F081-2AB2-E546-14FF99294EF9}"/>
              </a:ext>
            </a:extLst>
          </p:cNvPr>
          <p:cNvSpPr txBox="1"/>
          <p:nvPr/>
        </p:nvSpPr>
        <p:spPr>
          <a:xfrm>
            <a:off x="2700000" y="5119502"/>
            <a:ext cx="1167150" cy="37049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200" dirty="0"/>
              <a:t>Conv layers</a:t>
            </a:r>
            <a:endParaRPr lang="ko-KR" altLang="en-US" sz="1200" dirty="0"/>
          </a:p>
        </p:txBody>
      </p:sp>
      <p:sp>
        <p:nvSpPr>
          <p:cNvPr id="14" name="평행 사변형 13">
            <a:extLst>
              <a:ext uri="{FF2B5EF4-FFF2-40B4-BE49-F238E27FC236}">
                <a16:creationId xmlns:a16="http://schemas.microsoft.com/office/drawing/2014/main" id="{C7A45F3F-B961-8E90-738C-3BA148171C45}"/>
              </a:ext>
            </a:extLst>
          </p:cNvPr>
          <p:cNvSpPr/>
          <p:nvPr/>
        </p:nvSpPr>
        <p:spPr>
          <a:xfrm>
            <a:off x="2700000" y="4320000"/>
            <a:ext cx="1800000" cy="450000"/>
          </a:xfrm>
          <a:prstGeom prst="parallelogram">
            <a:avLst>
              <a:gd name="adj" fmla="val 115028"/>
            </a:avLst>
          </a:prstGeom>
          <a:blipFill>
            <a:blip r:embed="rId6"/>
            <a:stretch>
              <a:fillRect/>
            </a:stretch>
          </a:blip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" name="평행 사변형 14">
            <a:extLst>
              <a:ext uri="{FF2B5EF4-FFF2-40B4-BE49-F238E27FC236}">
                <a16:creationId xmlns:a16="http://schemas.microsoft.com/office/drawing/2014/main" id="{2304C864-49AC-383A-F902-AFBFD918A5EE}"/>
              </a:ext>
            </a:extLst>
          </p:cNvPr>
          <p:cNvSpPr/>
          <p:nvPr/>
        </p:nvSpPr>
        <p:spPr>
          <a:xfrm>
            <a:off x="2700000" y="3240000"/>
            <a:ext cx="1800000" cy="450000"/>
          </a:xfrm>
          <a:prstGeom prst="parallelogram">
            <a:avLst>
              <a:gd name="adj" fmla="val 115028"/>
            </a:avLst>
          </a:prstGeom>
          <a:blipFill>
            <a:blip r:embed="rId7"/>
            <a:stretch>
              <a:fillRect/>
            </a:stretch>
          </a:blip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평행 사변형 15">
            <a:extLst>
              <a:ext uri="{FF2B5EF4-FFF2-40B4-BE49-F238E27FC236}">
                <a16:creationId xmlns:a16="http://schemas.microsoft.com/office/drawing/2014/main" id="{A442600C-0BFD-E8E2-521B-AFD67C4483B2}"/>
              </a:ext>
            </a:extLst>
          </p:cNvPr>
          <p:cNvSpPr/>
          <p:nvPr/>
        </p:nvSpPr>
        <p:spPr>
          <a:xfrm>
            <a:off x="1440000" y="3870000"/>
            <a:ext cx="1800000" cy="450000"/>
          </a:xfrm>
          <a:prstGeom prst="parallelogram">
            <a:avLst>
              <a:gd name="adj" fmla="val 115028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7" name="평행 사변형 16">
            <a:extLst>
              <a:ext uri="{FF2B5EF4-FFF2-40B4-BE49-F238E27FC236}">
                <a16:creationId xmlns:a16="http://schemas.microsoft.com/office/drawing/2014/main" id="{151819FE-34DD-723C-6127-54529527928F}"/>
              </a:ext>
            </a:extLst>
          </p:cNvPr>
          <p:cNvSpPr/>
          <p:nvPr/>
        </p:nvSpPr>
        <p:spPr>
          <a:xfrm>
            <a:off x="1548000" y="4104000"/>
            <a:ext cx="856951" cy="186838"/>
          </a:xfrm>
          <a:prstGeom prst="parallelogram">
            <a:avLst>
              <a:gd name="adj" fmla="val 114560"/>
            </a:avLst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8" name="평행 사변형 17">
            <a:extLst>
              <a:ext uri="{FF2B5EF4-FFF2-40B4-BE49-F238E27FC236}">
                <a16:creationId xmlns:a16="http://schemas.microsoft.com/office/drawing/2014/main" id="{7B54DCC0-91F1-BEF4-9B0E-CCE045F96D25}"/>
              </a:ext>
            </a:extLst>
          </p:cNvPr>
          <p:cNvSpPr/>
          <p:nvPr/>
        </p:nvSpPr>
        <p:spPr>
          <a:xfrm>
            <a:off x="2520000" y="4050000"/>
            <a:ext cx="423039" cy="186838"/>
          </a:xfrm>
          <a:prstGeom prst="parallelogram">
            <a:avLst>
              <a:gd name="adj" fmla="val 114560"/>
            </a:avLst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" name="평행 사변형 18">
            <a:extLst>
              <a:ext uri="{FF2B5EF4-FFF2-40B4-BE49-F238E27FC236}">
                <a16:creationId xmlns:a16="http://schemas.microsoft.com/office/drawing/2014/main" id="{C55444EC-7078-99AE-3F65-60BE531BBD95}"/>
              </a:ext>
            </a:extLst>
          </p:cNvPr>
          <p:cNvSpPr/>
          <p:nvPr/>
        </p:nvSpPr>
        <p:spPr>
          <a:xfrm>
            <a:off x="2159999" y="3924000"/>
            <a:ext cx="450000" cy="54000"/>
          </a:xfrm>
          <a:prstGeom prst="parallelogram">
            <a:avLst>
              <a:gd name="adj" fmla="val 114560"/>
            </a:avLst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2F1E3353-2386-E8FC-49E2-C5A633568D76}"/>
              </a:ext>
            </a:extLst>
          </p:cNvPr>
          <p:cNvCxnSpPr/>
          <p:nvPr/>
        </p:nvCxnSpPr>
        <p:spPr>
          <a:xfrm flipV="1">
            <a:off x="3420000" y="4788000"/>
            <a:ext cx="0" cy="18000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A986C33E-CC58-35C1-0182-6C15C36BD0F8}"/>
              </a:ext>
            </a:extLst>
          </p:cNvPr>
          <p:cNvCxnSpPr>
            <a:cxnSpLocks/>
          </p:cNvCxnSpPr>
          <p:nvPr/>
        </p:nvCxnSpPr>
        <p:spPr>
          <a:xfrm flipH="1" flipV="1">
            <a:off x="2794000" y="4320000"/>
            <a:ext cx="360000" cy="299162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1AD25258-7CB5-2B24-FDC2-F640E67D86F9}"/>
              </a:ext>
            </a:extLst>
          </p:cNvPr>
          <p:cNvCxnSpPr>
            <a:cxnSpLocks/>
          </p:cNvCxnSpPr>
          <p:nvPr/>
        </p:nvCxnSpPr>
        <p:spPr>
          <a:xfrm flipV="1">
            <a:off x="3869250" y="3746500"/>
            <a:ext cx="0" cy="72000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B9BD01B6-75F5-DBCD-9139-8ADE5D439BF9}"/>
              </a:ext>
            </a:extLst>
          </p:cNvPr>
          <p:cNvCxnSpPr>
            <a:cxnSpLocks/>
          </p:cNvCxnSpPr>
          <p:nvPr/>
        </p:nvCxnSpPr>
        <p:spPr>
          <a:xfrm flipV="1">
            <a:off x="2895600" y="3738278"/>
            <a:ext cx="270000" cy="18000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B2D3F65F-9425-952F-A972-F4C2BC6184D5}"/>
              </a:ext>
            </a:extLst>
          </p:cNvPr>
          <p:cNvCxnSpPr>
            <a:cxnSpLocks/>
          </p:cNvCxnSpPr>
          <p:nvPr/>
        </p:nvCxnSpPr>
        <p:spPr>
          <a:xfrm flipV="1">
            <a:off x="3420000" y="3042050"/>
            <a:ext cx="0" cy="27000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28067240-E012-81BF-2DD4-8F4658D017D5}"/>
              </a:ext>
            </a:extLst>
          </p:cNvPr>
          <p:cNvSpPr txBox="1"/>
          <p:nvPr/>
        </p:nvSpPr>
        <p:spPr>
          <a:xfrm>
            <a:off x="4284000" y="4309502"/>
            <a:ext cx="1167150" cy="37049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200" dirty="0"/>
              <a:t>feature maps</a:t>
            </a:r>
            <a:endParaRPr lang="ko-KR" altLang="en-US" sz="12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14109B2-8C51-D80F-1A41-322B5DC8BC2B}"/>
              </a:ext>
            </a:extLst>
          </p:cNvPr>
          <p:cNvSpPr txBox="1"/>
          <p:nvPr/>
        </p:nvSpPr>
        <p:spPr>
          <a:xfrm>
            <a:off x="3867150" y="3846952"/>
            <a:ext cx="1167150" cy="37049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200" dirty="0" err="1"/>
              <a:t>RoI</a:t>
            </a:r>
            <a:r>
              <a:rPr lang="en-US" altLang="ko-KR" sz="1200" dirty="0"/>
              <a:t> Pooling</a:t>
            </a:r>
            <a:endParaRPr lang="ko-KR" altLang="en-US" sz="12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2DA1D45-A806-6E8C-F44D-9FB305E711BA}"/>
              </a:ext>
            </a:extLst>
          </p:cNvPr>
          <p:cNvSpPr txBox="1"/>
          <p:nvPr/>
        </p:nvSpPr>
        <p:spPr>
          <a:xfrm>
            <a:off x="1580425" y="4339589"/>
            <a:ext cx="1167150" cy="37049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200" b="1" dirty="0"/>
              <a:t>RPN</a:t>
            </a:r>
            <a:endParaRPr lang="ko-KR" altLang="en-US" sz="1200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0F89BB9-2249-F401-9DE3-D7FD575839DC}"/>
              </a:ext>
            </a:extLst>
          </p:cNvPr>
          <p:cNvSpPr txBox="1"/>
          <p:nvPr/>
        </p:nvSpPr>
        <p:spPr>
          <a:xfrm>
            <a:off x="2835300" y="2738550"/>
            <a:ext cx="1167150" cy="37049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200" dirty="0"/>
              <a:t>Classification</a:t>
            </a:r>
            <a:endParaRPr lang="ko-KR" altLang="en-US" sz="12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0F42B79-0BA5-F118-1229-98B22D26A332}"/>
              </a:ext>
            </a:extLst>
          </p:cNvPr>
          <p:cNvSpPr txBox="1"/>
          <p:nvPr/>
        </p:nvSpPr>
        <p:spPr>
          <a:xfrm>
            <a:off x="893625" y="3563279"/>
            <a:ext cx="1167150" cy="37049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200" dirty="0"/>
              <a:t>Proposals</a:t>
            </a:r>
            <a:endParaRPr lang="ko-KR" altLang="en-US" sz="1200" dirty="0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814943E1-22E5-0769-0BFC-2F620C0CE5BD}"/>
              </a:ext>
            </a:extLst>
          </p:cNvPr>
          <p:cNvSpPr/>
          <p:nvPr/>
        </p:nvSpPr>
        <p:spPr>
          <a:xfrm>
            <a:off x="1035000" y="2738550"/>
            <a:ext cx="4320000" cy="297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D0748AF9-7770-6DF5-7FE5-47A36C33C6FC}"/>
              </a:ext>
            </a:extLst>
          </p:cNvPr>
          <p:cNvSpPr/>
          <p:nvPr/>
        </p:nvSpPr>
        <p:spPr>
          <a:xfrm>
            <a:off x="1035000" y="2558550"/>
            <a:ext cx="1260000" cy="180000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Faster R-CNN [5]</a:t>
            </a:r>
            <a:endParaRPr lang="ko-KR" altLang="en-US" sz="1000" b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10C999D-CBB8-14DA-0E5C-551BDFBE6ED6}"/>
              </a:ext>
            </a:extLst>
          </p:cNvPr>
          <p:cNvSpPr txBox="1"/>
          <p:nvPr/>
        </p:nvSpPr>
        <p:spPr>
          <a:xfrm>
            <a:off x="5760000" y="3058502"/>
            <a:ext cx="5580000" cy="18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just"/>
            <a:r>
              <a:rPr lang="en-US" altLang="ko-KR" sz="1600" dirty="0"/>
              <a:t>RPN </a:t>
            </a:r>
            <a:r>
              <a:rPr lang="ko-KR" altLang="en-US" sz="1600" dirty="0"/>
              <a:t>모듈은 </a:t>
            </a:r>
            <a:r>
              <a:rPr lang="en-US" altLang="ko-KR" sz="1600" dirty="0"/>
              <a:t>Faster R-CNN </a:t>
            </a:r>
            <a:r>
              <a:rPr lang="ko-KR" altLang="en-US" sz="1600" dirty="0"/>
              <a:t>모델에서 </a:t>
            </a:r>
            <a:r>
              <a:rPr lang="en-US" altLang="ko-KR" sz="1600" dirty="0"/>
              <a:t>“</a:t>
            </a:r>
            <a:r>
              <a:rPr lang="ko-KR" altLang="en-US" sz="1600" dirty="0"/>
              <a:t>주의</a:t>
            </a:r>
            <a:r>
              <a:rPr lang="en-US" altLang="ko-KR" sz="1600" dirty="0"/>
              <a:t>” (Attention) </a:t>
            </a:r>
            <a:r>
              <a:rPr lang="ko-KR" altLang="en-US" sz="1600" dirty="0"/>
              <a:t>역할을 수행함</a:t>
            </a:r>
            <a:endParaRPr lang="en-US" altLang="ko-KR" sz="1600" dirty="0"/>
          </a:p>
          <a:p>
            <a:pPr algn="just"/>
            <a:endParaRPr lang="en-US" altLang="ko-KR" sz="1600" dirty="0"/>
          </a:p>
          <a:p>
            <a:pPr algn="just"/>
            <a:r>
              <a:rPr lang="en-US" altLang="ko-KR" sz="1600" dirty="0"/>
              <a:t>feature </a:t>
            </a:r>
            <a:r>
              <a:rPr lang="ko-KR" altLang="en-US" sz="1600" dirty="0"/>
              <a:t>간의 연관성을 계산하는 </a:t>
            </a:r>
            <a:r>
              <a:rPr lang="en-US" altLang="ko-KR" sz="1600" dirty="0"/>
              <a:t>transformer</a:t>
            </a:r>
            <a:r>
              <a:rPr lang="ko-KR" altLang="en-US" sz="1600" dirty="0"/>
              <a:t>의 </a:t>
            </a:r>
            <a:r>
              <a:rPr lang="en-US" altLang="ko-KR" sz="1600" dirty="0"/>
              <a:t>self-attention </a:t>
            </a:r>
            <a:r>
              <a:rPr lang="ko-KR" altLang="en-US" sz="1600" dirty="0"/>
              <a:t>개념이 아닌</a:t>
            </a:r>
            <a:r>
              <a:rPr lang="en-US" altLang="ko-KR" sz="1600" dirty="0"/>
              <a:t>, </a:t>
            </a:r>
            <a:r>
              <a:rPr lang="ko-KR" altLang="en-US" sz="1600" dirty="0"/>
              <a:t>객체가 존재할 가능성이 있는 지역에 집중함을 의미함</a:t>
            </a:r>
          </a:p>
        </p:txBody>
      </p:sp>
    </p:spTree>
    <p:extLst>
      <p:ext uri="{BB962C8B-B14F-4D97-AF65-F5344CB8AC3E}">
        <p14:creationId xmlns:p14="http://schemas.microsoft.com/office/powerpoint/2010/main" val="2885957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1F5C1-5A07-94B4-20F1-64561E125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D851C74-1095-1747-9F45-41688DC545CC}"/>
              </a:ext>
            </a:extLst>
          </p:cNvPr>
          <p:cNvCxnSpPr>
            <a:cxnSpLocks/>
          </p:cNvCxnSpPr>
          <p:nvPr/>
        </p:nvCxnSpPr>
        <p:spPr>
          <a:xfrm>
            <a:off x="0" y="0"/>
            <a:ext cx="8709" cy="64800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99C5060-B671-6E6C-128A-1A8CA7D875C2}"/>
              </a:ext>
            </a:extLst>
          </p:cNvPr>
          <p:cNvCxnSpPr>
            <a:cxnSpLocks/>
          </p:cNvCxnSpPr>
          <p:nvPr/>
        </p:nvCxnSpPr>
        <p:spPr>
          <a:xfrm>
            <a:off x="0" y="18000"/>
            <a:ext cx="1188000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7AB8C25-E2A0-25D2-ACD3-CCD9241CBADE}"/>
                  </a:ext>
                </a:extLst>
              </p:cNvPr>
              <p:cNvSpPr txBox="1"/>
              <p:nvPr/>
            </p:nvSpPr>
            <p:spPr>
              <a:xfrm>
                <a:off x="11790000" y="18000"/>
                <a:ext cx="180000" cy="180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ko-KR" altLang="en-US" sz="10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6E89071-11C8-1B01-228C-CDCC5442B3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0000" y="18000"/>
                <a:ext cx="180000" cy="180000"/>
              </a:xfrm>
              <a:prstGeom prst="rect">
                <a:avLst/>
              </a:prstGeom>
              <a:blipFill>
                <a:blip r:embed="rId3"/>
                <a:stretch>
                  <a:fillRect t="-17241" r="-23333" b="-379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67331C7-A495-6C63-5E5D-DB0EE2B430E8}"/>
                  </a:ext>
                </a:extLst>
              </p:cNvPr>
              <p:cNvSpPr txBox="1"/>
              <p:nvPr/>
            </p:nvSpPr>
            <p:spPr>
              <a:xfrm>
                <a:off x="0" y="6390001"/>
                <a:ext cx="180000" cy="180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000" b="1" i="1" smtClean="0"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ko-KR" altLang="en-US" sz="10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2965332-0EEF-840B-EADD-9394FE75AE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390001"/>
                <a:ext cx="180000" cy="180000"/>
              </a:xfrm>
              <a:prstGeom prst="rect">
                <a:avLst/>
              </a:prstGeom>
              <a:blipFill>
                <a:blip r:embed="rId4"/>
                <a:stretch>
                  <a:fillRect l="-23333" t="-30000" r="-30000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A185BF58-2984-E11B-ED04-CF0B6E83923F}"/>
              </a:ext>
            </a:extLst>
          </p:cNvPr>
          <p:cNvSpPr txBox="1"/>
          <p:nvPr/>
        </p:nvSpPr>
        <p:spPr>
          <a:xfrm>
            <a:off x="360000" y="360000"/>
            <a:ext cx="2250000" cy="450000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2400" b="1" dirty="0"/>
              <a:t>2</a:t>
            </a:r>
            <a:r>
              <a:rPr lang="ko-KR" altLang="en-US" sz="2400" b="1" dirty="0"/>
              <a:t>단계 객체 인식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5BB5120-60F3-5E45-A94A-C4354252A5B1}"/>
              </a:ext>
            </a:extLst>
          </p:cNvPr>
          <p:cNvSpPr/>
          <p:nvPr/>
        </p:nvSpPr>
        <p:spPr>
          <a:xfrm>
            <a:off x="360000" y="180000"/>
            <a:ext cx="450000" cy="1800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/>
              <a:t>목차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2466CDB-1F66-7B0A-121D-F8200DF7F74F}"/>
                  </a:ext>
                </a:extLst>
              </p:cNvPr>
              <p:cNvSpPr txBox="1"/>
              <p:nvPr/>
            </p:nvSpPr>
            <p:spPr>
              <a:xfrm>
                <a:off x="450000" y="1133502"/>
                <a:ext cx="11160000" cy="5040000"/>
              </a:xfrm>
              <a:prstGeom prst="rect">
                <a:avLst/>
              </a:prstGeom>
              <a:noFill/>
              <a:ln w="19050">
                <a:solidFill>
                  <a:srgbClr val="92D050"/>
                </a:solidFill>
              </a:ln>
            </p:spPr>
            <p:txBody>
              <a:bodyPr wrap="square" lIns="54000" tIns="54000" rIns="54000" bIns="54000" rtlCol="0" anchor="t">
                <a:noAutofit/>
              </a:bodyPr>
              <a:lstStyle/>
              <a:p>
                <a:r>
                  <a:rPr lang="en-US" altLang="ko-KR" sz="1600" dirty="0"/>
                  <a:t>RPN</a:t>
                </a:r>
                <a:r>
                  <a:rPr lang="ko-KR" altLang="en-US" sz="1600" dirty="0"/>
                  <a:t>은 합성곱 레이어에서 얻은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ko-KR" sz="1600" dirty="0"/>
                  <a:t> </a:t>
                </a:r>
                <a:r>
                  <a:rPr lang="ko-KR" altLang="en-US" sz="1600" dirty="0"/>
                  <a:t>크기의 작은 윈도우</a:t>
                </a:r>
                <a:r>
                  <a:rPr lang="en-US" altLang="ko-KR" sz="1600" dirty="0"/>
                  <a:t>(</a:t>
                </a:r>
                <a:r>
                  <a:rPr lang="ko-KR" altLang="en-US" sz="1600" dirty="0"/>
                  <a:t>커널</a:t>
                </a:r>
                <a:r>
                  <a:rPr lang="en-US" altLang="ko-KR" sz="1600" dirty="0"/>
                  <a:t>) </a:t>
                </a:r>
                <a:r>
                  <a:rPr lang="ko-KR" altLang="en-US" sz="1600" dirty="0"/>
                  <a:t>영역에 입력하고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이진 분류를 통해 객체 존재 유무를 판별함</a:t>
                </a:r>
                <a:endParaRPr lang="en-US" altLang="ko-KR" sz="1600" dirty="0"/>
              </a:p>
              <a:p>
                <a:r>
                  <a:rPr lang="ko-KR" altLang="en-US" sz="1600" dirty="0"/>
                  <a:t>추가적으로 위치 보정을 위해 경계 상자 회귀 방식을 적용함</a:t>
                </a:r>
                <a:endParaRPr lang="en-US" altLang="ko-KR" sz="1600" dirty="0"/>
              </a:p>
              <a:p>
                <a:endParaRPr lang="en-US" altLang="ko-KR" sz="1600" dirty="0"/>
              </a:p>
              <a:p>
                <a:endParaRPr lang="en-US" altLang="ko-KR" sz="16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2466CDB-1F66-7B0A-121D-F8200DF7F7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000" y="1133502"/>
                <a:ext cx="11160000" cy="5040000"/>
              </a:xfrm>
              <a:prstGeom prst="rect">
                <a:avLst/>
              </a:prstGeom>
              <a:blipFill>
                <a:blip r:embed="rId5"/>
                <a:stretch>
                  <a:fillRect l="-600" t="-120"/>
                </a:stretch>
              </a:blipFill>
              <a:ln w="19050">
                <a:solidFill>
                  <a:srgbClr val="92D05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직사각형 2">
            <a:extLst>
              <a:ext uri="{FF2B5EF4-FFF2-40B4-BE49-F238E27FC236}">
                <a16:creationId xmlns:a16="http://schemas.microsoft.com/office/drawing/2014/main" id="{C623C563-20DF-674C-6CE7-B260F1D13260}"/>
              </a:ext>
            </a:extLst>
          </p:cNvPr>
          <p:cNvSpPr/>
          <p:nvPr/>
        </p:nvSpPr>
        <p:spPr>
          <a:xfrm>
            <a:off x="450000" y="953502"/>
            <a:ext cx="450000" cy="180000"/>
          </a:xfrm>
          <a:prstGeom prst="rect">
            <a:avLst/>
          </a:prstGeom>
          <a:solidFill>
            <a:srgbClr val="92D050"/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/>
              <a:t>내용</a:t>
            </a:r>
          </a:p>
        </p:txBody>
      </p: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C4164DE8-0372-8FBE-4844-330E4878E197}"/>
              </a:ext>
            </a:extLst>
          </p:cNvPr>
          <p:cNvGrpSpPr/>
          <p:nvPr/>
        </p:nvGrpSpPr>
        <p:grpSpPr>
          <a:xfrm>
            <a:off x="1440000" y="3240000"/>
            <a:ext cx="4867200" cy="2488896"/>
            <a:chOff x="1447200" y="2519342"/>
            <a:chExt cx="4867200" cy="2488896"/>
          </a:xfrm>
        </p:grpSpPr>
        <p:sp>
          <p:nvSpPr>
            <p:cNvPr id="10" name="평행 사변형 9">
              <a:extLst>
                <a:ext uri="{FF2B5EF4-FFF2-40B4-BE49-F238E27FC236}">
                  <a16:creationId xmlns:a16="http://schemas.microsoft.com/office/drawing/2014/main" id="{0BBFBAC7-A19E-7F2E-1D4B-5F73F6ACC26B}"/>
                </a:ext>
              </a:extLst>
            </p:cNvPr>
            <p:cNvSpPr/>
            <p:nvPr/>
          </p:nvSpPr>
          <p:spPr>
            <a:xfrm flipH="1">
              <a:off x="1447200" y="2520000"/>
              <a:ext cx="900000" cy="540000"/>
            </a:xfrm>
            <a:prstGeom prst="parallelogram">
              <a:avLst>
                <a:gd name="adj" fmla="val 48723"/>
              </a:avLst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평행 사변형 10">
              <a:extLst>
                <a:ext uri="{FF2B5EF4-FFF2-40B4-BE49-F238E27FC236}">
                  <a16:creationId xmlns:a16="http://schemas.microsoft.com/office/drawing/2014/main" id="{5EB3B74F-A802-AA68-A214-8E979A2D2621}"/>
                </a:ext>
              </a:extLst>
            </p:cNvPr>
            <p:cNvSpPr/>
            <p:nvPr/>
          </p:nvSpPr>
          <p:spPr>
            <a:xfrm flipH="1">
              <a:off x="2088712" y="2520000"/>
              <a:ext cx="900000" cy="540000"/>
            </a:xfrm>
            <a:prstGeom prst="parallelogram">
              <a:avLst>
                <a:gd name="adj" fmla="val 48723"/>
              </a:avLst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평행 사변형 11">
              <a:extLst>
                <a:ext uri="{FF2B5EF4-FFF2-40B4-BE49-F238E27FC236}">
                  <a16:creationId xmlns:a16="http://schemas.microsoft.com/office/drawing/2014/main" id="{90433580-8DFA-5503-356B-A9933E95D4B0}"/>
                </a:ext>
              </a:extLst>
            </p:cNvPr>
            <p:cNvSpPr/>
            <p:nvPr/>
          </p:nvSpPr>
          <p:spPr>
            <a:xfrm flipH="1">
              <a:off x="2725912" y="2519718"/>
              <a:ext cx="900000" cy="540000"/>
            </a:xfrm>
            <a:prstGeom prst="parallelogram">
              <a:avLst>
                <a:gd name="adj" fmla="val 48723"/>
              </a:avLst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3" name="평행 사변형 12">
              <a:extLst>
                <a:ext uri="{FF2B5EF4-FFF2-40B4-BE49-F238E27FC236}">
                  <a16:creationId xmlns:a16="http://schemas.microsoft.com/office/drawing/2014/main" id="{CEEE2D07-4613-224F-3B44-B6CD8F7E38C5}"/>
                </a:ext>
              </a:extLst>
            </p:cNvPr>
            <p:cNvSpPr/>
            <p:nvPr/>
          </p:nvSpPr>
          <p:spPr>
            <a:xfrm flipH="1">
              <a:off x="3363112" y="2519718"/>
              <a:ext cx="900000" cy="540000"/>
            </a:xfrm>
            <a:prstGeom prst="parallelogram">
              <a:avLst>
                <a:gd name="adj" fmla="val 48723"/>
              </a:avLst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평행 사변형 13">
              <a:extLst>
                <a:ext uri="{FF2B5EF4-FFF2-40B4-BE49-F238E27FC236}">
                  <a16:creationId xmlns:a16="http://schemas.microsoft.com/office/drawing/2014/main" id="{7A1F718E-5769-4596-3E8E-AD729F3A8F7C}"/>
                </a:ext>
              </a:extLst>
            </p:cNvPr>
            <p:cNvSpPr/>
            <p:nvPr/>
          </p:nvSpPr>
          <p:spPr>
            <a:xfrm flipH="1">
              <a:off x="3996000" y="2519342"/>
              <a:ext cx="900000" cy="540000"/>
            </a:xfrm>
            <a:prstGeom prst="parallelogram">
              <a:avLst>
                <a:gd name="adj" fmla="val 48723"/>
              </a:avLst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평행 사변형 15">
              <a:extLst>
                <a:ext uri="{FF2B5EF4-FFF2-40B4-BE49-F238E27FC236}">
                  <a16:creationId xmlns:a16="http://schemas.microsoft.com/office/drawing/2014/main" id="{38125F89-5CFD-3D06-13C0-DB050BA1C676}"/>
                </a:ext>
              </a:extLst>
            </p:cNvPr>
            <p:cNvSpPr/>
            <p:nvPr/>
          </p:nvSpPr>
          <p:spPr>
            <a:xfrm flipH="1">
              <a:off x="1710000" y="3060000"/>
              <a:ext cx="900000" cy="540000"/>
            </a:xfrm>
            <a:prstGeom prst="parallelogram">
              <a:avLst>
                <a:gd name="adj" fmla="val 48723"/>
              </a:avLst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7" name="평행 사변형 16">
              <a:extLst>
                <a:ext uri="{FF2B5EF4-FFF2-40B4-BE49-F238E27FC236}">
                  <a16:creationId xmlns:a16="http://schemas.microsoft.com/office/drawing/2014/main" id="{168A0250-60A4-ECE9-CF87-59E0B4542ABF}"/>
                </a:ext>
              </a:extLst>
            </p:cNvPr>
            <p:cNvSpPr/>
            <p:nvPr/>
          </p:nvSpPr>
          <p:spPr>
            <a:xfrm flipH="1">
              <a:off x="2347200" y="3060000"/>
              <a:ext cx="900000" cy="540000"/>
            </a:xfrm>
            <a:prstGeom prst="parallelogram">
              <a:avLst>
                <a:gd name="adj" fmla="val 48723"/>
              </a:avLst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평행 사변형 17">
              <a:extLst>
                <a:ext uri="{FF2B5EF4-FFF2-40B4-BE49-F238E27FC236}">
                  <a16:creationId xmlns:a16="http://schemas.microsoft.com/office/drawing/2014/main" id="{065AA2D4-D367-76E8-D26B-5CFD1E89E3D3}"/>
                </a:ext>
              </a:extLst>
            </p:cNvPr>
            <p:cNvSpPr/>
            <p:nvPr/>
          </p:nvSpPr>
          <p:spPr>
            <a:xfrm flipH="1">
              <a:off x="2984400" y="3059906"/>
              <a:ext cx="900000" cy="540000"/>
            </a:xfrm>
            <a:prstGeom prst="parallelogram">
              <a:avLst>
                <a:gd name="adj" fmla="val 48723"/>
              </a:avLst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9" name="평행 사변형 18">
              <a:extLst>
                <a:ext uri="{FF2B5EF4-FFF2-40B4-BE49-F238E27FC236}">
                  <a16:creationId xmlns:a16="http://schemas.microsoft.com/office/drawing/2014/main" id="{F97A92E0-B507-8E1D-DC61-DF7EB053335D}"/>
                </a:ext>
              </a:extLst>
            </p:cNvPr>
            <p:cNvSpPr/>
            <p:nvPr/>
          </p:nvSpPr>
          <p:spPr>
            <a:xfrm flipH="1">
              <a:off x="3621600" y="3059906"/>
              <a:ext cx="900000" cy="540000"/>
            </a:xfrm>
            <a:prstGeom prst="parallelogram">
              <a:avLst>
                <a:gd name="adj" fmla="val 48723"/>
              </a:avLst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0" name="평행 사변형 19">
              <a:extLst>
                <a:ext uri="{FF2B5EF4-FFF2-40B4-BE49-F238E27FC236}">
                  <a16:creationId xmlns:a16="http://schemas.microsoft.com/office/drawing/2014/main" id="{58BE1B5D-3868-B6C3-D31B-9DC959AD7298}"/>
                </a:ext>
              </a:extLst>
            </p:cNvPr>
            <p:cNvSpPr/>
            <p:nvPr/>
          </p:nvSpPr>
          <p:spPr>
            <a:xfrm flipH="1">
              <a:off x="4258800" y="3059906"/>
              <a:ext cx="900000" cy="540000"/>
            </a:xfrm>
            <a:prstGeom prst="parallelogram">
              <a:avLst>
                <a:gd name="adj" fmla="val 48723"/>
              </a:avLst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평행 사변형 22">
              <a:extLst>
                <a:ext uri="{FF2B5EF4-FFF2-40B4-BE49-F238E27FC236}">
                  <a16:creationId xmlns:a16="http://schemas.microsoft.com/office/drawing/2014/main" id="{690E7E32-E734-D413-0718-17CB5A4CDF59}"/>
                </a:ext>
              </a:extLst>
            </p:cNvPr>
            <p:cNvSpPr/>
            <p:nvPr/>
          </p:nvSpPr>
          <p:spPr>
            <a:xfrm flipH="1">
              <a:off x="1972800" y="3600000"/>
              <a:ext cx="900000" cy="540000"/>
            </a:xfrm>
            <a:prstGeom prst="parallelogram">
              <a:avLst>
                <a:gd name="adj" fmla="val 48723"/>
              </a:avLst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4" name="평행 사변형 23">
              <a:extLst>
                <a:ext uri="{FF2B5EF4-FFF2-40B4-BE49-F238E27FC236}">
                  <a16:creationId xmlns:a16="http://schemas.microsoft.com/office/drawing/2014/main" id="{EE8C2BB1-871A-331D-AC0E-6C6B499B2A6E}"/>
                </a:ext>
              </a:extLst>
            </p:cNvPr>
            <p:cNvSpPr/>
            <p:nvPr/>
          </p:nvSpPr>
          <p:spPr>
            <a:xfrm flipH="1">
              <a:off x="2610000" y="3600000"/>
              <a:ext cx="900000" cy="540000"/>
            </a:xfrm>
            <a:prstGeom prst="parallelogram">
              <a:avLst>
                <a:gd name="adj" fmla="val 48723"/>
              </a:avLst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6" name="평행 사변형 25">
              <a:extLst>
                <a:ext uri="{FF2B5EF4-FFF2-40B4-BE49-F238E27FC236}">
                  <a16:creationId xmlns:a16="http://schemas.microsoft.com/office/drawing/2014/main" id="{046E2FB5-803B-A67C-6605-3EA139D366DE}"/>
                </a:ext>
              </a:extLst>
            </p:cNvPr>
            <p:cNvSpPr/>
            <p:nvPr/>
          </p:nvSpPr>
          <p:spPr>
            <a:xfrm flipH="1">
              <a:off x="3247200" y="3600000"/>
              <a:ext cx="900000" cy="540000"/>
            </a:xfrm>
            <a:prstGeom prst="parallelogram">
              <a:avLst>
                <a:gd name="adj" fmla="val 48723"/>
              </a:avLst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7" name="평행 사변형 26">
              <a:extLst>
                <a:ext uri="{FF2B5EF4-FFF2-40B4-BE49-F238E27FC236}">
                  <a16:creationId xmlns:a16="http://schemas.microsoft.com/office/drawing/2014/main" id="{087850C6-0468-F409-D905-19C345EAB9C9}"/>
                </a:ext>
              </a:extLst>
            </p:cNvPr>
            <p:cNvSpPr/>
            <p:nvPr/>
          </p:nvSpPr>
          <p:spPr>
            <a:xfrm flipH="1">
              <a:off x="3891600" y="3599718"/>
              <a:ext cx="900000" cy="540000"/>
            </a:xfrm>
            <a:prstGeom prst="parallelogram">
              <a:avLst>
                <a:gd name="adj" fmla="val 48723"/>
              </a:avLst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9" name="평행 사변형 28">
              <a:extLst>
                <a:ext uri="{FF2B5EF4-FFF2-40B4-BE49-F238E27FC236}">
                  <a16:creationId xmlns:a16="http://schemas.microsoft.com/office/drawing/2014/main" id="{971F6222-F735-9322-C5E6-FD4D4509A7E4}"/>
                </a:ext>
              </a:extLst>
            </p:cNvPr>
            <p:cNvSpPr/>
            <p:nvPr/>
          </p:nvSpPr>
          <p:spPr>
            <a:xfrm flipH="1">
              <a:off x="4521600" y="3599718"/>
              <a:ext cx="900000" cy="540000"/>
            </a:xfrm>
            <a:prstGeom prst="parallelogram">
              <a:avLst>
                <a:gd name="adj" fmla="val 48723"/>
              </a:avLst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0" name="평행 사변형 29">
              <a:extLst>
                <a:ext uri="{FF2B5EF4-FFF2-40B4-BE49-F238E27FC236}">
                  <a16:creationId xmlns:a16="http://schemas.microsoft.com/office/drawing/2014/main" id="{86AA1276-B5F1-ACA8-CF48-B346EF97C47E}"/>
                </a:ext>
              </a:extLst>
            </p:cNvPr>
            <p:cNvSpPr/>
            <p:nvPr/>
          </p:nvSpPr>
          <p:spPr>
            <a:xfrm flipH="1">
              <a:off x="2235600" y="4140000"/>
              <a:ext cx="900000" cy="540000"/>
            </a:xfrm>
            <a:prstGeom prst="parallelogram">
              <a:avLst>
                <a:gd name="adj" fmla="val 48723"/>
              </a:avLst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1" name="평행 사변형 30">
              <a:extLst>
                <a:ext uri="{FF2B5EF4-FFF2-40B4-BE49-F238E27FC236}">
                  <a16:creationId xmlns:a16="http://schemas.microsoft.com/office/drawing/2014/main" id="{1D0C4242-B22A-249C-4347-03AA2CF83645}"/>
                </a:ext>
              </a:extLst>
            </p:cNvPr>
            <p:cNvSpPr/>
            <p:nvPr/>
          </p:nvSpPr>
          <p:spPr>
            <a:xfrm flipH="1">
              <a:off x="2872800" y="4139718"/>
              <a:ext cx="900000" cy="540000"/>
            </a:xfrm>
            <a:prstGeom prst="parallelogram">
              <a:avLst>
                <a:gd name="adj" fmla="val 48723"/>
              </a:avLst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2" name="평행 사변형 31">
              <a:extLst>
                <a:ext uri="{FF2B5EF4-FFF2-40B4-BE49-F238E27FC236}">
                  <a16:creationId xmlns:a16="http://schemas.microsoft.com/office/drawing/2014/main" id="{6A6503DA-1681-D1F8-1574-2BAAAAE61700}"/>
                </a:ext>
              </a:extLst>
            </p:cNvPr>
            <p:cNvSpPr/>
            <p:nvPr/>
          </p:nvSpPr>
          <p:spPr>
            <a:xfrm flipH="1">
              <a:off x="3510000" y="4139718"/>
              <a:ext cx="900000" cy="540000"/>
            </a:xfrm>
            <a:prstGeom prst="parallelogram">
              <a:avLst>
                <a:gd name="adj" fmla="val 48723"/>
              </a:avLst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3" name="평행 사변형 32">
              <a:extLst>
                <a:ext uri="{FF2B5EF4-FFF2-40B4-BE49-F238E27FC236}">
                  <a16:creationId xmlns:a16="http://schemas.microsoft.com/office/drawing/2014/main" id="{3E83D2F5-7A34-220F-8151-76A15A027D77}"/>
                </a:ext>
              </a:extLst>
            </p:cNvPr>
            <p:cNvSpPr/>
            <p:nvPr/>
          </p:nvSpPr>
          <p:spPr>
            <a:xfrm flipH="1">
              <a:off x="4147200" y="4139342"/>
              <a:ext cx="900000" cy="540000"/>
            </a:xfrm>
            <a:prstGeom prst="parallelogram">
              <a:avLst>
                <a:gd name="adj" fmla="val 48723"/>
              </a:avLst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4" name="평행 사변형 33">
              <a:extLst>
                <a:ext uri="{FF2B5EF4-FFF2-40B4-BE49-F238E27FC236}">
                  <a16:creationId xmlns:a16="http://schemas.microsoft.com/office/drawing/2014/main" id="{F3D953FA-E1FF-71BF-7CD7-83B8459F21FD}"/>
                </a:ext>
              </a:extLst>
            </p:cNvPr>
            <p:cNvSpPr/>
            <p:nvPr/>
          </p:nvSpPr>
          <p:spPr>
            <a:xfrm flipH="1">
              <a:off x="4784400" y="4139342"/>
              <a:ext cx="900000" cy="540000"/>
            </a:xfrm>
            <a:prstGeom prst="parallelogram">
              <a:avLst>
                <a:gd name="adj" fmla="val 48723"/>
              </a:avLst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id="{AE1B8D53-A6A0-7AF1-D8A0-31EDD260B74A}"/>
                </a:ext>
              </a:extLst>
            </p:cNvPr>
            <p:cNvCxnSpPr>
              <a:cxnSpLocks/>
            </p:cNvCxnSpPr>
            <p:nvPr/>
          </p:nvCxnSpPr>
          <p:spPr>
            <a:xfrm>
              <a:off x="4631081" y="2519342"/>
              <a:ext cx="630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BC9621C0-D4EF-0D84-9AC7-104F6B9B87C8}"/>
                </a:ext>
              </a:extLst>
            </p:cNvPr>
            <p:cNvCxnSpPr>
              <a:cxnSpLocks/>
            </p:cNvCxnSpPr>
            <p:nvPr/>
          </p:nvCxnSpPr>
          <p:spPr>
            <a:xfrm>
              <a:off x="4896000" y="3056940"/>
              <a:ext cx="630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46A11205-7273-E48A-8367-44AEFF1B8820}"/>
                </a:ext>
              </a:extLst>
            </p:cNvPr>
            <p:cNvCxnSpPr>
              <a:cxnSpLocks/>
            </p:cNvCxnSpPr>
            <p:nvPr/>
          </p:nvCxnSpPr>
          <p:spPr>
            <a:xfrm>
              <a:off x="5158800" y="3599718"/>
              <a:ext cx="630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F57C39FA-B2BC-7E43-D25D-7C7B5291B019}"/>
                </a:ext>
              </a:extLst>
            </p:cNvPr>
            <p:cNvCxnSpPr>
              <a:cxnSpLocks/>
            </p:cNvCxnSpPr>
            <p:nvPr/>
          </p:nvCxnSpPr>
          <p:spPr>
            <a:xfrm>
              <a:off x="5430244" y="4136229"/>
              <a:ext cx="630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연결선 40">
              <a:extLst>
                <a:ext uri="{FF2B5EF4-FFF2-40B4-BE49-F238E27FC236}">
                  <a16:creationId xmlns:a16="http://schemas.microsoft.com/office/drawing/2014/main" id="{69B47FA8-5C35-3F15-7A55-7A846BF00849}"/>
                </a:ext>
              </a:extLst>
            </p:cNvPr>
            <p:cNvCxnSpPr>
              <a:cxnSpLocks/>
            </p:cNvCxnSpPr>
            <p:nvPr/>
          </p:nvCxnSpPr>
          <p:spPr>
            <a:xfrm>
              <a:off x="5684400" y="4679342"/>
              <a:ext cx="157620" cy="32350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BB3B247B-8AEF-0B38-7C03-C70C741C4ADB}"/>
                </a:ext>
              </a:extLst>
            </p:cNvPr>
            <p:cNvCxnSpPr>
              <a:cxnSpLocks/>
            </p:cNvCxnSpPr>
            <p:nvPr/>
          </p:nvCxnSpPr>
          <p:spPr>
            <a:xfrm>
              <a:off x="5684400" y="4679342"/>
              <a:ext cx="630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직선 연결선 49">
              <a:extLst>
                <a:ext uri="{FF2B5EF4-FFF2-40B4-BE49-F238E27FC236}">
                  <a16:creationId xmlns:a16="http://schemas.microsoft.com/office/drawing/2014/main" id="{413E203B-7FD1-CCE0-1DCB-F90AF5476581}"/>
                </a:ext>
              </a:extLst>
            </p:cNvPr>
            <p:cNvCxnSpPr>
              <a:cxnSpLocks/>
            </p:cNvCxnSpPr>
            <p:nvPr/>
          </p:nvCxnSpPr>
          <p:spPr>
            <a:xfrm>
              <a:off x="5046960" y="4684736"/>
              <a:ext cx="157620" cy="32350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연결선 50">
              <a:extLst>
                <a:ext uri="{FF2B5EF4-FFF2-40B4-BE49-F238E27FC236}">
                  <a16:creationId xmlns:a16="http://schemas.microsoft.com/office/drawing/2014/main" id="{D580BF61-8888-6491-4EA9-3F4F9D9EF3CD}"/>
                </a:ext>
              </a:extLst>
            </p:cNvPr>
            <p:cNvCxnSpPr>
              <a:cxnSpLocks/>
            </p:cNvCxnSpPr>
            <p:nvPr/>
          </p:nvCxnSpPr>
          <p:spPr>
            <a:xfrm>
              <a:off x="4406135" y="4679060"/>
              <a:ext cx="157620" cy="32350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0273FA63-3D44-13F2-A60E-23D3F69B0688}"/>
                </a:ext>
              </a:extLst>
            </p:cNvPr>
            <p:cNvCxnSpPr>
              <a:cxnSpLocks/>
            </p:cNvCxnSpPr>
            <p:nvPr/>
          </p:nvCxnSpPr>
          <p:spPr>
            <a:xfrm>
              <a:off x="3770868" y="4679060"/>
              <a:ext cx="157620" cy="32350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직선 연결선 52">
              <a:extLst>
                <a:ext uri="{FF2B5EF4-FFF2-40B4-BE49-F238E27FC236}">
                  <a16:creationId xmlns:a16="http://schemas.microsoft.com/office/drawing/2014/main" id="{7426FA76-00C1-BE5E-90F0-5AB8C857E993}"/>
                </a:ext>
              </a:extLst>
            </p:cNvPr>
            <p:cNvCxnSpPr>
              <a:cxnSpLocks/>
            </p:cNvCxnSpPr>
            <p:nvPr/>
          </p:nvCxnSpPr>
          <p:spPr>
            <a:xfrm>
              <a:off x="3135360" y="4679060"/>
              <a:ext cx="157620" cy="32350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id="{CB9E7B10-24E9-DC08-D306-EDF47B508709}"/>
                </a:ext>
              </a:extLst>
            </p:cNvPr>
            <p:cNvCxnSpPr>
              <a:cxnSpLocks/>
            </p:cNvCxnSpPr>
            <p:nvPr/>
          </p:nvCxnSpPr>
          <p:spPr>
            <a:xfrm>
              <a:off x="2499852" y="4679060"/>
              <a:ext cx="157620" cy="32350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" name="평행 사변형 55">
            <a:extLst>
              <a:ext uri="{FF2B5EF4-FFF2-40B4-BE49-F238E27FC236}">
                <a16:creationId xmlns:a16="http://schemas.microsoft.com/office/drawing/2014/main" id="{BF480079-DE6D-ABCC-BB24-04051BF95B5C}"/>
              </a:ext>
            </a:extLst>
          </p:cNvPr>
          <p:cNvSpPr/>
          <p:nvPr/>
        </p:nvSpPr>
        <p:spPr>
          <a:xfrm flipH="1">
            <a:off x="2344322" y="3780516"/>
            <a:ext cx="2695438" cy="1620235"/>
          </a:xfrm>
          <a:prstGeom prst="parallelogram">
            <a:avLst>
              <a:gd name="adj" fmla="val 48723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7" name="평행 사변형 56">
            <a:extLst>
              <a:ext uri="{FF2B5EF4-FFF2-40B4-BE49-F238E27FC236}">
                <a16:creationId xmlns:a16="http://schemas.microsoft.com/office/drawing/2014/main" id="{C2085DB8-BF4C-04B9-4E8E-ACFDB91FAB44}"/>
              </a:ext>
            </a:extLst>
          </p:cNvPr>
          <p:cNvSpPr/>
          <p:nvPr/>
        </p:nvSpPr>
        <p:spPr>
          <a:xfrm flipH="1">
            <a:off x="3635959" y="4557669"/>
            <a:ext cx="108082" cy="65131"/>
          </a:xfrm>
          <a:prstGeom prst="parallelogram">
            <a:avLst>
              <a:gd name="adj" fmla="val 48723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444AE476-6A75-53D5-49F1-B70DF553EFD8}"/>
              </a:ext>
            </a:extLst>
          </p:cNvPr>
          <p:cNvCxnSpPr/>
          <p:nvPr/>
        </p:nvCxnSpPr>
        <p:spPr>
          <a:xfrm flipH="1" flipV="1">
            <a:off x="3618000" y="2880000"/>
            <a:ext cx="0" cy="90000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8C26EDB6-278B-AE30-2EBF-866A78FEF09C}"/>
              </a:ext>
            </a:extLst>
          </p:cNvPr>
          <p:cNvSpPr/>
          <p:nvPr/>
        </p:nvSpPr>
        <p:spPr>
          <a:xfrm>
            <a:off x="2718712" y="2430000"/>
            <a:ext cx="1800000" cy="3600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256 – C feature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1812EC9C-D4C6-7060-B56B-FEF69739B6C8}"/>
              </a:ext>
            </a:extLst>
          </p:cNvPr>
          <p:cNvSpPr/>
          <p:nvPr/>
        </p:nvSpPr>
        <p:spPr>
          <a:xfrm>
            <a:off x="2178712" y="1800000"/>
            <a:ext cx="1080000" cy="36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solidFill>
                  <a:schemeClr val="tx1"/>
                </a:solidFill>
              </a:rPr>
              <a:t>classfication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497A5699-9362-5916-B707-92AA066BC267}"/>
              </a:ext>
            </a:extLst>
          </p:cNvPr>
          <p:cNvSpPr/>
          <p:nvPr/>
        </p:nvSpPr>
        <p:spPr>
          <a:xfrm>
            <a:off x="3960000" y="1800000"/>
            <a:ext cx="1080000" cy="36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Regression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ACA9510C-41D4-46E3-EA59-66A7EDF9275B}"/>
              </a:ext>
            </a:extLst>
          </p:cNvPr>
          <p:cNvCxnSpPr>
            <a:cxnSpLocks/>
            <a:stCxn id="60" idx="0"/>
            <a:endCxn id="61" idx="2"/>
          </p:cNvCxnSpPr>
          <p:nvPr/>
        </p:nvCxnSpPr>
        <p:spPr>
          <a:xfrm flipH="1" flipV="1">
            <a:off x="2718712" y="2160000"/>
            <a:ext cx="900000" cy="27000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2C7A9BE1-FA87-E91A-FE74-BF42A5009466}"/>
              </a:ext>
            </a:extLst>
          </p:cNvPr>
          <p:cNvCxnSpPr>
            <a:cxnSpLocks/>
            <a:stCxn id="60" idx="0"/>
            <a:endCxn id="62" idx="2"/>
          </p:cNvCxnSpPr>
          <p:nvPr/>
        </p:nvCxnSpPr>
        <p:spPr>
          <a:xfrm flipV="1">
            <a:off x="3618712" y="2160000"/>
            <a:ext cx="881288" cy="27000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양쪽 대괄호 71">
            <a:extLst>
              <a:ext uri="{FF2B5EF4-FFF2-40B4-BE49-F238E27FC236}">
                <a16:creationId xmlns:a16="http://schemas.microsoft.com/office/drawing/2014/main" id="{4DF51B7B-47AA-06E1-1E2B-3C8E2ED585A8}"/>
              </a:ext>
            </a:extLst>
          </p:cNvPr>
          <p:cNvSpPr/>
          <p:nvPr/>
        </p:nvSpPr>
        <p:spPr>
          <a:xfrm>
            <a:off x="6480000" y="1800000"/>
            <a:ext cx="2160000" cy="1080000"/>
          </a:xfrm>
          <a:prstGeom prst="bracketPair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dirty="0"/>
              <a:t>분류</a:t>
            </a:r>
            <a:r>
              <a:rPr lang="en-US" altLang="ko-KR" dirty="0"/>
              <a:t>: 2k (</a:t>
            </a:r>
            <a:r>
              <a:rPr lang="ko-KR" altLang="en-US" dirty="0"/>
              <a:t>객체</a:t>
            </a:r>
            <a:r>
              <a:rPr lang="en-US" altLang="ko-KR" dirty="0"/>
              <a:t>, </a:t>
            </a:r>
            <a:r>
              <a:rPr lang="ko-KR" altLang="en-US" dirty="0"/>
              <a:t>배경</a:t>
            </a:r>
            <a:r>
              <a:rPr lang="en-US" altLang="ko-KR" dirty="0"/>
              <a:t>)</a:t>
            </a:r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회귀</a:t>
            </a:r>
            <a:r>
              <a:rPr lang="en-US" altLang="ko-KR" dirty="0"/>
              <a:t>: 4k (x, y, w, h)</a:t>
            </a:r>
            <a:endParaRPr lang="ko-KR" altLang="en-US" dirty="0"/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2CF4266D-B222-BFEC-8859-D1D84F6C2D5C}"/>
              </a:ext>
            </a:extLst>
          </p:cNvPr>
          <p:cNvSpPr/>
          <p:nvPr/>
        </p:nvSpPr>
        <p:spPr>
          <a:xfrm>
            <a:off x="7200000" y="3240000"/>
            <a:ext cx="360000" cy="360000"/>
          </a:xfrm>
          <a:prstGeom prst="rect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158BAC92-6E83-AA36-FE9B-38A093DC8A5C}"/>
              </a:ext>
            </a:extLst>
          </p:cNvPr>
          <p:cNvSpPr/>
          <p:nvPr/>
        </p:nvSpPr>
        <p:spPr>
          <a:xfrm>
            <a:off x="7290000" y="3780000"/>
            <a:ext cx="180000" cy="720000"/>
          </a:xfrm>
          <a:prstGeom prst="rect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58F8F94A-62B0-23F9-7B34-8E4C6B3B51CC}"/>
              </a:ext>
            </a:extLst>
          </p:cNvPr>
          <p:cNvSpPr/>
          <p:nvPr/>
        </p:nvSpPr>
        <p:spPr>
          <a:xfrm>
            <a:off x="7110000" y="4680000"/>
            <a:ext cx="540000" cy="270000"/>
          </a:xfrm>
          <a:prstGeom prst="rect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78AD50C3-80FF-3119-9346-26458AB102BB}"/>
              </a:ext>
            </a:extLst>
          </p:cNvPr>
          <p:cNvSpPr/>
          <p:nvPr/>
        </p:nvSpPr>
        <p:spPr>
          <a:xfrm>
            <a:off x="7110000" y="5130000"/>
            <a:ext cx="540000" cy="540000"/>
          </a:xfrm>
          <a:prstGeom prst="rect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7856B430-8B33-A8BF-0D51-BD3D292E0FBC}"/>
              </a:ext>
            </a:extLst>
          </p:cNvPr>
          <p:cNvSpPr/>
          <p:nvPr/>
        </p:nvSpPr>
        <p:spPr>
          <a:xfrm>
            <a:off x="7333912" y="3384000"/>
            <a:ext cx="90000" cy="90000"/>
          </a:xfrm>
          <a:prstGeom prst="rect">
            <a:avLst/>
          </a:prstGeom>
          <a:solidFill>
            <a:schemeClr val="accent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B0493AA1-E9B3-7CE1-0564-3AB232540C60}"/>
              </a:ext>
            </a:extLst>
          </p:cNvPr>
          <p:cNvSpPr/>
          <p:nvPr/>
        </p:nvSpPr>
        <p:spPr>
          <a:xfrm>
            <a:off x="7333912" y="4095000"/>
            <a:ext cx="90000" cy="90000"/>
          </a:xfrm>
          <a:prstGeom prst="rect">
            <a:avLst/>
          </a:prstGeom>
          <a:solidFill>
            <a:schemeClr val="accent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DA3868BD-0CC5-81D5-9132-709084595348}"/>
              </a:ext>
            </a:extLst>
          </p:cNvPr>
          <p:cNvSpPr/>
          <p:nvPr/>
        </p:nvSpPr>
        <p:spPr>
          <a:xfrm>
            <a:off x="7333912" y="4770000"/>
            <a:ext cx="90000" cy="90000"/>
          </a:xfrm>
          <a:prstGeom prst="rect">
            <a:avLst/>
          </a:prstGeom>
          <a:solidFill>
            <a:schemeClr val="accent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09EC2EC7-C77E-6F89-F01D-FD5866573DD0}"/>
              </a:ext>
            </a:extLst>
          </p:cNvPr>
          <p:cNvSpPr/>
          <p:nvPr/>
        </p:nvSpPr>
        <p:spPr>
          <a:xfrm>
            <a:off x="7333912" y="5354718"/>
            <a:ext cx="90000" cy="90000"/>
          </a:xfrm>
          <a:prstGeom prst="rect">
            <a:avLst/>
          </a:prstGeom>
          <a:solidFill>
            <a:schemeClr val="accent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오른쪽 중괄호 82">
            <a:extLst>
              <a:ext uri="{FF2B5EF4-FFF2-40B4-BE49-F238E27FC236}">
                <a16:creationId xmlns:a16="http://schemas.microsoft.com/office/drawing/2014/main" id="{0A5A188C-9547-9591-ECC9-E237415D729E}"/>
              </a:ext>
            </a:extLst>
          </p:cNvPr>
          <p:cNvSpPr/>
          <p:nvPr/>
        </p:nvSpPr>
        <p:spPr>
          <a:xfrm>
            <a:off x="7920000" y="3240000"/>
            <a:ext cx="540000" cy="2430000"/>
          </a:xfrm>
          <a:prstGeom prst="rightBrace">
            <a:avLst>
              <a:gd name="adj1" fmla="val 25316"/>
              <a:gd name="adj2" fmla="val 50000"/>
            </a:avLst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1F46E72-A026-D484-A0FB-37300DADD04F}"/>
              </a:ext>
            </a:extLst>
          </p:cNvPr>
          <p:cNvSpPr txBox="1"/>
          <p:nvPr/>
        </p:nvSpPr>
        <p:spPr>
          <a:xfrm>
            <a:off x="8550000" y="4365000"/>
            <a:ext cx="1080000" cy="1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200" dirty="0"/>
              <a:t>Anchor box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BAE16AF-0742-5746-1880-540E7A4F7D36}"/>
              </a:ext>
            </a:extLst>
          </p:cNvPr>
          <p:cNvSpPr txBox="1"/>
          <p:nvPr/>
        </p:nvSpPr>
        <p:spPr>
          <a:xfrm>
            <a:off x="9360000" y="4860000"/>
            <a:ext cx="1800000" cy="3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모델 학습 이전에 미리 정의해두는 객체 탐지 박스 예시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88" name="연결선: 꺾임 87">
            <a:extLst>
              <a:ext uri="{FF2B5EF4-FFF2-40B4-BE49-F238E27FC236}">
                <a16:creationId xmlns:a16="http://schemas.microsoft.com/office/drawing/2014/main" id="{A0BC9A26-9562-8D6F-5CA9-2FBC75852D61}"/>
              </a:ext>
            </a:extLst>
          </p:cNvPr>
          <p:cNvCxnSpPr>
            <a:stCxn id="84" idx="2"/>
            <a:endCxn id="86" idx="1"/>
          </p:cNvCxnSpPr>
          <p:nvPr/>
        </p:nvCxnSpPr>
        <p:spPr>
          <a:xfrm rot="16200000" flipH="1">
            <a:off x="8977500" y="4657500"/>
            <a:ext cx="495000" cy="270000"/>
          </a:xfrm>
          <a:prstGeom prst="bentConnector2">
            <a:avLst/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12981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D7281-F8E0-D1D7-BE5E-B159076B1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7C7CDE0-2B8C-309F-8266-B2EEA4D612A9}"/>
              </a:ext>
            </a:extLst>
          </p:cNvPr>
          <p:cNvCxnSpPr>
            <a:cxnSpLocks/>
          </p:cNvCxnSpPr>
          <p:nvPr/>
        </p:nvCxnSpPr>
        <p:spPr>
          <a:xfrm>
            <a:off x="0" y="0"/>
            <a:ext cx="8709" cy="64800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66B315F5-B7B2-355F-0F49-9F6EAFDF8EF3}"/>
              </a:ext>
            </a:extLst>
          </p:cNvPr>
          <p:cNvCxnSpPr>
            <a:cxnSpLocks/>
          </p:cNvCxnSpPr>
          <p:nvPr/>
        </p:nvCxnSpPr>
        <p:spPr>
          <a:xfrm>
            <a:off x="0" y="18000"/>
            <a:ext cx="1188000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9C39F17-E1D9-3F6A-41BF-7099E7EEB633}"/>
                  </a:ext>
                </a:extLst>
              </p:cNvPr>
              <p:cNvSpPr txBox="1"/>
              <p:nvPr/>
            </p:nvSpPr>
            <p:spPr>
              <a:xfrm>
                <a:off x="11790000" y="18000"/>
                <a:ext cx="180000" cy="180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ko-KR" altLang="en-US" sz="10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6E89071-11C8-1B01-228C-CDCC5442B3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0000" y="18000"/>
                <a:ext cx="180000" cy="180000"/>
              </a:xfrm>
              <a:prstGeom prst="rect">
                <a:avLst/>
              </a:prstGeom>
              <a:blipFill>
                <a:blip r:embed="rId3"/>
                <a:stretch>
                  <a:fillRect t="-17241" r="-23333" b="-379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809D954-D4F7-AA3B-C919-4B6D4D71765D}"/>
                  </a:ext>
                </a:extLst>
              </p:cNvPr>
              <p:cNvSpPr txBox="1"/>
              <p:nvPr/>
            </p:nvSpPr>
            <p:spPr>
              <a:xfrm>
                <a:off x="0" y="6390001"/>
                <a:ext cx="180000" cy="180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000" b="1" i="1" smtClean="0"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ko-KR" altLang="en-US" sz="10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2965332-0EEF-840B-EADD-9394FE75AE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390001"/>
                <a:ext cx="180000" cy="180000"/>
              </a:xfrm>
              <a:prstGeom prst="rect">
                <a:avLst/>
              </a:prstGeom>
              <a:blipFill>
                <a:blip r:embed="rId4"/>
                <a:stretch>
                  <a:fillRect l="-23333" t="-30000" r="-30000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E61F3DE0-78E0-97A8-77C7-40490DE63DEA}"/>
              </a:ext>
            </a:extLst>
          </p:cNvPr>
          <p:cNvSpPr txBox="1"/>
          <p:nvPr/>
        </p:nvSpPr>
        <p:spPr>
          <a:xfrm>
            <a:off x="360000" y="360000"/>
            <a:ext cx="2250000" cy="450000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2400" b="1" dirty="0"/>
              <a:t>2</a:t>
            </a:r>
            <a:r>
              <a:rPr lang="ko-KR" altLang="en-US" sz="2400" b="1" dirty="0"/>
              <a:t>단계 객체 인식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CBCAA53-8383-E93E-EADB-5C6F00F05BAA}"/>
              </a:ext>
            </a:extLst>
          </p:cNvPr>
          <p:cNvSpPr/>
          <p:nvPr/>
        </p:nvSpPr>
        <p:spPr>
          <a:xfrm>
            <a:off x="360000" y="180000"/>
            <a:ext cx="450000" cy="1800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/>
              <a:t>목차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0AE1BB-3756-F4F5-46CB-24E045C5EC52}"/>
              </a:ext>
            </a:extLst>
          </p:cNvPr>
          <p:cNvSpPr txBox="1"/>
          <p:nvPr/>
        </p:nvSpPr>
        <p:spPr>
          <a:xfrm>
            <a:off x="450000" y="1133502"/>
            <a:ext cx="11160000" cy="50400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lIns="54000" tIns="54000" rIns="54000" bIns="54000" rtlCol="0" anchor="t">
            <a:noAutofit/>
          </a:bodyPr>
          <a:lstStyle/>
          <a:p>
            <a:r>
              <a:rPr lang="en-US" altLang="ko-KR" sz="1600" dirty="0"/>
              <a:t>Anchor box</a:t>
            </a:r>
            <a:r>
              <a:rPr lang="ko-KR" altLang="en-US" sz="1600" dirty="0"/>
              <a:t>는 다음 예시처럼 구성됨</a:t>
            </a:r>
            <a:endParaRPr lang="en-US" altLang="ko-KR" sz="16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3B4194E-D841-E7ED-5B79-CA8F2BCBC544}"/>
              </a:ext>
            </a:extLst>
          </p:cNvPr>
          <p:cNvSpPr/>
          <p:nvPr/>
        </p:nvSpPr>
        <p:spPr>
          <a:xfrm>
            <a:off x="450000" y="953502"/>
            <a:ext cx="450000" cy="180000"/>
          </a:xfrm>
          <a:prstGeom prst="rect">
            <a:avLst/>
          </a:prstGeom>
          <a:solidFill>
            <a:srgbClr val="92D050"/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/>
              <a:t>내용</a:t>
            </a:r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B04424B6-89DE-1905-7932-47101DC122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623527"/>
              </p:ext>
            </p:extLst>
          </p:nvPr>
        </p:nvGraphicFramePr>
        <p:xfrm>
          <a:off x="900000" y="1800000"/>
          <a:ext cx="4140000" cy="41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69186446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932090406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1603181317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8967903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128</a:t>
                      </a:r>
                      <a:endParaRPr lang="ko-KR" altLang="en-US" sz="1200" b="1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256</a:t>
                      </a:r>
                      <a:endParaRPr lang="ko-KR" altLang="en-US" sz="1200" b="1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/>
                        <a:t>512</a:t>
                      </a:r>
                      <a:endParaRPr lang="ko-KR" altLang="en-US" sz="1200" b="1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16911109"/>
                  </a:ext>
                </a:extLst>
              </a:tr>
              <a:tr h="12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1:1</a:t>
                      </a:r>
                      <a:endParaRPr lang="ko-KR" altLang="en-US" sz="1200" b="1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139028007"/>
                  </a:ext>
                </a:extLst>
              </a:tr>
              <a:tr h="12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1:2</a:t>
                      </a:r>
                      <a:endParaRPr lang="ko-KR" altLang="en-US" sz="1200" b="1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039467872"/>
                  </a:ext>
                </a:extLst>
              </a:tr>
              <a:tr h="12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/>
                        <a:t>2:1</a:t>
                      </a:r>
                      <a:endParaRPr lang="ko-KR" altLang="en-US" sz="1200" b="1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730411115"/>
                  </a:ext>
                </a:extLst>
              </a:tr>
            </a:tbl>
          </a:graphicData>
        </a:graphic>
      </p:graphicFrame>
      <p:sp>
        <p:nvSpPr>
          <p:cNvPr id="25" name="직사각형 24">
            <a:extLst>
              <a:ext uri="{FF2B5EF4-FFF2-40B4-BE49-F238E27FC236}">
                <a16:creationId xmlns:a16="http://schemas.microsoft.com/office/drawing/2014/main" id="{C717538C-A9DC-DD7F-21AC-8A9BE19BCB48}"/>
              </a:ext>
            </a:extLst>
          </p:cNvPr>
          <p:cNvSpPr/>
          <p:nvPr/>
        </p:nvSpPr>
        <p:spPr>
          <a:xfrm>
            <a:off x="1710000" y="2610000"/>
            <a:ext cx="360000" cy="360000"/>
          </a:xfrm>
          <a:prstGeom prst="rect">
            <a:avLst/>
          </a:prstGeom>
          <a:ln w="25400">
            <a:solidFill>
              <a:srgbClr val="09FF26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410879C-0AA6-518B-5983-0E4C63FD4718}"/>
              </a:ext>
            </a:extLst>
          </p:cNvPr>
          <p:cNvSpPr/>
          <p:nvPr/>
        </p:nvSpPr>
        <p:spPr>
          <a:xfrm>
            <a:off x="2880000" y="2520000"/>
            <a:ext cx="540000" cy="540000"/>
          </a:xfrm>
          <a:prstGeom prst="rect">
            <a:avLst/>
          </a:prstGeom>
          <a:ln w="25400">
            <a:solidFill>
              <a:srgbClr val="FFFF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9137F0CF-25D6-8DC1-F43E-A37C428BFEDB}"/>
              </a:ext>
            </a:extLst>
          </p:cNvPr>
          <p:cNvSpPr/>
          <p:nvPr/>
        </p:nvSpPr>
        <p:spPr>
          <a:xfrm>
            <a:off x="4050000" y="2430000"/>
            <a:ext cx="720000" cy="720000"/>
          </a:xfrm>
          <a:prstGeom prst="rect">
            <a:avLst/>
          </a:prstGeom>
          <a:ln w="25400">
            <a:solidFill>
              <a:srgbClr val="E6D5F3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6C5F2454-DFC1-BC3F-2E34-FC52389C117C}"/>
              </a:ext>
            </a:extLst>
          </p:cNvPr>
          <p:cNvSpPr/>
          <p:nvPr/>
        </p:nvSpPr>
        <p:spPr>
          <a:xfrm>
            <a:off x="1710000" y="3959598"/>
            <a:ext cx="360000" cy="180000"/>
          </a:xfrm>
          <a:prstGeom prst="rect">
            <a:avLst/>
          </a:prstGeom>
          <a:ln w="25400">
            <a:solidFill>
              <a:srgbClr val="09FF26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CDF0A449-42A9-0D07-270F-2638C5D6B9EC}"/>
              </a:ext>
            </a:extLst>
          </p:cNvPr>
          <p:cNvSpPr/>
          <p:nvPr/>
        </p:nvSpPr>
        <p:spPr>
          <a:xfrm>
            <a:off x="2880000" y="3914598"/>
            <a:ext cx="540000" cy="270000"/>
          </a:xfrm>
          <a:prstGeom prst="rect">
            <a:avLst/>
          </a:prstGeom>
          <a:ln w="25400">
            <a:solidFill>
              <a:srgbClr val="FFFF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56C594C8-0AE7-0617-474D-52C7238CEAAB}"/>
              </a:ext>
            </a:extLst>
          </p:cNvPr>
          <p:cNvSpPr/>
          <p:nvPr/>
        </p:nvSpPr>
        <p:spPr>
          <a:xfrm>
            <a:off x="4050000" y="3869598"/>
            <a:ext cx="720000" cy="360000"/>
          </a:xfrm>
          <a:prstGeom prst="rect">
            <a:avLst/>
          </a:prstGeom>
          <a:ln w="25400">
            <a:solidFill>
              <a:srgbClr val="E6D5F3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4E0C149C-6A37-4956-CAE4-0772C44FA5E2}"/>
              </a:ext>
            </a:extLst>
          </p:cNvPr>
          <p:cNvSpPr/>
          <p:nvPr/>
        </p:nvSpPr>
        <p:spPr>
          <a:xfrm>
            <a:off x="1800000" y="5129196"/>
            <a:ext cx="180000" cy="360000"/>
          </a:xfrm>
          <a:prstGeom prst="rect">
            <a:avLst/>
          </a:prstGeom>
          <a:ln w="25400">
            <a:solidFill>
              <a:srgbClr val="09FF26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8062C760-CABB-144F-FEEC-CAC94A39AB65}"/>
              </a:ext>
            </a:extLst>
          </p:cNvPr>
          <p:cNvSpPr/>
          <p:nvPr/>
        </p:nvSpPr>
        <p:spPr>
          <a:xfrm>
            <a:off x="3015000" y="5039196"/>
            <a:ext cx="270000" cy="540000"/>
          </a:xfrm>
          <a:prstGeom prst="rect">
            <a:avLst/>
          </a:prstGeom>
          <a:ln w="25400">
            <a:solidFill>
              <a:srgbClr val="FFFF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EDF2E0A7-915F-A846-7E80-F31B29B5A6C7}"/>
              </a:ext>
            </a:extLst>
          </p:cNvPr>
          <p:cNvSpPr/>
          <p:nvPr/>
        </p:nvSpPr>
        <p:spPr>
          <a:xfrm>
            <a:off x="4230000" y="4949196"/>
            <a:ext cx="360000" cy="720000"/>
          </a:xfrm>
          <a:prstGeom prst="rect">
            <a:avLst/>
          </a:prstGeom>
          <a:ln w="25400">
            <a:solidFill>
              <a:srgbClr val="E6D5F3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A606019A-FB0F-0CEE-04DA-14B5CA1FF825}"/>
              </a:ext>
            </a:extLst>
          </p:cNvPr>
          <p:cNvSpPr/>
          <p:nvPr/>
        </p:nvSpPr>
        <p:spPr>
          <a:xfrm>
            <a:off x="6660000" y="1979196"/>
            <a:ext cx="3600000" cy="3600000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BEF62F0D-0172-B1C2-7AFC-C9672272FFE8}"/>
              </a:ext>
            </a:extLst>
          </p:cNvPr>
          <p:cNvSpPr/>
          <p:nvPr/>
        </p:nvSpPr>
        <p:spPr>
          <a:xfrm>
            <a:off x="6652800" y="1799196"/>
            <a:ext cx="720000" cy="180000"/>
          </a:xfrm>
          <a:prstGeom prst="rect">
            <a:avLst/>
          </a:prstGeom>
          <a:solidFill>
            <a:schemeClr val="tx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Sample</a:t>
            </a:r>
            <a:endParaRPr lang="ko-KR" altLang="en-US" sz="1000" b="1" dirty="0"/>
          </a:p>
        </p:txBody>
      </p:sp>
      <p:graphicFrame>
        <p:nvGraphicFramePr>
          <p:cNvPr id="91" name="표 90">
            <a:extLst>
              <a:ext uri="{FF2B5EF4-FFF2-40B4-BE49-F238E27FC236}">
                <a16:creationId xmlns:a16="http://schemas.microsoft.com/office/drawing/2014/main" id="{9FE6B478-E345-5F88-E6A2-2B4A27F305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3160410"/>
              </p:ext>
            </p:extLst>
          </p:nvPr>
        </p:nvGraphicFramePr>
        <p:xfrm>
          <a:off x="6660000" y="1979505"/>
          <a:ext cx="3600000" cy="36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0000">
                  <a:extLst>
                    <a:ext uri="{9D8B030D-6E8A-4147-A177-3AD203B41FA5}">
                      <a16:colId xmlns:a16="http://schemas.microsoft.com/office/drawing/2014/main" val="1464616718"/>
                    </a:ext>
                  </a:extLst>
                </a:gridCol>
                <a:gridCol w="450000">
                  <a:extLst>
                    <a:ext uri="{9D8B030D-6E8A-4147-A177-3AD203B41FA5}">
                      <a16:colId xmlns:a16="http://schemas.microsoft.com/office/drawing/2014/main" val="1196894888"/>
                    </a:ext>
                  </a:extLst>
                </a:gridCol>
                <a:gridCol w="450000">
                  <a:extLst>
                    <a:ext uri="{9D8B030D-6E8A-4147-A177-3AD203B41FA5}">
                      <a16:colId xmlns:a16="http://schemas.microsoft.com/office/drawing/2014/main" val="2288992961"/>
                    </a:ext>
                  </a:extLst>
                </a:gridCol>
                <a:gridCol w="450000">
                  <a:extLst>
                    <a:ext uri="{9D8B030D-6E8A-4147-A177-3AD203B41FA5}">
                      <a16:colId xmlns:a16="http://schemas.microsoft.com/office/drawing/2014/main" val="2774112526"/>
                    </a:ext>
                  </a:extLst>
                </a:gridCol>
                <a:gridCol w="450000">
                  <a:extLst>
                    <a:ext uri="{9D8B030D-6E8A-4147-A177-3AD203B41FA5}">
                      <a16:colId xmlns:a16="http://schemas.microsoft.com/office/drawing/2014/main" val="788661328"/>
                    </a:ext>
                  </a:extLst>
                </a:gridCol>
                <a:gridCol w="450000">
                  <a:extLst>
                    <a:ext uri="{9D8B030D-6E8A-4147-A177-3AD203B41FA5}">
                      <a16:colId xmlns:a16="http://schemas.microsoft.com/office/drawing/2014/main" val="2933917955"/>
                    </a:ext>
                  </a:extLst>
                </a:gridCol>
                <a:gridCol w="450000">
                  <a:extLst>
                    <a:ext uri="{9D8B030D-6E8A-4147-A177-3AD203B41FA5}">
                      <a16:colId xmlns:a16="http://schemas.microsoft.com/office/drawing/2014/main" val="998151554"/>
                    </a:ext>
                  </a:extLst>
                </a:gridCol>
                <a:gridCol w="450000">
                  <a:extLst>
                    <a:ext uri="{9D8B030D-6E8A-4147-A177-3AD203B41FA5}">
                      <a16:colId xmlns:a16="http://schemas.microsoft.com/office/drawing/2014/main" val="29692520"/>
                    </a:ext>
                  </a:extLst>
                </a:gridCol>
              </a:tblGrid>
              <a:tr h="45000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892297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5250156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2106179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9497278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5636209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8478538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4884561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BFBFBF">
                          <a:alpha val="4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5204124"/>
                  </a:ext>
                </a:extLst>
              </a:tr>
            </a:tbl>
          </a:graphicData>
        </a:graphic>
      </p:graphicFrame>
      <p:sp>
        <p:nvSpPr>
          <p:cNvPr id="68" name="타원 67">
            <a:extLst>
              <a:ext uri="{FF2B5EF4-FFF2-40B4-BE49-F238E27FC236}">
                <a16:creationId xmlns:a16="http://schemas.microsoft.com/office/drawing/2014/main" id="{11E53410-5823-62FB-D37E-5A1BFD49152A}"/>
              </a:ext>
            </a:extLst>
          </p:cNvPr>
          <p:cNvSpPr/>
          <p:nvPr/>
        </p:nvSpPr>
        <p:spPr>
          <a:xfrm>
            <a:off x="8881825" y="3518502"/>
            <a:ext cx="90000" cy="90000"/>
          </a:xfrm>
          <a:prstGeom prst="ellipse">
            <a:avLst/>
          </a:prstGeom>
          <a:solidFill>
            <a:srgbClr val="FF000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D1EB568D-7C2E-684A-A0B1-B6E8380CC315}"/>
              </a:ext>
            </a:extLst>
          </p:cNvPr>
          <p:cNvSpPr/>
          <p:nvPr/>
        </p:nvSpPr>
        <p:spPr>
          <a:xfrm>
            <a:off x="8746825" y="3383502"/>
            <a:ext cx="360000" cy="360000"/>
          </a:xfrm>
          <a:prstGeom prst="rect">
            <a:avLst/>
          </a:prstGeom>
          <a:ln w="25400">
            <a:solidFill>
              <a:srgbClr val="09FF26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C1B8C844-B0C1-2669-CFAD-32E38FD21F48}"/>
              </a:ext>
            </a:extLst>
          </p:cNvPr>
          <p:cNvSpPr/>
          <p:nvPr/>
        </p:nvSpPr>
        <p:spPr>
          <a:xfrm>
            <a:off x="8746825" y="3473502"/>
            <a:ext cx="360000" cy="180000"/>
          </a:xfrm>
          <a:prstGeom prst="rect">
            <a:avLst/>
          </a:prstGeom>
          <a:ln w="25400">
            <a:solidFill>
              <a:srgbClr val="09FF26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48C67424-55AB-8ABA-2687-7090A094694D}"/>
              </a:ext>
            </a:extLst>
          </p:cNvPr>
          <p:cNvSpPr/>
          <p:nvPr/>
        </p:nvSpPr>
        <p:spPr>
          <a:xfrm>
            <a:off x="8836825" y="3383502"/>
            <a:ext cx="180000" cy="360000"/>
          </a:xfrm>
          <a:prstGeom prst="rect">
            <a:avLst/>
          </a:prstGeom>
          <a:ln w="25400">
            <a:solidFill>
              <a:srgbClr val="09FF26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2BAA7977-B2EF-3C92-7B89-9AF77D6CE125}"/>
              </a:ext>
            </a:extLst>
          </p:cNvPr>
          <p:cNvSpPr/>
          <p:nvPr/>
        </p:nvSpPr>
        <p:spPr>
          <a:xfrm>
            <a:off x="8566825" y="3203502"/>
            <a:ext cx="720000" cy="720000"/>
          </a:xfrm>
          <a:prstGeom prst="rect">
            <a:avLst/>
          </a:prstGeom>
          <a:ln w="25400">
            <a:solidFill>
              <a:srgbClr val="FFFF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3FA092D0-F650-D877-6C1D-8CD3506C98BD}"/>
              </a:ext>
            </a:extLst>
          </p:cNvPr>
          <p:cNvSpPr/>
          <p:nvPr/>
        </p:nvSpPr>
        <p:spPr>
          <a:xfrm>
            <a:off x="8566825" y="3383502"/>
            <a:ext cx="720000" cy="360000"/>
          </a:xfrm>
          <a:prstGeom prst="rect">
            <a:avLst/>
          </a:prstGeom>
          <a:ln w="25400">
            <a:solidFill>
              <a:srgbClr val="FFFF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0265C004-78F4-B1A9-53E6-B9524A1BABA5}"/>
              </a:ext>
            </a:extLst>
          </p:cNvPr>
          <p:cNvSpPr/>
          <p:nvPr/>
        </p:nvSpPr>
        <p:spPr>
          <a:xfrm>
            <a:off x="8746825" y="3203502"/>
            <a:ext cx="360000" cy="720000"/>
          </a:xfrm>
          <a:prstGeom prst="rect">
            <a:avLst/>
          </a:prstGeom>
          <a:ln w="25400">
            <a:solidFill>
              <a:srgbClr val="FFFF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7111E24F-58D3-9F0A-ECA6-4BC0CD5DEF2F}"/>
              </a:ext>
            </a:extLst>
          </p:cNvPr>
          <p:cNvSpPr/>
          <p:nvPr/>
        </p:nvSpPr>
        <p:spPr>
          <a:xfrm>
            <a:off x="8386825" y="3023502"/>
            <a:ext cx="1080000" cy="1080000"/>
          </a:xfrm>
          <a:prstGeom prst="rect">
            <a:avLst/>
          </a:prstGeom>
          <a:ln w="25400">
            <a:solidFill>
              <a:srgbClr val="E6D5F3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C125FC0F-555B-AC99-E402-D4D52D93E1E2}"/>
              </a:ext>
            </a:extLst>
          </p:cNvPr>
          <p:cNvSpPr/>
          <p:nvPr/>
        </p:nvSpPr>
        <p:spPr>
          <a:xfrm>
            <a:off x="8386825" y="3293502"/>
            <a:ext cx="1080000" cy="540000"/>
          </a:xfrm>
          <a:prstGeom prst="rect">
            <a:avLst/>
          </a:prstGeom>
          <a:ln w="25400">
            <a:solidFill>
              <a:srgbClr val="E6D5F3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6AA8F84B-C3AF-99AD-AB8E-CF0603D661CD}"/>
              </a:ext>
            </a:extLst>
          </p:cNvPr>
          <p:cNvSpPr/>
          <p:nvPr/>
        </p:nvSpPr>
        <p:spPr>
          <a:xfrm>
            <a:off x="8656825" y="3023502"/>
            <a:ext cx="540000" cy="1080000"/>
          </a:xfrm>
          <a:prstGeom prst="rect">
            <a:avLst/>
          </a:prstGeom>
          <a:ln w="25400">
            <a:solidFill>
              <a:srgbClr val="E6D5F3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05788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85E39-F826-0E60-3D64-ADFCB665A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직사각형 31">
            <a:extLst>
              <a:ext uri="{FF2B5EF4-FFF2-40B4-BE49-F238E27FC236}">
                <a16:creationId xmlns:a16="http://schemas.microsoft.com/office/drawing/2014/main" id="{046963EB-9F72-EEFF-4D39-DE948F95C14B}"/>
              </a:ext>
            </a:extLst>
          </p:cNvPr>
          <p:cNvSpPr/>
          <p:nvPr/>
        </p:nvSpPr>
        <p:spPr>
          <a:xfrm>
            <a:off x="468000" y="1800000"/>
            <a:ext cx="6300000" cy="2880000"/>
          </a:xfrm>
          <a:prstGeom prst="rect">
            <a:avLst/>
          </a:prstGeom>
          <a:solidFill>
            <a:schemeClr val="accent4">
              <a:lumMod val="20000"/>
              <a:lumOff val="80000"/>
              <a:alpha val="50000"/>
            </a:schemeClr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A6864072-273A-B747-E99D-F0E8646C291C}"/>
              </a:ext>
            </a:extLst>
          </p:cNvPr>
          <p:cNvCxnSpPr>
            <a:cxnSpLocks/>
          </p:cNvCxnSpPr>
          <p:nvPr/>
        </p:nvCxnSpPr>
        <p:spPr>
          <a:xfrm>
            <a:off x="0" y="0"/>
            <a:ext cx="8709" cy="64800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D5EC02D5-520B-33FF-6358-8F6177655FB8}"/>
              </a:ext>
            </a:extLst>
          </p:cNvPr>
          <p:cNvCxnSpPr>
            <a:cxnSpLocks/>
          </p:cNvCxnSpPr>
          <p:nvPr/>
        </p:nvCxnSpPr>
        <p:spPr>
          <a:xfrm>
            <a:off x="0" y="18000"/>
            <a:ext cx="1188000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B3836DA-8A59-5699-7226-46EB5E50141F}"/>
                  </a:ext>
                </a:extLst>
              </p:cNvPr>
              <p:cNvSpPr txBox="1"/>
              <p:nvPr/>
            </p:nvSpPr>
            <p:spPr>
              <a:xfrm>
                <a:off x="11790000" y="18000"/>
                <a:ext cx="180000" cy="180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ko-KR" altLang="en-US" sz="10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6E89071-11C8-1B01-228C-CDCC5442B3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0000" y="18000"/>
                <a:ext cx="180000" cy="180000"/>
              </a:xfrm>
              <a:prstGeom prst="rect">
                <a:avLst/>
              </a:prstGeom>
              <a:blipFill>
                <a:blip r:embed="rId3"/>
                <a:stretch>
                  <a:fillRect t="-17241" r="-23333" b="-379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1E23DB5-B451-12AA-6D03-390E47D80266}"/>
                  </a:ext>
                </a:extLst>
              </p:cNvPr>
              <p:cNvSpPr txBox="1"/>
              <p:nvPr/>
            </p:nvSpPr>
            <p:spPr>
              <a:xfrm>
                <a:off x="0" y="6390001"/>
                <a:ext cx="180000" cy="180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000" b="1" i="1" smtClean="0"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ko-KR" altLang="en-US" sz="10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2965332-0EEF-840B-EADD-9394FE75AE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390001"/>
                <a:ext cx="180000" cy="180000"/>
              </a:xfrm>
              <a:prstGeom prst="rect">
                <a:avLst/>
              </a:prstGeom>
              <a:blipFill>
                <a:blip r:embed="rId4"/>
                <a:stretch>
                  <a:fillRect l="-23333" t="-30000" r="-30000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E7FC5F7A-2622-DDEB-62E3-19A82218CF2A}"/>
              </a:ext>
            </a:extLst>
          </p:cNvPr>
          <p:cNvSpPr txBox="1"/>
          <p:nvPr/>
        </p:nvSpPr>
        <p:spPr>
          <a:xfrm>
            <a:off x="360000" y="360000"/>
            <a:ext cx="2250000" cy="450000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2400" b="1" dirty="0"/>
              <a:t>2</a:t>
            </a:r>
            <a:r>
              <a:rPr lang="ko-KR" altLang="en-US" sz="2400" b="1" dirty="0"/>
              <a:t>단계 객체 인식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E252E53-910D-98E7-228A-E632B169617B}"/>
              </a:ext>
            </a:extLst>
          </p:cNvPr>
          <p:cNvSpPr/>
          <p:nvPr/>
        </p:nvSpPr>
        <p:spPr>
          <a:xfrm>
            <a:off x="360000" y="180000"/>
            <a:ext cx="450000" cy="1800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/>
              <a:t>목차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6AAF3E-D07E-0D80-D780-456449E60E6C}"/>
              </a:ext>
            </a:extLst>
          </p:cNvPr>
          <p:cNvSpPr txBox="1"/>
          <p:nvPr/>
        </p:nvSpPr>
        <p:spPr>
          <a:xfrm>
            <a:off x="450000" y="1133502"/>
            <a:ext cx="11160000" cy="50400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lIns="54000" tIns="54000" rIns="54000" bIns="54000" rtlCol="0" anchor="t">
            <a:noAutofit/>
          </a:bodyPr>
          <a:lstStyle/>
          <a:p>
            <a:r>
              <a:rPr lang="en-US" altLang="ko-KR" sz="1600" dirty="0"/>
              <a:t>Faster R-CNN</a:t>
            </a:r>
            <a:r>
              <a:rPr lang="ko-KR" altLang="en-US" sz="1600" dirty="0"/>
              <a:t>은 </a:t>
            </a:r>
            <a:r>
              <a:rPr lang="en-US" altLang="ko-KR" sz="1600" dirty="0"/>
              <a:t>2</a:t>
            </a:r>
            <a:r>
              <a:rPr lang="ko-KR" altLang="en-US" sz="1600" dirty="0"/>
              <a:t>단계 객체 탐지 구조의 표준을 만들었으며</a:t>
            </a:r>
            <a:r>
              <a:rPr lang="en-US" altLang="ko-KR" sz="1600" dirty="0"/>
              <a:t>, </a:t>
            </a:r>
            <a:r>
              <a:rPr lang="ko-KR" altLang="en-US" sz="1600" dirty="0"/>
              <a:t>다음과 같은 기여점이 있음</a:t>
            </a:r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sz="1600" dirty="0"/>
              <a:t>기존의 선택적 탐색 기반 후보 영역 생성 과정을 </a:t>
            </a:r>
            <a:r>
              <a:rPr lang="en-US" altLang="ko-KR" sz="1600" dirty="0"/>
              <a:t>RPN</a:t>
            </a:r>
            <a:r>
              <a:rPr lang="ko-KR" altLang="en-US" sz="1600" dirty="0"/>
              <a:t>으로 대체함</a:t>
            </a:r>
            <a:endParaRPr lang="en-US" altLang="ko-KR" sz="1600" dirty="0"/>
          </a:p>
          <a:p>
            <a:pPr marL="342900" indent="-342900">
              <a:buFont typeface="+mj-lt"/>
              <a:buAutoNum type="arabicPeriod"/>
            </a:pPr>
            <a:endParaRPr lang="en-US" altLang="ko-KR" sz="1600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sz="1600" dirty="0"/>
              <a:t>후보 영역 생성과 객체 탐지를 하나의 신경망으로 통합하여</a:t>
            </a:r>
            <a:r>
              <a:rPr lang="en-US" altLang="ko-KR" sz="1600" dirty="0"/>
              <a:t>,</a:t>
            </a:r>
            <a:br>
              <a:rPr lang="en-US" altLang="ko-KR" sz="1600" dirty="0"/>
            </a:br>
            <a:r>
              <a:rPr lang="ko-KR" altLang="en-US" sz="1600" dirty="0"/>
              <a:t>종단 간 학습 구조를 완성함</a:t>
            </a:r>
            <a:endParaRPr lang="en-US" altLang="ko-KR" sz="1600" dirty="0"/>
          </a:p>
          <a:p>
            <a:pPr marL="342900" indent="-342900">
              <a:buFont typeface="+mj-lt"/>
              <a:buAutoNum type="arabicPeriod"/>
            </a:pPr>
            <a:endParaRPr lang="en-US" altLang="ko-KR" sz="1600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sz="1600" dirty="0" err="1"/>
              <a:t>특징맵을</a:t>
            </a:r>
            <a:r>
              <a:rPr lang="ko-KR" altLang="en-US" sz="1600" dirty="0"/>
              <a:t> </a:t>
            </a:r>
            <a:r>
              <a:rPr lang="en-US" altLang="ko-KR" sz="1600" dirty="0"/>
              <a:t>RPN</a:t>
            </a:r>
            <a:r>
              <a:rPr lang="ko-KR" altLang="en-US" sz="1600" dirty="0"/>
              <a:t>과 객체 탐지 </a:t>
            </a:r>
            <a:r>
              <a:rPr lang="en-US" altLang="ko-KR" sz="1600" dirty="0"/>
              <a:t>head</a:t>
            </a:r>
            <a:r>
              <a:rPr lang="ko-KR" altLang="en-US" sz="1600" dirty="0"/>
              <a:t>가 공유하여 중복 연산을 줄임</a:t>
            </a:r>
            <a:endParaRPr lang="en-US" altLang="ko-KR" sz="1600" dirty="0"/>
          </a:p>
          <a:p>
            <a:pPr marL="342900" indent="-342900">
              <a:buFont typeface="+mj-lt"/>
              <a:buAutoNum type="arabicPeriod"/>
            </a:pPr>
            <a:endParaRPr lang="en-US" altLang="ko-KR" sz="1600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sz="1600" dirty="0"/>
              <a:t>앵커 박스를 기준으로 객체 존재 여부와 위치 보정 값을 동시에 예측함</a:t>
            </a:r>
            <a:endParaRPr lang="en-US" altLang="ko-KR" sz="1600" dirty="0"/>
          </a:p>
          <a:p>
            <a:pPr marL="342900" indent="-342900">
              <a:buFont typeface="+mj-lt"/>
              <a:buAutoNum type="arabicPeriod"/>
            </a:pPr>
            <a:endParaRPr lang="en-US" altLang="ko-KR" sz="1600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/>
              <a:t>Faster R-CNN </a:t>
            </a:r>
            <a:r>
              <a:rPr lang="ko-KR" altLang="en-US" sz="1600" dirty="0"/>
              <a:t>이후</a:t>
            </a:r>
            <a:r>
              <a:rPr lang="en-US" altLang="ko-KR" sz="1600" dirty="0"/>
              <a:t>, FPN, Masked R-CNN, Cascade R-CNN </a:t>
            </a:r>
            <a:r>
              <a:rPr lang="ko-KR" altLang="en-US" sz="1600" dirty="0"/>
              <a:t>모델의</a:t>
            </a:r>
            <a:br>
              <a:rPr lang="en-US" altLang="ko-KR" sz="1600" dirty="0"/>
            </a:br>
            <a:r>
              <a:rPr lang="ko-KR" altLang="en-US" sz="1600" dirty="0"/>
              <a:t>기본 구조로 활용됨</a:t>
            </a:r>
            <a:endParaRPr lang="en-US" altLang="ko-KR" sz="16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E7C2572-583A-9A6B-47F2-8BF47D3AB850}"/>
              </a:ext>
            </a:extLst>
          </p:cNvPr>
          <p:cNvSpPr/>
          <p:nvPr/>
        </p:nvSpPr>
        <p:spPr>
          <a:xfrm>
            <a:off x="450000" y="953502"/>
            <a:ext cx="450000" cy="180000"/>
          </a:xfrm>
          <a:prstGeom prst="rect">
            <a:avLst/>
          </a:prstGeom>
          <a:solidFill>
            <a:srgbClr val="92D050"/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/>
              <a:t>내용</a:t>
            </a: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C59306FD-AA30-647D-AC8C-5562218DC6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0000" y="2160000"/>
            <a:ext cx="4320000" cy="324000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30" name="직사각형 29">
            <a:extLst>
              <a:ext uri="{FF2B5EF4-FFF2-40B4-BE49-F238E27FC236}">
                <a16:creationId xmlns:a16="http://schemas.microsoft.com/office/drawing/2014/main" id="{FBC78281-F683-D8B0-1FF0-C1F49CB01303}"/>
              </a:ext>
            </a:extLst>
          </p:cNvPr>
          <p:cNvSpPr/>
          <p:nvPr/>
        </p:nvSpPr>
        <p:spPr>
          <a:xfrm>
            <a:off x="7002000" y="1980000"/>
            <a:ext cx="720000" cy="180000"/>
          </a:xfrm>
          <a:prstGeom prst="rect">
            <a:avLst/>
          </a:prstGeom>
          <a:solidFill>
            <a:schemeClr val="tx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/>
              <a:t>예측 결과</a:t>
            </a:r>
          </a:p>
        </p:txBody>
      </p:sp>
    </p:spTree>
    <p:extLst>
      <p:ext uri="{BB962C8B-B14F-4D97-AF65-F5344CB8AC3E}">
        <p14:creationId xmlns:p14="http://schemas.microsoft.com/office/powerpoint/2010/main" val="41540562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9C878-72D0-E119-FF05-3835971A9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7417D675-B7C7-8545-F25E-2BAAD583AA06}"/>
              </a:ext>
            </a:extLst>
          </p:cNvPr>
          <p:cNvSpPr/>
          <p:nvPr/>
        </p:nvSpPr>
        <p:spPr>
          <a:xfrm>
            <a:off x="468000" y="2250000"/>
            <a:ext cx="7200000" cy="1980000"/>
          </a:xfrm>
          <a:prstGeom prst="rect">
            <a:avLst/>
          </a:prstGeom>
          <a:solidFill>
            <a:schemeClr val="accent4">
              <a:lumMod val="20000"/>
              <a:lumOff val="80000"/>
              <a:alpha val="50000"/>
            </a:schemeClr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C82B23C-9002-B8A2-FA2D-8991CA68AE40}"/>
              </a:ext>
            </a:extLst>
          </p:cNvPr>
          <p:cNvCxnSpPr>
            <a:cxnSpLocks/>
          </p:cNvCxnSpPr>
          <p:nvPr/>
        </p:nvCxnSpPr>
        <p:spPr>
          <a:xfrm>
            <a:off x="0" y="0"/>
            <a:ext cx="8709" cy="64800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F62C1DE3-2EEC-A2E2-6E74-8CCB91A9E366}"/>
              </a:ext>
            </a:extLst>
          </p:cNvPr>
          <p:cNvCxnSpPr>
            <a:cxnSpLocks/>
          </p:cNvCxnSpPr>
          <p:nvPr/>
        </p:nvCxnSpPr>
        <p:spPr>
          <a:xfrm>
            <a:off x="0" y="18000"/>
            <a:ext cx="1188000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EE9155E-C90E-F835-C889-6571036C4246}"/>
                  </a:ext>
                </a:extLst>
              </p:cNvPr>
              <p:cNvSpPr txBox="1"/>
              <p:nvPr/>
            </p:nvSpPr>
            <p:spPr>
              <a:xfrm>
                <a:off x="11790000" y="18000"/>
                <a:ext cx="180000" cy="180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ko-KR" altLang="en-US" sz="10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EE9155E-C90E-F835-C889-6571036C42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0000" y="18000"/>
                <a:ext cx="180000" cy="180000"/>
              </a:xfrm>
              <a:prstGeom prst="rect">
                <a:avLst/>
              </a:prstGeom>
              <a:blipFill>
                <a:blip r:embed="rId3"/>
                <a:stretch>
                  <a:fillRect t="-17241" r="-23333" b="-379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0820B8-06F0-981D-7F27-711F98B69FB1}"/>
                  </a:ext>
                </a:extLst>
              </p:cNvPr>
              <p:cNvSpPr txBox="1"/>
              <p:nvPr/>
            </p:nvSpPr>
            <p:spPr>
              <a:xfrm>
                <a:off x="0" y="6390001"/>
                <a:ext cx="180000" cy="180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000" b="1" i="1" smtClean="0"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ko-KR" altLang="en-US" sz="10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0820B8-06F0-981D-7F27-711F98B69F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390001"/>
                <a:ext cx="180000" cy="180000"/>
              </a:xfrm>
              <a:prstGeom prst="rect">
                <a:avLst/>
              </a:prstGeom>
              <a:blipFill>
                <a:blip r:embed="rId4"/>
                <a:stretch>
                  <a:fillRect l="-23333" t="-30000" r="-30000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CB8AC9D2-1A99-E5A6-9665-52326BA55D01}"/>
              </a:ext>
            </a:extLst>
          </p:cNvPr>
          <p:cNvSpPr txBox="1"/>
          <p:nvPr/>
        </p:nvSpPr>
        <p:spPr>
          <a:xfrm>
            <a:off x="360000" y="360000"/>
            <a:ext cx="2250000" cy="450000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2400" b="1" dirty="0"/>
              <a:t>1</a:t>
            </a:r>
            <a:r>
              <a:rPr lang="ko-KR" altLang="en-US" sz="2400" b="1" dirty="0"/>
              <a:t>단계 객체 인식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8D2B6A0-74DA-3CD8-88C2-B342C53C334E}"/>
              </a:ext>
            </a:extLst>
          </p:cNvPr>
          <p:cNvSpPr/>
          <p:nvPr/>
        </p:nvSpPr>
        <p:spPr>
          <a:xfrm>
            <a:off x="360000" y="180000"/>
            <a:ext cx="450000" cy="1800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/>
              <a:t>목차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8EEE53-A69C-DFB2-3971-F970FCC5CFA3}"/>
              </a:ext>
            </a:extLst>
          </p:cNvPr>
          <p:cNvSpPr txBox="1"/>
          <p:nvPr/>
        </p:nvSpPr>
        <p:spPr>
          <a:xfrm>
            <a:off x="450000" y="1133998"/>
            <a:ext cx="11160000" cy="50400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lIns="54000" tIns="54000" rIns="54000" bIns="54000" rtlCol="0" anchor="t">
            <a:noAutofit/>
          </a:bodyPr>
          <a:lstStyle/>
          <a:p>
            <a:pPr algn="just"/>
            <a:r>
              <a:rPr lang="en-US" altLang="ko-KR" sz="1600" dirty="0"/>
              <a:t>2</a:t>
            </a:r>
            <a:r>
              <a:rPr lang="ko-KR" altLang="en-US" sz="1600" dirty="0"/>
              <a:t>단계 객체 인식은 정확성의 중요도가 높은 형태로 발전한 형태이지만</a:t>
            </a:r>
            <a:r>
              <a:rPr lang="en-US" altLang="ko-KR" sz="1600" dirty="0"/>
              <a:t>, 1</a:t>
            </a:r>
            <a:r>
              <a:rPr lang="ko-KR" altLang="en-US" sz="1600" dirty="0"/>
              <a:t>단계 객체 인식은 속도를 중요시한 형태로 발전하였음</a:t>
            </a:r>
            <a:endParaRPr lang="en-US" altLang="ko-KR" sz="1600" dirty="0"/>
          </a:p>
          <a:p>
            <a:pPr algn="just"/>
            <a:endParaRPr lang="en-US" altLang="ko-KR" sz="1600" dirty="0"/>
          </a:p>
          <a:p>
            <a:pPr algn="just"/>
            <a:r>
              <a:rPr lang="ko-KR" altLang="en-US" sz="1600" dirty="0"/>
              <a:t>위치 검출과 클래스 분류를 단계에 걸쳐서 수행하는 </a:t>
            </a:r>
            <a:r>
              <a:rPr lang="en-US" altLang="ko-KR" sz="1600" dirty="0"/>
              <a:t>2</a:t>
            </a:r>
            <a:r>
              <a:rPr lang="ko-KR" altLang="en-US" sz="1600" dirty="0"/>
              <a:t>단계 객체 인식에서 </a:t>
            </a:r>
            <a:r>
              <a:rPr lang="en-US" altLang="ko-KR" sz="1600" dirty="0"/>
              <a:t>1</a:t>
            </a:r>
            <a:r>
              <a:rPr lang="ko-KR" altLang="en-US" sz="1600" dirty="0"/>
              <a:t>단계 객체 인식으로 발전하게 되는 계기는 다음과 같음</a:t>
            </a:r>
            <a:endParaRPr lang="en-US" altLang="ko-KR" sz="1600" dirty="0"/>
          </a:p>
          <a:p>
            <a:pPr algn="just"/>
            <a:endParaRPr lang="en-US" altLang="ko-KR" sz="1600" dirty="0"/>
          </a:p>
          <a:p>
            <a:pPr algn="just"/>
            <a:endParaRPr lang="en-US" altLang="ko-KR" sz="1600" dirty="0"/>
          </a:p>
          <a:p>
            <a:pPr marL="342900" indent="-342900" algn="just">
              <a:buFont typeface="+mj-lt"/>
              <a:buAutoNum type="arabicPeriod"/>
            </a:pPr>
            <a:r>
              <a:rPr lang="ko-KR" altLang="en-US" sz="1600" dirty="0"/>
              <a:t>실시간 객체 탐지 기술의 수요 증가</a:t>
            </a:r>
            <a:endParaRPr lang="en-US" altLang="ko-KR" sz="1600" dirty="0"/>
          </a:p>
          <a:p>
            <a:pPr marL="342900" indent="-342900" algn="just">
              <a:buFont typeface="+mj-lt"/>
              <a:buAutoNum type="arabicPeriod"/>
            </a:pPr>
            <a:endParaRPr lang="en-US" altLang="ko-KR" sz="1600" dirty="0"/>
          </a:p>
          <a:p>
            <a:pPr marL="342900" indent="-342900" algn="just">
              <a:buFont typeface="+mj-lt"/>
              <a:buAutoNum type="arabicPeriod"/>
            </a:pPr>
            <a:r>
              <a:rPr lang="ko-KR" altLang="en-US" sz="1600" dirty="0"/>
              <a:t>복잡한 후보 영역 처리 과정의 불필요성</a:t>
            </a:r>
            <a:endParaRPr lang="en-US" altLang="ko-KR" sz="1600" dirty="0"/>
          </a:p>
          <a:p>
            <a:pPr marL="342900" indent="-342900" algn="just">
              <a:buFont typeface="+mj-lt"/>
              <a:buAutoNum type="arabicPeriod"/>
            </a:pPr>
            <a:endParaRPr lang="en-US" altLang="ko-KR" sz="1600" dirty="0"/>
          </a:p>
          <a:p>
            <a:pPr marL="342900" indent="-342900" algn="just">
              <a:buFont typeface="+mj-lt"/>
              <a:buAutoNum type="arabicPeriod"/>
            </a:pPr>
            <a:r>
              <a:rPr lang="ko-KR" altLang="en-US" sz="1600" dirty="0"/>
              <a:t>합성곱 특징을 한 번에 활용하는 신경망 구조의 발전</a:t>
            </a:r>
            <a:endParaRPr lang="en-US" altLang="ko-KR" sz="1600" dirty="0"/>
          </a:p>
          <a:p>
            <a:pPr marL="342900" indent="-342900" algn="just">
              <a:buFont typeface="+mj-lt"/>
              <a:buAutoNum type="arabicPeriod"/>
            </a:pPr>
            <a:endParaRPr lang="en-US" altLang="ko-KR" sz="1600" dirty="0"/>
          </a:p>
          <a:p>
            <a:pPr marL="342900" indent="-342900" algn="just">
              <a:buFont typeface="+mj-lt"/>
              <a:buAutoNum type="arabicPeriod"/>
            </a:pPr>
            <a:r>
              <a:rPr lang="en-US" altLang="ko-KR" sz="1600" dirty="0"/>
              <a:t>GPU </a:t>
            </a:r>
            <a:r>
              <a:rPr lang="ko-KR" altLang="en-US" sz="1600" dirty="0"/>
              <a:t>기반의 병렬 연산 환경 활용</a:t>
            </a:r>
            <a:endParaRPr lang="en-US" altLang="ko-KR" sz="1600" dirty="0"/>
          </a:p>
          <a:p>
            <a:pPr algn="just"/>
            <a:endParaRPr lang="en-US" altLang="ko-KR" sz="1600" dirty="0"/>
          </a:p>
          <a:p>
            <a:pPr algn="just"/>
            <a:endParaRPr lang="en-US" altLang="ko-KR" sz="1600" dirty="0"/>
          </a:p>
          <a:p>
            <a:pPr algn="just"/>
            <a:r>
              <a:rPr lang="ko-KR" altLang="en-US" sz="1600" dirty="0"/>
              <a:t>현재 객체 탐지에서 가장 많이 활용되고 있는 </a:t>
            </a:r>
            <a:r>
              <a:rPr lang="en-US" altLang="ko-KR" sz="1600" dirty="0"/>
              <a:t>YOLO </a:t>
            </a:r>
            <a:r>
              <a:rPr lang="ko-KR" altLang="en-US" sz="1600" dirty="0"/>
              <a:t>모델이나</a:t>
            </a:r>
            <a:r>
              <a:rPr lang="en-US" altLang="ko-KR" sz="1600" dirty="0"/>
              <a:t>, </a:t>
            </a:r>
            <a:r>
              <a:rPr lang="ko-KR" altLang="en-US" sz="1600" dirty="0"/>
              <a:t>클래스 불균형 문제를 해결하는 </a:t>
            </a:r>
            <a:r>
              <a:rPr lang="en-US" altLang="ko-KR" sz="1600" dirty="0"/>
              <a:t>Focal Loss</a:t>
            </a:r>
            <a:r>
              <a:rPr lang="ko-KR" altLang="en-US" sz="1600" dirty="0"/>
              <a:t> 손실 함수가 제안됨</a:t>
            </a:r>
            <a:endParaRPr lang="en-US" altLang="ko-KR" sz="16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6ACC140-67DA-53E4-053A-2811C0DBAEDB}"/>
              </a:ext>
            </a:extLst>
          </p:cNvPr>
          <p:cNvSpPr/>
          <p:nvPr/>
        </p:nvSpPr>
        <p:spPr>
          <a:xfrm>
            <a:off x="450000" y="953502"/>
            <a:ext cx="450000" cy="180000"/>
          </a:xfrm>
          <a:prstGeom prst="rect">
            <a:avLst/>
          </a:prstGeom>
          <a:solidFill>
            <a:srgbClr val="92D050"/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/>
              <a:t>내용</a:t>
            </a:r>
          </a:p>
        </p:txBody>
      </p:sp>
    </p:spTree>
    <p:extLst>
      <p:ext uri="{BB962C8B-B14F-4D97-AF65-F5344CB8AC3E}">
        <p14:creationId xmlns:p14="http://schemas.microsoft.com/office/powerpoint/2010/main" val="8079545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F5ED7-4753-8135-C965-AB86EE512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0CD129D2-DB9A-1CD2-1887-248456B63875}"/>
              </a:ext>
            </a:extLst>
          </p:cNvPr>
          <p:cNvCxnSpPr>
            <a:cxnSpLocks/>
          </p:cNvCxnSpPr>
          <p:nvPr/>
        </p:nvCxnSpPr>
        <p:spPr>
          <a:xfrm>
            <a:off x="0" y="0"/>
            <a:ext cx="8709" cy="64800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D6F0734-0516-5BC5-01D3-594979BBD1C9}"/>
              </a:ext>
            </a:extLst>
          </p:cNvPr>
          <p:cNvCxnSpPr>
            <a:cxnSpLocks/>
          </p:cNvCxnSpPr>
          <p:nvPr/>
        </p:nvCxnSpPr>
        <p:spPr>
          <a:xfrm>
            <a:off x="0" y="18000"/>
            <a:ext cx="1188000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A28A577-1959-0F74-5F8C-2AD29B6A31F8}"/>
                  </a:ext>
                </a:extLst>
              </p:cNvPr>
              <p:cNvSpPr txBox="1"/>
              <p:nvPr/>
            </p:nvSpPr>
            <p:spPr>
              <a:xfrm>
                <a:off x="11790000" y="18000"/>
                <a:ext cx="180000" cy="180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ko-KR" altLang="en-US" sz="10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A28A577-1959-0F74-5F8C-2AD29B6A31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0000" y="18000"/>
                <a:ext cx="180000" cy="180000"/>
              </a:xfrm>
              <a:prstGeom prst="rect">
                <a:avLst/>
              </a:prstGeom>
              <a:blipFill>
                <a:blip r:embed="rId3"/>
                <a:stretch>
                  <a:fillRect t="-17241" r="-23333" b="-379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607BB97-55F7-9941-34A9-45164EB7F9C1}"/>
                  </a:ext>
                </a:extLst>
              </p:cNvPr>
              <p:cNvSpPr txBox="1"/>
              <p:nvPr/>
            </p:nvSpPr>
            <p:spPr>
              <a:xfrm>
                <a:off x="0" y="6390001"/>
                <a:ext cx="180000" cy="180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000" b="1" i="1" smtClean="0"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ko-KR" altLang="en-US" sz="10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607BB97-55F7-9941-34A9-45164EB7F9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390001"/>
                <a:ext cx="180000" cy="180000"/>
              </a:xfrm>
              <a:prstGeom prst="rect">
                <a:avLst/>
              </a:prstGeom>
              <a:blipFill>
                <a:blip r:embed="rId4"/>
                <a:stretch>
                  <a:fillRect l="-23333" t="-30000" r="-30000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356AA1A6-4E54-3411-4873-AA067F2CAF9B}"/>
              </a:ext>
            </a:extLst>
          </p:cNvPr>
          <p:cNvSpPr txBox="1"/>
          <p:nvPr/>
        </p:nvSpPr>
        <p:spPr>
          <a:xfrm>
            <a:off x="360000" y="360000"/>
            <a:ext cx="2250000" cy="450000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2400" b="1" dirty="0"/>
              <a:t>1</a:t>
            </a:r>
            <a:r>
              <a:rPr lang="ko-KR" altLang="en-US" sz="2400" b="1" dirty="0"/>
              <a:t>단계 객체 인식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C7EDE15-7098-01EB-81EE-ADE86EF4A3CA}"/>
              </a:ext>
            </a:extLst>
          </p:cNvPr>
          <p:cNvSpPr/>
          <p:nvPr/>
        </p:nvSpPr>
        <p:spPr>
          <a:xfrm>
            <a:off x="360000" y="180000"/>
            <a:ext cx="450000" cy="1800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/>
              <a:t>목차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4AA12B-8B2C-BE1B-D2FE-A5B8BDA368B6}"/>
              </a:ext>
            </a:extLst>
          </p:cNvPr>
          <p:cNvSpPr txBox="1"/>
          <p:nvPr/>
        </p:nvSpPr>
        <p:spPr>
          <a:xfrm>
            <a:off x="450000" y="1133998"/>
            <a:ext cx="11160000" cy="50400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lIns="54000" tIns="54000" rIns="54000" bIns="54000" rtlCol="0" anchor="t">
            <a:noAutofit/>
          </a:bodyPr>
          <a:lstStyle/>
          <a:p>
            <a:r>
              <a:rPr lang="en-US" altLang="ko-KR" sz="1600" dirty="0"/>
              <a:t>YOLO(You Only Look Once) </a:t>
            </a:r>
            <a:r>
              <a:rPr lang="ko-KR" altLang="en-US" sz="1600" dirty="0"/>
              <a:t>모델은 </a:t>
            </a:r>
            <a:r>
              <a:rPr lang="en-US" altLang="ko-KR" sz="1600" dirty="0"/>
              <a:t>Joseph Redmon</a:t>
            </a:r>
            <a:r>
              <a:rPr lang="ko-KR" altLang="en-US" sz="1600" dirty="0"/>
              <a:t>에 의해 소개</a:t>
            </a:r>
            <a:endParaRPr lang="en-US" altLang="ko-KR" sz="1600" dirty="0"/>
          </a:p>
          <a:p>
            <a:r>
              <a:rPr lang="ko-KR" altLang="en-US" sz="1600" dirty="0"/>
              <a:t>되었으며</a:t>
            </a:r>
            <a:r>
              <a:rPr lang="en-US" altLang="ko-KR" sz="1600" dirty="0"/>
              <a:t>, </a:t>
            </a:r>
            <a:r>
              <a:rPr lang="ko-KR" altLang="en-US" sz="1600" dirty="0"/>
              <a:t>현재는 </a:t>
            </a:r>
            <a:r>
              <a:rPr lang="en-US" altLang="ko-KR" sz="1600" dirty="0" err="1"/>
              <a:t>Ultralytics</a:t>
            </a:r>
            <a:r>
              <a:rPr lang="ko-KR" altLang="en-US" sz="1600" dirty="0"/>
              <a:t>에서 개발 및 배포하고</a:t>
            </a:r>
            <a:r>
              <a:rPr lang="en-US" altLang="ko-KR" sz="1600" dirty="0"/>
              <a:t> </a:t>
            </a:r>
            <a:r>
              <a:rPr lang="ko-KR" altLang="en-US" sz="1600" dirty="0"/>
              <a:t>있음 </a:t>
            </a:r>
            <a:r>
              <a:rPr lang="en-US" altLang="ko-KR" sz="1600" dirty="0"/>
              <a:t>(YOLO26)</a:t>
            </a:r>
          </a:p>
          <a:p>
            <a:endParaRPr lang="en-US" altLang="ko-KR" sz="1600" dirty="0"/>
          </a:p>
          <a:p>
            <a:r>
              <a:rPr lang="en-US" altLang="ko-KR" sz="1600" dirty="0"/>
              <a:t>YOLO</a:t>
            </a:r>
            <a:r>
              <a:rPr lang="ko-KR" altLang="en-US" sz="1600" dirty="0"/>
              <a:t>는 하나의 신경망으로 한 번의 </a:t>
            </a:r>
            <a:r>
              <a:rPr lang="ko-KR" altLang="en-US" sz="1600" dirty="0" err="1"/>
              <a:t>순전파</a:t>
            </a:r>
            <a:r>
              <a:rPr lang="ko-KR" altLang="en-US" sz="1600" dirty="0"/>
              <a:t> 과정을 수행하여 경계 상자와</a:t>
            </a:r>
            <a:endParaRPr lang="en-US" altLang="ko-KR" sz="1600" dirty="0"/>
          </a:p>
          <a:p>
            <a:r>
              <a:rPr lang="ko-KR" altLang="en-US" sz="1600" dirty="0"/>
              <a:t>클래스 확률을 예측하는 문제로 정식화한 모델임</a:t>
            </a:r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후보 영역을 따로 생성하지 않고 하나의 신경망에서 두 결과를</a:t>
            </a:r>
            <a:br>
              <a:rPr lang="en-US" altLang="ko-KR" sz="1600" dirty="0"/>
            </a:br>
            <a:r>
              <a:rPr lang="ko-KR" altLang="en-US" sz="1600" dirty="0"/>
              <a:t>동시에 예측하기 때문에</a:t>
            </a:r>
            <a:r>
              <a:rPr lang="en-US" altLang="ko-KR" sz="1600" dirty="0"/>
              <a:t>, </a:t>
            </a:r>
            <a:r>
              <a:rPr lang="ko-KR" altLang="en-US" sz="1600" dirty="0"/>
              <a:t>처리 속도가 빠름</a:t>
            </a: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실시간 객체 탐지에 강점을 가지며</a:t>
            </a:r>
            <a:r>
              <a:rPr lang="en-US" altLang="ko-KR" sz="1600" dirty="0"/>
              <a:t>, </a:t>
            </a:r>
            <a:r>
              <a:rPr lang="ko-KR" altLang="en-US" sz="1600" dirty="0"/>
              <a:t>현재 다양한 분야</a:t>
            </a:r>
            <a:r>
              <a:rPr lang="en-US" altLang="ko-KR" sz="1600" dirty="0"/>
              <a:t>(</a:t>
            </a:r>
            <a:r>
              <a:rPr lang="ko-KR" altLang="en-US" sz="1600" dirty="0"/>
              <a:t>감시</a:t>
            </a:r>
            <a:r>
              <a:rPr lang="en-US" altLang="ko-KR" sz="1600" dirty="0"/>
              <a:t>, </a:t>
            </a:r>
            <a:r>
              <a:rPr lang="ko-KR" altLang="en-US" sz="1600" dirty="0"/>
              <a:t>자율주행</a:t>
            </a:r>
            <a:r>
              <a:rPr lang="en-US" altLang="ko-KR" sz="1600" dirty="0"/>
              <a:t>, </a:t>
            </a:r>
            <a:br>
              <a:rPr lang="en-US" altLang="ko-KR" sz="1600" dirty="0"/>
            </a:br>
            <a:r>
              <a:rPr lang="ko-KR" altLang="en-US" sz="1600" dirty="0"/>
              <a:t>제조업 등</a:t>
            </a:r>
            <a:r>
              <a:rPr lang="en-US" altLang="ko-KR" sz="1600" dirty="0"/>
              <a:t>)</a:t>
            </a:r>
            <a:r>
              <a:rPr lang="ko-KR" altLang="en-US" sz="1600" dirty="0"/>
              <a:t>에 널리 활용되고 있음</a:t>
            </a: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초기 </a:t>
            </a:r>
            <a:r>
              <a:rPr lang="en-US" altLang="ko-KR" sz="1600" dirty="0"/>
              <a:t>YOLO</a:t>
            </a:r>
            <a:r>
              <a:rPr lang="ko-KR" altLang="en-US" sz="1600" dirty="0"/>
              <a:t>는 이미지를 </a:t>
            </a:r>
            <a:r>
              <a:rPr lang="en-US" altLang="ko-KR" sz="1600" dirty="0"/>
              <a:t>grid cell</a:t>
            </a:r>
            <a:r>
              <a:rPr lang="ko-KR" altLang="en-US" sz="1600" dirty="0"/>
              <a:t>로 나누고 객체의 경계 상자와 클래스를</a:t>
            </a:r>
            <a:br>
              <a:rPr lang="en-US" altLang="ko-KR" sz="1600" dirty="0"/>
            </a:br>
            <a:r>
              <a:rPr lang="ko-KR" altLang="en-US" sz="1600" dirty="0"/>
              <a:t>예측하는 방식으로 동작하였지만</a:t>
            </a:r>
            <a:r>
              <a:rPr lang="en-US" altLang="ko-KR" sz="1600" dirty="0"/>
              <a:t>, </a:t>
            </a:r>
            <a:r>
              <a:rPr lang="ko-KR" altLang="en-US" sz="1600" dirty="0"/>
              <a:t>이후 백본과 연결 모듈</a:t>
            </a:r>
            <a:r>
              <a:rPr lang="en-US" altLang="ko-KR" sz="1600" dirty="0"/>
              <a:t>(neck), </a:t>
            </a:r>
            <a:r>
              <a:rPr lang="ko-KR" altLang="en-US" sz="1600" dirty="0"/>
              <a:t>헤드</a:t>
            </a:r>
            <a:br>
              <a:rPr lang="en-US" altLang="ko-KR" sz="1600" dirty="0"/>
            </a:br>
            <a:r>
              <a:rPr lang="ko-KR" altLang="en-US" sz="1600" dirty="0"/>
              <a:t>구조를 개선하며 정확도와 속도의 균형을 맞추면서 발전함</a:t>
            </a:r>
            <a:endParaRPr lang="en-US" altLang="ko-KR" sz="16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8AAB4D2-C783-5A3D-4759-BC40FCA5C24C}"/>
              </a:ext>
            </a:extLst>
          </p:cNvPr>
          <p:cNvSpPr/>
          <p:nvPr/>
        </p:nvSpPr>
        <p:spPr>
          <a:xfrm>
            <a:off x="450000" y="953502"/>
            <a:ext cx="450000" cy="180000"/>
          </a:xfrm>
          <a:prstGeom prst="rect">
            <a:avLst/>
          </a:prstGeom>
          <a:solidFill>
            <a:srgbClr val="92D050"/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/>
              <a:t>내용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376AA62-EF4E-A31F-559B-2973DA66B18F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7020000" y="1620000"/>
            <a:ext cx="4320000" cy="432000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08CF6C20-1467-6007-80FF-E28C774E6F3A}"/>
              </a:ext>
            </a:extLst>
          </p:cNvPr>
          <p:cNvSpPr/>
          <p:nvPr/>
        </p:nvSpPr>
        <p:spPr>
          <a:xfrm>
            <a:off x="7002000" y="1439752"/>
            <a:ext cx="720000" cy="180000"/>
          </a:xfrm>
          <a:prstGeom prst="rect">
            <a:avLst/>
          </a:prstGeom>
          <a:solidFill>
            <a:schemeClr val="tx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YOLOv8</a:t>
            </a:r>
            <a:endParaRPr lang="ko-KR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18319423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3EB5B-CE79-51E6-3D22-9139FE8EA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F658B742-D7AB-6903-C46A-ABFFF7355407}"/>
              </a:ext>
            </a:extLst>
          </p:cNvPr>
          <p:cNvSpPr/>
          <p:nvPr/>
        </p:nvSpPr>
        <p:spPr>
          <a:xfrm>
            <a:off x="468000" y="1800000"/>
            <a:ext cx="10980000" cy="2160000"/>
          </a:xfrm>
          <a:prstGeom prst="rect">
            <a:avLst/>
          </a:prstGeom>
          <a:solidFill>
            <a:schemeClr val="accent4">
              <a:lumMod val="20000"/>
              <a:lumOff val="80000"/>
              <a:alpha val="50000"/>
            </a:schemeClr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A767232-BBBE-D720-0D68-2CFB3EA2F76D}"/>
              </a:ext>
            </a:extLst>
          </p:cNvPr>
          <p:cNvCxnSpPr>
            <a:cxnSpLocks/>
          </p:cNvCxnSpPr>
          <p:nvPr/>
        </p:nvCxnSpPr>
        <p:spPr>
          <a:xfrm>
            <a:off x="0" y="0"/>
            <a:ext cx="8709" cy="64800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0003DB3B-66D9-BC7E-53E2-738A552185B7}"/>
              </a:ext>
            </a:extLst>
          </p:cNvPr>
          <p:cNvCxnSpPr>
            <a:cxnSpLocks/>
          </p:cNvCxnSpPr>
          <p:nvPr/>
        </p:nvCxnSpPr>
        <p:spPr>
          <a:xfrm>
            <a:off x="0" y="18000"/>
            <a:ext cx="1188000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6232B46-033E-7D2A-FC6E-943FECE4DADF}"/>
                  </a:ext>
                </a:extLst>
              </p:cNvPr>
              <p:cNvSpPr txBox="1"/>
              <p:nvPr/>
            </p:nvSpPr>
            <p:spPr>
              <a:xfrm>
                <a:off x="11790000" y="18000"/>
                <a:ext cx="180000" cy="180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ko-KR" altLang="en-US" sz="10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A28A577-1959-0F74-5F8C-2AD29B6A31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0000" y="18000"/>
                <a:ext cx="180000" cy="180000"/>
              </a:xfrm>
              <a:prstGeom prst="rect">
                <a:avLst/>
              </a:prstGeom>
              <a:blipFill>
                <a:blip r:embed="rId3"/>
                <a:stretch>
                  <a:fillRect t="-17241" r="-23333" b="-379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5837A26-70DB-68B6-160A-63D58D8A35CD}"/>
                  </a:ext>
                </a:extLst>
              </p:cNvPr>
              <p:cNvSpPr txBox="1"/>
              <p:nvPr/>
            </p:nvSpPr>
            <p:spPr>
              <a:xfrm>
                <a:off x="0" y="6390001"/>
                <a:ext cx="180000" cy="180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000" b="1" i="1" smtClean="0"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ko-KR" altLang="en-US" sz="10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607BB97-55F7-9941-34A9-45164EB7F9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390001"/>
                <a:ext cx="180000" cy="180000"/>
              </a:xfrm>
              <a:prstGeom prst="rect">
                <a:avLst/>
              </a:prstGeom>
              <a:blipFill>
                <a:blip r:embed="rId4"/>
                <a:stretch>
                  <a:fillRect l="-23333" t="-30000" r="-30000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EE951BBD-3311-9824-DEEA-1FD9084F824E}"/>
              </a:ext>
            </a:extLst>
          </p:cNvPr>
          <p:cNvSpPr txBox="1"/>
          <p:nvPr/>
        </p:nvSpPr>
        <p:spPr>
          <a:xfrm>
            <a:off x="360000" y="360000"/>
            <a:ext cx="2250000" cy="450000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2400" b="1" dirty="0"/>
              <a:t>1</a:t>
            </a:r>
            <a:r>
              <a:rPr lang="ko-KR" altLang="en-US" sz="2400" b="1" dirty="0"/>
              <a:t>단계 객체 인식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271241D-318A-574A-AA36-2EF7E7BDB79B}"/>
              </a:ext>
            </a:extLst>
          </p:cNvPr>
          <p:cNvSpPr/>
          <p:nvPr/>
        </p:nvSpPr>
        <p:spPr>
          <a:xfrm>
            <a:off x="360000" y="180000"/>
            <a:ext cx="450000" cy="1800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/>
              <a:t>목차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E1999A-D0CF-5026-26E2-8907DDE6DCC4}"/>
              </a:ext>
            </a:extLst>
          </p:cNvPr>
          <p:cNvSpPr txBox="1"/>
          <p:nvPr/>
        </p:nvSpPr>
        <p:spPr>
          <a:xfrm>
            <a:off x="450000" y="1133998"/>
            <a:ext cx="11160000" cy="50400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lIns="54000" tIns="54000" rIns="54000" bIns="54000" rtlCol="0" anchor="t">
            <a:noAutofit/>
          </a:bodyPr>
          <a:lstStyle/>
          <a:p>
            <a:r>
              <a:rPr lang="ko-KR" altLang="en-US" sz="1600" dirty="0"/>
              <a:t>현재 가장 최신의 </a:t>
            </a:r>
            <a:r>
              <a:rPr lang="en-US" altLang="ko-KR" sz="1600" dirty="0"/>
              <a:t>YOLO </a:t>
            </a:r>
            <a:r>
              <a:rPr lang="ko-KR" altLang="en-US" sz="1600" dirty="0"/>
              <a:t>모델은 </a:t>
            </a:r>
            <a:r>
              <a:rPr lang="en-US" altLang="ko-KR" sz="1600" dirty="0"/>
              <a:t>YOLO26</a:t>
            </a:r>
            <a:r>
              <a:rPr lang="ko-KR" altLang="en-US" sz="1600" dirty="0"/>
              <a:t>으로 소개되고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기존 모델에서 다음과 같이 개선함</a:t>
            </a:r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sz="1600" dirty="0"/>
              <a:t>기존 </a:t>
            </a:r>
            <a:r>
              <a:rPr lang="en-US" altLang="ko-KR" sz="1600" dirty="0"/>
              <a:t>detection </a:t>
            </a:r>
            <a:r>
              <a:rPr lang="ko-KR" altLang="en-US" sz="1600" dirty="0"/>
              <a:t>모델에서 사용하던 </a:t>
            </a:r>
            <a:r>
              <a:rPr lang="en-US" altLang="ko-KR" sz="1600" dirty="0"/>
              <a:t>NMS </a:t>
            </a:r>
            <a:r>
              <a:rPr lang="ko-KR" altLang="en-US" sz="1600" dirty="0"/>
              <a:t>후처리 의존도를 줄여</a:t>
            </a:r>
            <a:r>
              <a:rPr lang="en-US" altLang="ko-KR" sz="1600" dirty="0"/>
              <a:t>, NMS-free end-to-end </a:t>
            </a:r>
            <a:r>
              <a:rPr lang="ko-KR" altLang="en-US" sz="1600" dirty="0"/>
              <a:t>탐지 구조로 개선됨</a:t>
            </a:r>
            <a:endParaRPr lang="en-US" altLang="ko-KR" sz="1600" dirty="0"/>
          </a:p>
          <a:p>
            <a:pPr marL="342900" indent="-342900">
              <a:buFont typeface="+mj-lt"/>
              <a:buAutoNum type="arabicPeriod"/>
            </a:pPr>
            <a:endParaRPr lang="en-US" altLang="ko-KR" sz="1600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sz="1600" dirty="0"/>
              <a:t>추론을 위한 </a:t>
            </a:r>
            <a:r>
              <a:rPr lang="en-US" altLang="ko-KR" sz="1600" dirty="0"/>
              <a:t>DFL(</a:t>
            </a:r>
            <a:r>
              <a:rPr lang="en-US" altLang="ko-KR" sz="1600" dirty="0" err="1"/>
              <a:t>Distiribution</a:t>
            </a:r>
            <a:r>
              <a:rPr lang="en-US" altLang="ko-KR" sz="1600" dirty="0"/>
              <a:t> Focal Loss) </a:t>
            </a:r>
            <a:r>
              <a:rPr lang="ko-KR" altLang="en-US" sz="1600" dirty="0"/>
              <a:t>계산을 제거하여 모델의 출력과 경량성이 확보됨</a:t>
            </a:r>
            <a:endParaRPr lang="en-US" altLang="ko-KR" sz="1600" dirty="0"/>
          </a:p>
          <a:p>
            <a:pPr marL="342900" indent="-342900">
              <a:buFont typeface="+mj-lt"/>
              <a:buAutoNum type="arabicPeriod"/>
            </a:pPr>
            <a:endParaRPr lang="en-US" altLang="ko-KR" sz="1600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 err="1"/>
              <a:t>ProgLoss</a:t>
            </a:r>
            <a:r>
              <a:rPr lang="en-US" altLang="ko-KR" sz="1600" dirty="0"/>
              <a:t>(Progressive Loss)</a:t>
            </a:r>
            <a:r>
              <a:rPr lang="ko-KR" altLang="en-US" sz="1600" dirty="0"/>
              <a:t>와 </a:t>
            </a:r>
            <a:r>
              <a:rPr lang="en-US" altLang="ko-KR" sz="1600" dirty="0"/>
              <a:t>STAL(Small-Target-Aware Label Assignment)</a:t>
            </a:r>
            <a:r>
              <a:rPr lang="ko-KR" altLang="en-US" sz="1600" dirty="0"/>
              <a:t>을 통하여 학습 안정성과 작은 객체 탐지 성능을 높임</a:t>
            </a:r>
            <a:endParaRPr lang="en-US" altLang="ko-KR" sz="1600" dirty="0"/>
          </a:p>
          <a:p>
            <a:pPr marL="342900" indent="-342900">
              <a:buFont typeface="+mj-lt"/>
              <a:buAutoNum type="arabicPeriod"/>
            </a:pPr>
            <a:endParaRPr lang="en-US" altLang="ko-KR" sz="1600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sz="1600" dirty="0"/>
              <a:t>실시간 탐지 이외에 저전력 </a:t>
            </a:r>
            <a:r>
              <a:rPr lang="en-US" altLang="ko-KR" sz="1600" dirty="0"/>
              <a:t>• </a:t>
            </a:r>
            <a:r>
              <a:rPr lang="ko-KR" altLang="en-US" sz="1600" dirty="0"/>
              <a:t>에지 환경에서의 배포 효율성을 높임</a:t>
            </a:r>
            <a:endParaRPr lang="en-US" altLang="ko-KR" sz="16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E61CFCA-A006-194A-B0F0-A693263770D2}"/>
              </a:ext>
            </a:extLst>
          </p:cNvPr>
          <p:cNvSpPr/>
          <p:nvPr/>
        </p:nvSpPr>
        <p:spPr>
          <a:xfrm>
            <a:off x="450000" y="953502"/>
            <a:ext cx="450000" cy="180000"/>
          </a:xfrm>
          <a:prstGeom prst="rect">
            <a:avLst/>
          </a:prstGeom>
          <a:solidFill>
            <a:srgbClr val="92D050"/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/>
              <a:t>내용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20AD4EF-0A29-9280-1130-38ABC049B24B}"/>
              </a:ext>
            </a:extLst>
          </p:cNvPr>
          <p:cNvSpPr/>
          <p:nvPr/>
        </p:nvSpPr>
        <p:spPr>
          <a:xfrm>
            <a:off x="1080000" y="4320000"/>
            <a:ext cx="7200000" cy="540000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B5D2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400" dirty="0">
                <a:solidFill>
                  <a:schemeClr val="tx1"/>
                </a:solidFill>
              </a:rPr>
              <a:t>탐지 학습 과정에서 손실 함수를 개선하여 학습 안정성과 탐지 정확도를 높이는 방식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0F1748D-0E43-B05E-3484-9B44642BE559}"/>
              </a:ext>
            </a:extLst>
          </p:cNvPr>
          <p:cNvSpPr/>
          <p:nvPr/>
        </p:nvSpPr>
        <p:spPr>
          <a:xfrm>
            <a:off x="1080000" y="5400000"/>
            <a:ext cx="7200000" cy="540000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A6EC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400" dirty="0">
                <a:solidFill>
                  <a:schemeClr val="tx1"/>
                </a:solidFill>
              </a:rPr>
              <a:t>작은 객체가 학습 과정에서 충분히 반영되도록 라벨 할당을 보정하여 탐지 성능을 높이는 방식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4CE20DF-4823-0583-8D88-3435A0006B95}"/>
              </a:ext>
            </a:extLst>
          </p:cNvPr>
          <p:cNvSpPr/>
          <p:nvPr/>
        </p:nvSpPr>
        <p:spPr>
          <a:xfrm>
            <a:off x="1072800" y="4140000"/>
            <a:ext cx="720000" cy="180000"/>
          </a:xfrm>
          <a:prstGeom prst="rect">
            <a:avLst/>
          </a:prstGeom>
          <a:solidFill>
            <a:srgbClr val="B5D2ED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 err="1">
                <a:solidFill>
                  <a:schemeClr val="tx1"/>
                </a:solidFill>
              </a:rPr>
              <a:t>ProgLoss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2E927CA-F247-9143-C644-CE869B4DE5BA}"/>
              </a:ext>
            </a:extLst>
          </p:cNvPr>
          <p:cNvSpPr/>
          <p:nvPr/>
        </p:nvSpPr>
        <p:spPr>
          <a:xfrm>
            <a:off x="1072800" y="5220000"/>
            <a:ext cx="720000" cy="180000"/>
          </a:xfrm>
          <a:prstGeom prst="rect">
            <a:avLst/>
          </a:prstGeom>
          <a:solidFill>
            <a:srgbClr val="A6ECDB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STAL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58139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DB8DC-DB61-384B-E258-2C5F36E5B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1C91749-9DFE-D49B-10CD-5FD58F44291E}"/>
              </a:ext>
            </a:extLst>
          </p:cNvPr>
          <p:cNvCxnSpPr>
            <a:cxnSpLocks/>
          </p:cNvCxnSpPr>
          <p:nvPr/>
        </p:nvCxnSpPr>
        <p:spPr>
          <a:xfrm>
            <a:off x="0" y="0"/>
            <a:ext cx="8709" cy="64800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CA57D57B-1957-0911-6EDB-06F911D76C9B}"/>
              </a:ext>
            </a:extLst>
          </p:cNvPr>
          <p:cNvCxnSpPr>
            <a:cxnSpLocks/>
          </p:cNvCxnSpPr>
          <p:nvPr/>
        </p:nvCxnSpPr>
        <p:spPr>
          <a:xfrm>
            <a:off x="0" y="18000"/>
            <a:ext cx="1188000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C56AB3F-8E04-DD7F-F7F7-4B1BFE748418}"/>
                  </a:ext>
                </a:extLst>
              </p:cNvPr>
              <p:cNvSpPr txBox="1"/>
              <p:nvPr/>
            </p:nvSpPr>
            <p:spPr>
              <a:xfrm>
                <a:off x="11790000" y="18000"/>
                <a:ext cx="180000" cy="180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ko-KR" altLang="en-US" sz="10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A28A577-1959-0F74-5F8C-2AD29B6A31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0000" y="18000"/>
                <a:ext cx="180000" cy="180000"/>
              </a:xfrm>
              <a:prstGeom prst="rect">
                <a:avLst/>
              </a:prstGeom>
              <a:blipFill>
                <a:blip r:embed="rId3"/>
                <a:stretch>
                  <a:fillRect t="-17241" r="-23333" b="-379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F3ECE66-C74B-E91C-004F-5676BE968DD5}"/>
                  </a:ext>
                </a:extLst>
              </p:cNvPr>
              <p:cNvSpPr txBox="1"/>
              <p:nvPr/>
            </p:nvSpPr>
            <p:spPr>
              <a:xfrm>
                <a:off x="0" y="6390001"/>
                <a:ext cx="180000" cy="180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000" b="1" i="1" smtClean="0"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ko-KR" altLang="en-US" sz="10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607BB97-55F7-9941-34A9-45164EB7F9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390001"/>
                <a:ext cx="180000" cy="180000"/>
              </a:xfrm>
              <a:prstGeom prst="rect">
                <a:avLst/>
              </a:prstGeom>
              <a:blipFill>
                <a:blip r:embed="rId4"/>
                <a:stretch>
                  <a:fillRect l="-23333" t="-30000" r="-30000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695D2BE5-871A-DDB4-09F6-16E84988B2C4}"/>
              </a:ext>
            </a:extLst>
          </p:cNvPr>
          <p:cNvSpPr txBox="1"/>
          <p:nvPr/>
        </p:nvSpPr>
        <p:spPr>
          <a:xfrm>
            <a:off x="360000" y="360000"/>
            <a:ext cx="2250000" cy="450000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2400" b="1" dirty="0"/>
              <a:t>1</a:t>
            </a:r>
            <a:r>
              <a:rPr lang="ko-KR" altLang="en-US" sz="2400" b="1" dirty="0"/>
              <a:t>단계 객체 인식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0C29D45-E2CE-4302-DEB4-67684FD4A666}"/>
              </a:ext>
            </a:extLst>
          </p:cNvPr>
          <p:cNvSpPr/>
          <p:nvPr/>
        </p:nvSpPr>
        <p:spPr>
          <a:xfrm>
            <a:off x="360000" y="180000"/>
            <a:ext cx="450000" cy="1800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/>
              <a:t>목차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713EEF7-323B-BD40-CE5D-DC268B0492A4}"/>
                  </a:ext>
                </a:extLst>
              </p:cNvPr>
              <p:cNvSpPr txBox="1"/>
              <p:nvPr/>
            </p:nvSpPr>
            <p:spPr>
              <a:xfrm>
                <a:off x="450000" y="1151999"/>
                <a:ext cx="11160000" cy="5040000"/>
              </a:xfrm>
              <a:prstGeom prst="rect">
                <a:avLst/>
              </a:prstGeom>
              <a:noFill/>
              <a:ln w="19050">
                <a:solidFill>
                  <a:srgbClr val="92D050"/>
                </a:solidFill>
              </a:ln>
            </p:spPr>
            <p:txBody>
              <a:bodyPr wrap="square" lIns="54000" tIns="54000" rIns="54000" bIns="54000" rtlCol="0" anchor="t">
                <a:noAutofit/>
              </a:bodyPr>
              <a:lstStyle/>
              <a:p>
                <a:pPr algn="just"/>
                <a:r>
                  <a:rPr lang="en-US" altLang="ko-KR" sz="1600" dirty="0"/>
                  <a:t>Focal Loss</a:t>
                </a:r>
                <a:r>
                  <a:rPr lang="ko-KR" altLang="en-US" sz="1600" dirty="0"/>
                  <a:t>는 </a:t>
                </a:r>
                <a:r>
                  <a:rPr lang="en-US" altLang="ko-KR" sz="1600" dirty="0"/>
                  <a:t>1</a:t>
                </a:r>
                <a:r>
                  <a:rPr lang="ko-KR" altLang="en-US" sz="1600" dirty="0"/>
                  <a:t>단계 객체 탐지에서 발생하는 클래스 불균형 문제를 완화하기 위해 제안된 손실함수로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모든 데이터 샘플 </a:t>
                </a:r>
                <a:r>
                  <a:rPr lang="en-US" altLang="ko-KR" sz="1600" dirty="0"/>
                  <a:t>loss</a:t>
                </a:r>
                <a:r>
                  <a:rPr lang="ko-KR" altLang="en-US" sz="1600" dirty="0"/>
                  <a:t>를 동일하게 반영하는 </a:t>
                </a:r>
                <a:r>
                  <a:rPr lang="en-US" altLang="ko-KR" sz="1600" dirty="0"/>
                  <a:t>Cross </a:t>
                </a:r>
                <a:r>
                  <a:rPr lang="en-US" altLang="ko-KR" sz="1600" dirty="0" err="1"/>
                  <a:t>Entroy</a:t>
                </a:r>
                <a:r>
                  <a:rPr lang="en-US" altLang="ko-KR" sz="1600" dirty="0"/>
                  <a:t> </a:t>
                </a:r>
                <a:r>
                  <a:rPr lang="ko-KR" altLang="en-US" sz="1600" dirty="0"/>
                  <a:t>대신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분류되는 샘플의 영향을 줄이고 어려운 샘플에 더 집중할 수 있도록 학습을 유도함</a:t>
                </a:r>
                <a:endParaRPr lang="en-US" altLang="ko-KR" sz="1600" dirty="0"/>
              </a:p>
              <a:p>
                <a:pPr algn="just"/>
                <a:endParaRPr lang="en-US" altLang="ko-KR" sz="1600" dirty="0"/>
              </a:p>
              <a:p>
                <a:pPr algn="just"/>
                <a:endParaRPr lang="en-US" altLang="ko-KR" sz="1600" dirty="0"/>
              </a:p>
              <a:p>
                <a:pPr algn="just"/>
                <a:endParaRPr lang="en-US" altLang="ko-KR" sz="1600" dirty="0"/>
              </a:p>
              <a:p>
                <a:pPr algn="just"/>
                <a:endParaRPr lang="en-US" altLang="ko-KR" sz="1600" dirty="0"/>
              </a:p>
              <a:p>
                <a:pPr algn="just"/>
                <a:endParaRPr lang="en-US" altLang="ko-KR" sz="1600" dirty="0"/>
              </a:p>
              <a:p>
                <a:pPr algn="just"/>
                <a:endParaRPr lang="en-US" altLang="ko-KR" sz="1600" dirty="0"/>
              </a:p>
              <a:p>
                <a:pPr algn="just"/>
                <a:endParaRPr lang="en-US" altLang="ko-KR" sz="1600" dirty="0"/>
              </a:p>
              <a:p>
                <a:pPr algn="just"/>
                <a:endParaRPr lang="en-US" altLang="ko-KR" sz="1600" dirty="0"/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ko-KR" sz="1600" dirty="0"/>
                  <a:t>: </a:t>
                </a:r>
                <a:r>
                  <a:rPr lang="ko-KR" altLang="en-US" sz="1600" dirty="0"/>
                  <a:t>정답 클래스에 대한 예측 확률</a:t>
                </a:r>
                <a:endParaRPr lang="en-US" altLang="ko-KR" sz="1600" dirty="0"/>
              </a:p>
              <a:p>
                <a:pPr algn="just"/>
                <a:endParaRPr lang="en-US" altLang="ko-KR" sz="1600" dirty="0"/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ko-KR" sz="1600" dirty="0"/>
                  <a:t>: </a:t>
                </a:r>
                <a:r>
                  <a:rPr lang="ko-KR" altLang="en-US" sz="1600" dirty="0"/>
                  <a:t>클래스 불균형 보정 계수</a:t>
                </a:r>
                <a:endParaRPr lang="en-US" altLang="ko-KR" sz="1600" dirty="0"/>
              </a:p>
              <a:p>
                <a:pPr algn="just"/>
                <a:endParaRPr lang="en-US" altLang="ko-KR" sz="1600" dirty="0"/>
              </a:p>
              <a:p>
                <a:pPr algn="just"/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altLang="ko-KR" sz="1600" dirty="0"/>
                  <a:t>: </a:t>
                </a:r>
                <a:r>
                  <a:rPr lang="ko-KR" altLang="en-US" sz="1600" dirty="0"/>
                  <a:t>쉽게 분류되는 샘플의 </a:t>
                </a:r>
                <a:r>
                  <a:rPr lang="en-US" altLang="ko-KR" sz="1600" dirty="0"/>
                  <a:t>loss</a:t>
                </a:r>
                <a:r>
                  <a:rPr lang="ko-KR" altLang="en-US" sz="1600" dirty="0"/>
                  <a:t> 조절 파라미터 </a:t>
                </a:r>
                <a:r>
                  <a:rPr lang="en-US" altLang="ko-KR" sz="1600" dirty="0"/>
                  <a:t>(</a:t>
                </a:r>
                <a:r>
                  <a:rPr lang="ko-KR" altLang="en-US" sz="1600" dirty="0"/>
                  <a:t>감소하는 방향</a:t>
                </a:r>
                <a:r>
                  <a:rPr lang="en-US" altLang="ko-KR" sz="1600" dirty="0"/>
                  <a:t>)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713EEF7-323B-BD40-CE5D-DC268B0492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000" y="1151999"/>
                <a:ext cx="11160000" cy="5040000"/>
              </a:xfrm>
              <a:prstGeom prst="rect">
                <a:avLst/>
              </a:prstGeom>
              <a:blipFill>
                <a:blip r:embed="rId5"/>
                <a:stretch>
                  <a:fillRect l="-600" t="-120" r="-491"/>
                </a:stretch>
              </a:blipFill>
              <a:ln w="19050">
                <a:solidFill>
                  <a:srgbClr val="92D05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직사각형 2">
            <a:extLst>
              <a:ext uri="{FF2B5EF4-FFF2-40B4-BE49-F238E27FC236}">
                <a16:creationId xmlns:a16="http://schemas.microsoft.com/office/drawing/2014/main" id="{4FBA4A68-79A0-15AE-0AE3-26C90FD579C7}"/>
              </a:ext>
            </a:extLst>
          </p:cNvPr>
          <p:cNvSpPr/>
          <p:nvPr/>
        </p:nvSpPr>
        <p:spPr>
          <a:xfrm>
            <a:off x="450000" y="953502"/>
            <a:ext cx="450000" cy="180000"/>
          </a:xfrm>
          <a:prstGeom prst="rect">
            <a:avLst/>
          </a:prstGeom>
          <a:solidFill>
            <a:srgbClr val="92D050"/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/>
              <a:t>내용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B931DBD-C866-4DA1-077D-A865F1923DB7}"/>
              </a:ext>
            </a:extLst>
          </p:cNvPr>
          <p:cNvSpPr/>
          <p:nvPr/>
        </p:nvSpPr>
        <p:spPr>
          <a:xfrm>
            <a:off x="7560000" y="6570001"/>
            <a:ext cx="4320000" cy="27000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[6] Tsung-Yi et al, “Focal Loss for Dense Object Detection”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사각형: 둥근 모서리 12">
                <a:extLst>
                  <a:ext uri="{FF2B5EF4-FFF2-40B4-BE49-F238E27FC236}">
                    <a16:creationId xmlns:a16="http://schemas.microsoft.com/office/drawing/2014/main" id="{1C4C465A-6B4A-FB53-8859-9F09B6115723}"/>
                  </a:ext>
                </a:extLst>
              </p:cNvPr>
              <p:cNvSpPr/>
              <p:nvPr/>
            </p:nvSpPr>
            <p:spPr>
              <a:xfrm>
                <a:off x="2496000" y="2340000"/>
                <a:ext cx="7200000" cy="720000"/>
              </a:xfrm>
              <a:prstGeom prst="roundRect">
                <a:avLst>
                  <a:gd name="adj" fmla="val 0"/>
                </a:avLst>
              </a:prstGeom>
              <a:noFill/>
              <a:ln w="19050">
                <a:solidFill>
                  <a:srgbClr val="B5D2E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𝐶𝐸</m:t>
                      </m:r>
                      <m:d>
                        <m:dPr>
                          <m:ctrlPr>
                            <a:rPr lang="en-US" altLang="ko-K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altLang="ko-K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aln/>
                        </m:rPr>
                        <a:rPr lang="en-US" altLang="ko-K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US" altLang="ko-K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  <m:oMath xmlns:m="http://schemas.openxmlformats.org/officeDocument/2006/math">
                      <m:r>
                        <a:rPr lang="en-US" altLang="ko-K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𝐹𝐿</m:t>
                      </m:r>
                      <m:d>
                        <m:dPr>
                          <m:ctrlPr>
                            <a:rPr lang="en-US" altLang="ko-K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altLang="ko-K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aln/>
                        </m:rPr>
                        <a:rPr lang="en-US" altLang="ko-K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ko-K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altLang="ko-KR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sup>
                      </m:sSup>
                      <m:func>
                        <m:funcPr>
                          <m:ctrlPr>
                            <a:rPr lang="en-US" altLang="ko-K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altLang="ko-KR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3" name="사각형: 둥근 모서리 12">
                <a:extLst>
                  <a:ext uri="{FF2B5EF4-FFF2-40B4-BE49-F238E27FC236}">
                    <a16:creationId xmlns:a16="http://schemas.microsoft.com/office/drawing/2014/main" id="{1C4C465A-6B4A-FB53-8859-9F09B61157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6000" y="2340000"/>
                <a:ext cx="7200000" cy="720000"/>
              </a:xfrm>
              <a:prstGeom prst="roundRect">
                <a:avLst>
                  <a:gd name="adj" fmla="val 0"/>
                </a:avLst>
              </a:prstGeom>
              <a:blipFill>
                <a:blip r:embed="rId6"/>
                <a:stretch>
                  <a:fillRect b="-5785"/>
                </a:stretch>
              </a:blipFill>
              <a:ln w="19050">
                <a:solidFill>
                  <a:srgbClr val="B5D2ED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직사각형 13">
            <a:extLst>
              <a:ext uri="{FF2B5EF4-FFF2-40B4-BE49-F238E27FC236}">
                <a16:creationId xmlns:a16="http://schemas.microsoft.com/office/drawing/2014/main" id="{4D7641ED-A109-D05D-C96B-20AB3EDF8F6D}"/>
              </a:ext>
            </a:extLst>
          </p:cNvPr>
          <p:cNvSpPr/>
          <p:nvPr/>
        </p:nvSpPr>
        <p:spPr>
          <a:xfrm>
            <a:off x="2487600" y="2160000"/>
            <a:ext cx="1080000" cy="180000"/>
          </a:xfrm>
          <a:prstGeom prst="rect">
            <a:avLst/>
          </a:prstGeom>
          <a:solidFill>
            <a:srgbClr val="B5D2ED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Focal Loss [6]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17790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8B4FA-1E4E-1FE3-7828-5016AEC75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8C295A3D-16CE-D314-253C-01539EB93464}"/>
              </a:ext>
            </a:extLst>
          </p:cNvPr>
          <p:cNvSpPr/>
          <p:nvPr/>
        </p:nvSpPr>
        <p:spPr>
          <a:xfrm>
            <a:off x="468000" y="4176000"/>
            <a:ext cx="8460000" cy="1080000"/>
          </a:xfrm>
          <a:prstGeom prst="rect">
            <a:avLst/>
          </a:prstGeom>
          <a:solidFill>
            <a:schemeClr val="accent4">
              <a:lumMod val="20000"/>
              <a:lumOff val="80000"/>
              <a:alpha val="50000"/>
            </a:schemeClr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2ED6CB2-6A86-9919-C5F9-B4367D808367}"/>
              </a:ext>
            </a:extLst>
          </p:cNvPr>
          <p:cNvSpPr/>
          <p:nvPr/>
        </p:nvSpPr>
        <p:spPr>
          <a:xfrm>
            <a:off x="468000" y="1800000"/>
            <a:ext cx="8460000" cy="1440000"/>
          </a:xfrm>
          <a:prstGeom prst="rect">
            <a:avLst/>
          </a:prstGeom>
          <a:solidFill>
            <a:schemeClr val="accent4">
              <a:lumMod val="20000"/>
              <a:lumOff val="80000"/>
              <a:alpha val="50000"/>
            </a:schemeClr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5006C523-35E3-F808-800D-E03B8D6C6056}"/>
              </a:ext>
            </a:extLst>
          </p:cNvPr>
          <p:cNvCxnSpPr>
            <a:cxnSpLocks/>
          </p:cNvCxnSpPr>
          <p:nvPr/>
        </p:nvCxnSpPr>
        <p:spPr>
          <a:xfrm>
            <a:off x="0" y="0"/>
            <a:ext cx="8709" cy="64800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51C27D2B-D747-0A4E-FC95-4567393CE464}"/>
              </a:ext>
            </a:extLst>
          </p:cNvPr>
          <p:cNvCxnSpPr>
            <a:cxnSpLocks/>
          </p:cNvCxnSpPr>
          <p:nvPr/>
        </p:nvCxnSpPr>
        <p:spPr>
          <a:xfrm>
            <a:off x="0" y="18000"/>
            <a:ext cx="1188000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127A5FF-1536-8B82-C354-403D1683F1F9}"/>
                  </a:ext>
                </a:extLst>
              </p:cNvPr>
              <p:cNvSpPr txBox="1"/>
              <p:nvPr/>
            </p:nvSpPr>
            <p:spPr>
              <a:xfrm>
                <a:off x="11790000" y="18000"/>
                <a:ext cx="180000" cy="180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ko-KR" altLang="en-US" sz="10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A28A577-1959-0F74-5F8C-2AD29B6A31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0000" y="18000"/>
                <a:ext cx="180000" cy="180000"/>
              </a:xfrm>
              <a:prstGeom prst="rect">
                <a:avLst/>
              </a:prstGeom>
              <a:blipFill>
                <a:blip r:embed="rId3"/>
                <a:stretch>
                  <a:fillRect t="-17241" r="-23333" b="-379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357C6D0-F7F6-0E76-DEFE-2AF66FAF4158}"/>
                  </a:ext>
                </a:extLst>
              </p:cNvPr>
              <p:cNvSpPr txBox="1"/>
              <p:nvPr/>
            </p:nvSpPr>
            <p:spPr>
              <a:xfrm>
                <a:off x="0" y="6390001"/>
                <a:ext cx="180000" cy="180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000" b="1" i="1" smtClean="0"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ko-KR" altLang="en-US" sz="10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607BB97-55F7-9941-34A9-45164EB7F9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390001"/>
                <a:ext cx="180000" cy="180000"/>
              </a:xfrm>
              <a:prstGeom prst="rect">
                <a:avLst/>
              </a:prstGeom>
              <a:blipFill>
                <a:blip r:embed="rId4"/>
                <a:stretch>
                  <a:fillRect l="-23333" t="-30000" r="-30000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EAE93B1B-01AD-F8BC-210D-FE0B957A1057}"/>
              </a:ext>
            </a:extLst>
          </p:cNvPr>
          <p:cNvSpPr txBox="1"/>
          <p:nvPr/>
        </p:nvSpPr>
        <p:spPr>
          <a:xfrm>
            <a:off x="360000" y="360000"/>
            <a:ext cx="2250000" cy="450000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2400" b="1" dirty="0"/>
              <a:t>1</a:t>
            </a:r>
            <a:r>
              <a:rPr lang="ko-KR" altLang="en-US" sz="2400" b="1" dirty="0"/>
              <a:t>단계 객체 인식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760F346-FF1D-93D0-55DF-777B94170238}"/>
              </a:ext>
            </a:extLst>
          </p:cNvPr>
          <p:cNvSpPr/>
          <p:nvPr/>
        </p:nvSpPr>
        <p:spPr>
          <a:xfrm>
            <a:off x="360000" y="180000"/>
            <a:ext cx="450000" cy="1800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/>
              <a:t>목차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150F8BA-C8AF-14C0-52BD-174750D9E0C6}"/>
                  </a:ext>
                </a:extLst>
              </p:cNvPr>
              <p:cNvSpPr txBox="1"/>
              <p:nvPr/>
            </p:nvSpPr>
            <p:spPr>
              <a:xfrm>
                <a:off x="450000" y="1151999"/>
                <a:ext cx="11160000" cy="5040000"/>
              </a:xfrm>
              <a:prstGeom prst="rect">
                <a:avLst/>
              </a:prstGeom>
              <a:noFill/>
              <a:ln w="19050">
                <a:solidFill>
                  <a:srgbClr val="92D050"/>
                </a:solidFill>
              </a:ln>
            </p:spPr>
            <p:txBody>
              <a:bodyPr wrap="square" lIns="54000" tIns="54000" rIns="54000" bIns="54000" rtlCol="0" anchor="t">
                <a:noAutofit/>
              </a:bodyPr>
              <a:lstStyle/>
              <a:p>
                <a:pPr algn="just"/>
                <a:r>
                  <a:rPr lang="en-US" altLang="ko-KR" sz="1600" dirty="0"/>
                  <a:t>Focal Loss</a:t>
                </a:r>
                <a:r>
                  <a:rPr lang="ko-KR" altLang="en-US" sz="1600" dirty="0"/>
                  <a:t>를 활용하면서 다음과 같이</a:t>
                </a:r>
                <a:r>
                  <a:rPr lang="en-US" altLang="ko-KR" sz="1600" dirty="0"/>
                  <a:t>,</a:t>
                </a:r>
              </a:p>
              <a:p>
                <a:pPr algn="just"/>
                <a:endParaRPr lang="en-US" altLang="ko-KR" sz="1600" dirty="0"/>
              </a:p>
              <a:p>
                <a:pPr algn="just"/>
                <a:endParaRPr lang="en-US" altLang="ko-KR" sz="1600" dirty="0"/>
              </a:p>
              <a:p>
                <a:pPr marL="342900" indent="-342900" algn="just">
                  <a:buFont typeface="+mj-lt"/>
                  <a:buAutoNum type="arabicPeriod"/>
                </a:pPr>
                <a:r>
                  <a:rPr lang="ko-KR" altLang="en-US" sz="1600" dirty="0"/>
                  <a:t>전경 객체와 배경의 불균형 문제를 완화함</a:t>
                </a:r>
                <a:endParaRPr lang="en-US" altLang="ko-KR" sz="1600" dirty="0"/>
              </a:p>
              <a:p>
                <a:pPr marL="342900" indent="-342900" algn="just">
                  <a:buFont typeface="+mj-lt"/>
                  <a:buAutoNum type="arabicPeriod"/>
                </a:pPr>
                <a:endParaRPr lang="en-US" altLang="ko-KR" sz="1600" dirty="0"/>
              </a:p>
              <a:p>
                <a:pPr marL="342900" indent="-342900" algn="just">
                  <a:buFont typeface="+mj-lt"/>
                  <a:buAutoNum type="arabicPeriod"/>
                </a:pPr>
                <a:r>
                  <a:rPr lang="ko-KR" altLang="en-US" sz="1600" dirty="0"/>
                  <a:t>쉬운 샘플의 </a:t>
                </a:r>
                <a:r>
                  <a:rPr lang="en-US" altLang="ko-KR" sz="1600" dirty="0"/>
                  <a:t>loss </a:t>
                </a:r>
                <a:r>
                  <a:rPr lang="ko-KR" altLang="en-US" sz="1600" dirty="0"/>
                  <a:t>영향을 줄이고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어려운 샘플에 더 집중할 수 있도록 학습을 유도함</a:t>
                </a:r>
                <a:endParaRPr lang="en-US" altLang="ko-KR" sz="1600" dirty="0"/>
              </a:p>
              <a:p>
                <a:pPr marL="342900" indent="-342900" algn="just">
                  <a:buFont typeface="+mj-lt"/>
                  <a:buAutoNum type="arabicPeriod"/>
                </a:pPr>
                <a:endParaRPr lang="en-US" altLang="ko-KR" sz="1600" dirty="0"/>
              </a:p>
              <a:p>
                <a:pPr marL="342900" indent="-342900" algn="just">
                  <a:buFont typeface="+mj-lt"/>
                  <a:buAutoNum type="arabicPeriod"/>
                </a:pPr>
                <a:r>
                  <a:rPr lang="en-US" altLang="ko-KR" sz="1600" dirty="0" err="1"/>
                  <a:t>RetinaNet</a:t>
                </a:r>
                <a:r>
                  <a:rPr lang="ko-KR" altLang="en-US" sz="1600" dirty="0"/>
                  <a:t>을 통해 </a:t>
                </a:r>
                <a:r>
                  <a:rPr lang="en-US" altLang="ko-KR" sz="1600" dirty="0"/>
                  <a:t>1</a:t>
                </a:r>
                <a:r>
                  <a:rPr lang="ko-KR" altLang="en-US" sz="1600" dirty="0"/>
                  <a:t>단계 탐지 방법이 </a:t>
                </a:r>
                <a:r>
                  <a:rPr lang="en-US" altLang="ko-KR" sz="1600" dirty="0"/>
                  <a:t>2</a:t>
                </a:r>
                <a:r>
                  <a:rPr lang="ko-KR" altLang="en-US" sz="1600" dirty="0"/>
                  <a:t>단계 탐지 방법 수준의 정확도를 도달할 수 있음을 보임</a:t>
                </a:r>
                <a:endParaRPr lang="en-US" altLang="ko-KR" sz="1600" dirty="0"/>
              </a:p>
              <a:p>
                <a:pPr algn="just"/>
                <a:endParaRPr lang="en-US" altLang="ko-KR" sz="1600" dirty="0"/>
              </a:p>
              <a:p>
                <a:pPr algn="just"/>
                <a:endParaRPr lang="en-US" altLang="ko-KR" sz="1600" dirty="0"/>
              </a:p>
              <a:p>
                <a:pPr algn="just"/>
                <a:r>
                  <a:rPr lang="ko-KR" altLang="en-US" sz="1600" dirty="0"/>
                  <a:t>하지만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다음과 같은 한계도 존재함</a:t>
                </a:r>
                <a:endParaRPr lang="en-US" altLang="ko-KR" sz="1600" dirty="0"/>
              </a:p>
              <a:p>
                <a:pPr algn="just"/>
                <a:endParaRPr lang="en-US" altLang="ko-KR" sz="1600" dirty="0"/>
              </a:p>
              <a:p>
                <a:pPr algn="just"/>
                <a:endParaRPr lang="en-US" altLang="ko-KR" sz="1600" dirty="0"/>
              </a:p>
              <a:p>
                <a:pPr marL="342900" indent="-342900" algn="just">
                  <a:buFont typeface="+mj-lt"/>
                  <a:buAutoNum type="arabicPeriod"/>
                </a:pPr>
                <a:r>
                  <a:rPr lang="en-US" altLang="ko-KR" sz="1600" b="0" dirty="0"/>
                  <a:t>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ko-KR" altLang="en-US" sz="1600" dirty="0"/>
                  <a:t>와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ko-KR" altLang="en-US" sz="1600" dirty="0"/>
                  <a:t>를 직접 조절하기 때문에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매개변수 영향이 큼</a:t>
                </a:r>
                <a:endParaRPr lang="en-US" altLang="ko-KR" sz="1600" dirty="0"/>
              </a:p>
              <a:p>
                <a:pPr marL="342900" indent="-342900" algn="just">
                  <a:buFont typeface="+mj-lt"/>
                  <a:buAutoNum type="arabicPeriod"/>
                </a:pPr>
                <a:endParaRPr lang="en-US" altLang="ko-KR" sz="1600" dirty="0"/>
              </a:p>
              <a:p>
                <a:pPr marL="342900" indent="-342900" algn="just">
                  <a:buFont typeface="+mj-lt"/>
                  <a:buAutoNum type="arabicPeriod"/>
                </a:pPr>
                <a:r>
                  <a:rPr lang="ko-KR" altLang="en-US" sz="1600" dirty="0"/>
                  <a:t>클래스 불균형 문제 해결에 집중하였기 때문에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복잡한 위치 예측을 직접적으로 해결하지는 못함</a:t>
                </a:r>
                <a:endParaRPr lang="en-US" altLang="ko-KR" sz="1600" dirty="0"/>
              </a:p>
              <a:p>
                <a:pPr algn="just"/>
                <a:endParaRPr lang="en-US" altLang="ko-KR" sz="1600" dirty="0"/>
              </a:p>
              <a:p>
                <a:pPr algn="just"/>
                <a:endParaRPr lang="en-US" altLang="ko-KR" sz="1600" dirty="0"/>
              </a:p>
              <a:p>
                <a:pPr algn="just"/>
                <a:r>
                  <a:rPr lang="ko-KR" altLang="en-US" sz="1600" dirty="0"/>
                  <a:t>이후 </a:t>
                </a:r>
                <a:r>
                  <a:rPr lang="en-US" altLang="ko-KR" sz="1600" dirty="0"/>
                  <a:t>YOLO</a:t>
                </a:r>
                <a:r>
                  <a:rPr lang="ko-KR" altLang="en-US" sz="1600" dirty="0"/>
                  <a:t>에 적용되는 </a:t>
                </a:r>
                <a:r>
                  <a:rPr lang="en-US" altLang="ko-KR" sz="1600" dirty="0"/>
                  <a:t>DFL</a:t>
                </a:r>
                <a:r>
                  <a:rPr lang="ko-KR" altLang="en-US" sz="1600" dirty="0"/>
                  <a:t>은 불균형 문제가 아닌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위치를 분포 형태로 예측하기 위한 회귀 손실 함수로 발전함</a:t>
                </a:r>
                <a:endParaRPr lang="en-US" altLang="ko-KR" sz="1600" dirty="0"/>
              </a:p>
              <a:p>
                <a:pPr algn="just"/>
                <a:r>
                  <a:rPr lang="en-US" altLang="ko-KR" sz="1600" dirty="0"/>
                  <a:t>(DFL</a:t>
                </a:r>
                <a:r>
                  <a:rPr lang="ko-KR" altLang="en-US" sz="1600" dirty="0"/>
                  <a:t>이 에지 장치에서의 배포와 추론을 복잡하게 만들 수 있기 때문에 제거됨</a:t>
                </a:r>
                <a:r>
                  <a:rPr lang="en-US" altLang="ko-KR" sz="1600" dirty="0"/>
                  <a:t>)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150F8BA-C8AF-14C0-52BD-174750D9E0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000" y="1151999"/>
                <a:ext cx="11160000" cy="5040000"/>
              </a:xfrm>
              <a:prstGeom prst="rect">
                <a:avLst/>
              </a:prstGeom>
              <a:blipFill>
                <a:blip r:embed="rId5"/>
                <a:stretch>
                  <a:fillRect l="-763" t="-120"/>
                </a:stretch>
              </a:blipFill>
              <a:ln w="19050">
                <a:solidFill>
                  <a:srgbClr val="92D05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직사각형 2">
            <a:extLst>
              <a:ext uri="{FF2B5EF4-FFF2-40B4-BE49-F238E27FC236}">
                <a16:creationId xmlns:a16="http://schemas.microsoft.com/office/drawing/2014/main" id="{B037941B-0462-3F04-4534-F66DFFE6192B}"/>
              </a:ext>
            </a:extLst>
          </p:cNvPr>
          <p:cNvSpPr/>
          <p:nvPr/>
        </p:nvSpPr>
        <p:spPr>
          <a:xfrm>
            <a:off x="450000" y="953502"/>
            <a:ext cx="450000" cy="180000"/>
          </a:xfrm>
          <a:prstGeom prst="rect">
            <a:avLst/>
          </a:prstGeom>
          <a:solidFill>
            <a:srgbClr val="92D050"/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/>
              <a:t>내용</a:t>
            </a:r>
          </a:p>
        </p:txBody>
      </p:sp>
    </p:spTree>
    <p:extLst>
      <p:ext uri="{BB962C8B-B14F-4D97-AF65-F5344CB8AC3E}">
        <p14:creationId xmlns:p14="http://schemas.microsoft.com/office/powerpoint/2010/main" val="35916593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2E154-1755-4AB9-F2BE-D54326E07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028D8E20-FE7D-1826-1793-B15783B7EA24}"/>
              </a:ext>
            </a:extLst>
          </p:cNvPr>
          <p:cNvCxnSpPr>
            <a:cxnSpLocks/>
          </p:cNvCxnSpPr>
          <p:nvPr/>
        </p:nvCxnSpPr>
        <p:spPr>
          <a:xfrm>
            <a:off x="0" y="0"/>
            <a:ext cx="8709" cy="64800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C01740D0-B9E1-31FD-C6A4-ACB8E31DB78E}"/>
              </a:ext>
            </a:extLst>
          </p:cNvPr>
          <p:cNvCxnSpPr>
            <a:cxnSpLocks/>
          </p:cNvCxnSpPr>
          <p:nvPr/>
        </p:nvCxnSpPr>
        <p:spPr>
          <a:xfrm>
            <a:off x="0" y="18000"/>
            <a:ext cx="1188000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DFEF2B2-07D1-8299-60D0-F5E3F68F6B36}"/>
                  </a:ext>
                </a:extLst>
              </p:cNvPr>
              <p:cNvSpPr txBox="1"/>
              <p:nvPr/>
            </p:nvSpPr>
            <p:spPr>
              <a:xfrm>
                <a:off x="11790000" y="18000"/>
                <a:ext cx="180000" cy="180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ko-KR" altLang="en-US" sz="10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DFEF2B2-07D1-8299-60D0-F5E3F68F6B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0000" y="18000"/>
                <a:ext cx="180000" cy="180000"/>
              </a:xfrm>
              <a:prstGeom prst="rect">
                <a:avLst/>
              </a:prstGeom>
              <a:blipFill>
                <a:blip r:embed="rId3"/>
                <a:stretch>
                  <a:fillRect t="-17241" r="-23333" b="-379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4A90E4B-B7A1-8E33-6329-6C971FA2B0B8}"/>
                  </a:ext>
                </a:extLst>
              </p:cNvPr>
              <p:cNvSpPr txBox="1"/>
              <p:nvPr/>
            </p:nvSpPr>
            <p:spPr>
              <a:xfrm>
                <a:off x="0" y="6390001"/>
                <a:ext cx="180000" cy="180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000" b="1" i="1" smtClean="0"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ko-KR" altLang="en-US" sz="10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4A90E4B-B7A1-8E33-6329-6C971FA2B0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390001"/>
                <a:ext cx="180000" cy="180000"/>
              </a:xfrm>
              <a:prstGeom prst="rect">
                <a:avLst/>
              </a:prstGeom>
              <a:blipFill>
                <a:blip r:embed="rId4"/>
                <a:stretch>
                  <a:fillRect l="-23333" t="-30000" r="-30000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7CB0E076-754A-2DD3-FF95-9E64B76D92B1}"/>
              </a:ext>
            </a:extLst>
          </p:cNvPr>
          <p:cNvSpPr txBox="1"/>
          <p:nvPr/>
        </p:nvSpPr>
        <p:spPr>
          <a:xfrm>
            <a:off x="360000" y="360000"/>
            <a:ext cx="2160000" cy="450000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2400" b="1" dirty="0"/>
              <a:t>비전 과제 종류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790035D-9E34-7CDA-F394-2D4D8A430B5C}"/>
              </a:ext>
            </a:extLst>
          </p:cNvPr>
          <p:cNvSpPr/>
          <p:nvPr/>
        </p:nvSpPr>
        <p:spPr>
          <a:xfrm>
            <a:off x="360000" y="180000"/>
            <a:ext cx="450000" cy="1800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/>
              <a:t>목차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87E923-9FEC-ECC2-FAF1-845637355D0F}"/>
              </a:ext>
            </a:extLst>
          </p:cNvPr>
          <p:cNvSpPr txBox="1"/>
          <p:nvPr/>
        </p:nvSpPr>
        <p:spPr>
          <a:xfrm>
            <a:off x="450000" y="1133998"/>
            <a:ext cx="11160000" cy="50400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lIns="54000" tIns="54000" rIns="54000" bIns="54000" rtlCol="0" anchor="t">
            <a:noAutofit/>
          </a:bodyPr>
          <a:lstStyle/>
          <a:p>
            <a:pPr algn="just"/>
            <a:r>
              <a:rPr lang="ko-KR" altLang="en-US" sz="1600" dirty="0"/>
              <a:t>객체 탐지는 자율 주행</a:t>
            </a:r>
            <a:r>
              <a:rPr lang="en-US" altLang="ko-KR" sz="1600" dirty="0"/>
              <a:t>, </a:t>
            </a:r>
            <a:r>
              <a:rPr lang="ko-KR" altLang="en-US" sz="1600" dirty="0"/>
              <a:t>감시 및 보안</a:t>
            </a:r>
            <a:r>
              <a:rPr lang="en-US" altLang="ko-KR" sz="1600" dirty="0"/>
              <a:t>, </a:t>
            </a:r>
            <a:r>
              <a:rPr lang="ko-KR" altLang="en-US" sz="1600" dirty="0"/>
              <a:t>무인 점포 등에 활용될 수 있음</a:t>
            </a:r>
            <a:endParaRPr lang="en-US" altLang="ko-KR" sz="16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67E0FAB-0C13-49A7-EED6-5F4DA28EFA17}"/>
              </a:ext>
            </a:extLst>
          </p:cNvPr>
          <p:cNvSpPr/>
          <p:nvPr/>
        </p:nvSpPr>
        <p:spPr>
          <a:xfrm>
            <a:off x="450000" y="953502"/>
            <a:ext cx="450000" cy="180000"/>
          </a:xfrm>
          <a:prstGeom prst="rect">
            <a:avLst/>
          </a:prstGeom>
          <a:solidFill>
            <a:srgbClr val="92D050"/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dirty="0"/>
              <a:t>내용</a:t>
            </a:r>
          </a:p>
        </p:txBody>
      </p:sp>
    </p:spTree>
    <p:extLst>
      <p:ext uri="{BB962C8B-B14F-4D97-AF65-F5344CB8AC3E}">
        <p14:creationId xmlns:p14="http://schemas.microsoft.com/office/powerpoint/2010/main" val="22416221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Noto Sans KR"/>
        <a:ea typeface="Noto Sans KR"/>
        <a:cs typeface=""/>
      </a:majorFont>
      <a:minorFont>
        <a:latin typeface="Noto Sans KR"/>
        <a:ea typeface="Noto Sans K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9050">
          <a:solidFill>
            <a:schemeClr val="tx1"/>
          </a:solidFill>
          <a:tailEnd type="none"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1905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919</TotalTime>
  <Words>2409</Words>
  <Application>Microsoft Office PowerPoint</Application>
  <PresentationFormat>와이드스크린</PresentationFormat>
  <Paragraphs>639</Paragraphs>
  <Slides>26</Slides>
  <Notes>23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1" baseType="lpstr">
      <vt:lpstr>Noto Sans KR</vt:lpstr>
      <vt:lpstr>맑은 고딕</vt:lpstr>
      <vt:lpstr>Arial</vt:lpstr>
      <vt:lpstr>Cambria Math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인철 한</dc:creator>
  <cp:lastModifiedBy>인철 한</cp:lastModifiedBy>
  <cp:revision>1504</cp:revision>
  <dcterms:created xsi:type="dcterms:W3CDTF">2026-06-01T05:48:49Z</dcterms:created>
  <dcterms:modified xsi:type="dcterms:W3CDTF">2026-06-02T09:48:29Z</dcterms:modified>
</cp:coreProperties>
</file>